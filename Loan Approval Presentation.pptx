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6" r:id="rId11"/>
    <p:sldId id="265"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7CED04-2022-4F99-B0DE-EF2B7BC5B957}" v="16" dt="2026-04-29T05:34:21.0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0" d="100"/>
          <a:sy n="90" d="100"/>
        </p:scale>
        <p:origin x="370" y="1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ge, Haley" userId="3406112a-b856-4424-b964-b4950491a8b2" providerId="ADAL" clId="{13B12AB0-0769-462C-A2F1-58F7667E958B}"/>
    <pc:docChg chg="undo custSel addSld modSld">
      <pc:chgData name="Benge, Haley" userId="3406112a-b856-4424-b964-b4950491a8b2" providerId="ADAL" clId="{13B12AB0-0769-462C-A2F1-58F7667E958B}" dt="2026-04-29T05:35:00.126" v="9130" actId="478"/>
      <pc:docMkLst>
        <pc:docMk/>
      </pc:docMkLst>
      <pc:sldChg chg="modSp mod">
        <pc:chgData name="Benge, Haley" userId="3406112a-b856-4424-b964-b4950491a8b2" providerId="ADAL" clId="{13B12AB0-0769-462C-A2F1-58F7667E958B}" dt="2026-04-28T18:44:02.244" v="149" actId="20577"/>
        <pc:sldMkLst>
          <pc:docMk/>
          <pc:sldMk cId="0" sldId="256"/>
        </pc:sldMkLst>
        <pc:spChg chg="mod">
          <ac:chgData name="Benge, Haley" userId="3406112a-b856-4424-b964-b4950491a8b2" providerId="ADAL" clId="{13B12AB0-0769-462C-A2F1-58F7667E958B}" dt="2026-04-28T18:42:57.322" v="38" actId="20577"/>
          <ac:spMkLst>
            <pc:docMk/>
            <pc:sldMk cId="0" sldId="256"/>
            <ac:spMk id="9" creationId="{00000000-0000-0000-0000-000000000000}"/>
          </ac:spMkLst>
        </pc:spChg>
        <pc:spChg chg="mod">
          <ac:chgData name="Benge, Haley" userId="3406112a-b856-4424-b964-b4950491a8b2" providerId="ADAL" clId="{13B12AB0-0769-462C-A2F1-58F7667E958B}" dt="2026-04-28T18:43:32.295" v="111" actId="20577"/>
          <ac:spMkLst>
            <pc:docMk/>
            <pc:sldMk cId="0" sldId="256"/>
            <ac:spMk id="14" creationId="{00000000-0000-0000-0000-000000000000}"/>
          </ac:spMkLst>
        </pc:spChg>
        <pc:spChg chg="mod">
          <ac:chgData name="Benge, Haley" userId="3406112a-b856-4424-b964-b4950491a8b2" providerId="ADAL" clId="{13B12AB0-0769-462C-A2F1-58F7667E958B}" dt="2026-04-28T18:43:42.123" v="133" actId="20577"/>
          <ac:spMkLst>
            <pc:docMk/>
            <pc:sldMk cId="0" sldId="256"/>
            <ac:spMk id="17" creationId="{00000000-0000-0000-0000-000000000000}"/>
          </ac:spMkLst>
        </pc:spChg>
        <pc:spChg chg="mod">
          <ac:chgData name="Benge, Haley" userId="3406112a-b856-4424-b964-b4950491a8b2" providerId="ADAL" clId="{13B12AB0-0769-462C-A2F1-58F7667E958B}" dt="2026-04-28T18:44:02.244" v="149" actId="20577"/>
          <ac:spMkLst>
            <pc:docMk/>
            <pc:sldMk cId="0" sldId="256"/>
            <ac:spMk id="20" creationId="{00000000-0000-0000-0000-000000000000}"/>
          </ac:spMkLst>
        </pc:spChg>
      </pc:sldChg>
      <pc:sldChg chg="modSp mod">
        <pc:chgData name="Benge, Haley" userId="3406112a-b856-4424-b964-b4950491a8b2" providerId="ADAL" clId="{13B12AB0-0769-462C-A2F1-58F7667E958B}" dt="2026-04-29T05:12:55.277" v="8583" actId="113"/>
        <pc:sldMkLst>
          <pc:docMk/>
          <pc:sldMk cId="0" sldId="257"/>
        </pc:sldMkLst>
        <pc:spChg chg="mod">
          <ac:chgData name="Benge, Haley" userId="3406112a-b856-4424-b964-b4950491a8b2" providerId="ADAL" clId="{13B12AB0-0769-462C-A2F1-58F7667E958B}" dt="2026-04-28T18:49:23.158" v="707" actId="20577"/>
          <ac:spMkLst>
            <pc:docMk/>
            <pc:sldMk cId="0" sldId="257"/>
            <ac:spMk id="19" creationId="{00000000-0000-0000-0000-000000000000}"/>
          </ac:spMkLst>
        </pc:spChg>
        <pc:spChg chg="mod">
          <ac:chgData name="Benge, Haley" userId="3406112a-b856-4424-b964-b4950491a8b2" providerId="ADAL" clId="{13B12AB0-0769-462C-A2F1-58F7667E958B}" dt="2026-04-28T18:53:13.395" v="1167" actId="20577"/>
          <ac:spMkLst>
            <pc:docMk/>
            <pc:sldMk cId="0" sldId="257"/>
            <ac:spMk id="24" creationId="{00000000-0000-0000-0000-000000000000}"/>
          </ac:spMkLst>
        </pc:spChg>
        <pc:spChg chg="mod">
          <ac:chgData name="Benge, Haley" userId="3406112a-b856-4424-b964-b4950491a8b2" providerId="ADAL" clId="{13B12AB0-0769-462C-A2F1-58F7667E958B}" dt="2026-04-29T05:12:55.277" v="8583" actId="113"/>
          <ac:spMkLst>
            <pc:docMk/>
            <pc:sldMk cId="0" sldId="257"/>
            <ac:spMk id="29" creationId="{00000000-0000-0000-0000-000000000000}"/>
          </ac:spMkLst>
        </pc:spChg>
        <pc:spChg chg="mod">
          <ac:chgData name="Benge, Haley" userId="3406112a-b856-4424-b964-b4950491a8b2" providerId="ADAL" clId="{13B12AB0-0769-462C-A2F1-58F7667E958B}" dt="2026-04-28T18:55:44.851" v="1431" actId="20577"/>
          <ac:spMkLst>
            <pc:docMk/>
            <pc:sldMk cId="0" sldId="257"/>
            <ac:spMk id="34" creationId="{00000000-0000-0000-0000-000000000000}"/>
          </ac:spMkLst>
        </pc:spChg>
      </pc:sldChg>
      <pc:sldChg chg="modSp mod">
        <pc:chgData name="Benge, Haley" userId="3406112a-b856-4424-b964-b4950491a8b2" providerId="ADAL" clId="{13B12AB0-0769-462C-A2F1-58F7667E958B}" dt="2026-04-28T19:16:07.940" v="2947" actId="1035"/>
        <pc:sldMkLst>
          <pc:docMk/>
          <pc:sldMk cId="0" sldId="258"/>
        </pc:sldMkLst>
        <pc:spChg chg="mod">
          <ac:chgData name="Benge, Haley" userId="3406112a-b856-4424-b964-b4950491a8b2" providerId="ADAL" clId="{13B12AB0-0769-462C-A2F1-58F7667E958B}" dt="2026-04-28T18:56:14.518" v="1472" actId="20577"/>
          <ac:spMkLst>
            <pc:docMk/>
            <pc:sldMk cId="0" sldId="258"/>
            <ac:spMk id="20" creationId="{00000000-0000-0000-0000-000000000000}"/>
          </ac:spMkLst>
        </pc:spChg>
        <pc:spChg chg="mod">
          <ac:chgData name="Benge, Haley" userId="3406112a-b856-4424-b964-b4950491a8b2" providerId="ADAL" clId="{13B12AB0-0769-462C-A2F1-58F7667E958B}" dt="2026-04-28T18:56:23.716" v="1494" actId="20577"/>
          <ac:spMkLst>
            <pc:docMk/>
            <pc:sldMk cId="0" sldId="258"/>
            <ac:spMk id="24" creationId="{00000000-0000-0000-0000-000000000000}"/>
          </ac:spMkLst>
        </pc:spChg>
        <pc:spChg chg="mod">
          <ac:chgData name="Benge, Haley" userId="3406112a-b856-4424-b964-b4950491a8b2" providerId="ADAL" clId="{13B12AB0-0769-462C-A2F1-58F7667E958B}" dt="2026-04-28T18:56:40.322" v="1522" actId="20577"/>
          <ac:spMkLst>
            <pc:docMk/>
            <pc:sldMk cId="0" sldId="258"/>
            <ac:spMk id="28" creationId="{00000000-0000-0000-0000-000000000000}"/>
          </ac:spMkLst>
        </pc:spChg>
        <pc:spChg chg="mod">
          <ac:chgData name="Benge, Haley" userId="3406112a-b856-4424-b964-b4950491a8b2" providerId="ADAL" clId="{13B12AB0-0769-462C-A2F1-58F7667E958B}" dt="2026-04-28T18:58:42.227" v="1655"/>
          <ac:spMkLst>
            <pc:docMk/>
            <pc:sldMk cId="0" sldId="258"/>
            <ac:spMk id="34" creationId="{00000000-0000-0000-0000-000000000000}"/>
          </ac:spMkLst>
        </pc:spChg>
        <pc:spChg chg="mod">
          <ac:chgData name="Benge, Haley" userId="3406112a-b856-4424-b964-b4950491a8b2" providerId="ADAL" clId="{13B12AB0-0769-462C-A2F1-58F7667E958B}" dt="2026-04-28T19:16:07.940" v="2947" actId="1035"/>
          <ac:spMkLst>
            <pc:docMk/>
            <pc:sldMk cId="0" sldId="258"/>
            <ac:spMk id="40" creationId="{00000000-0000-0000-0000-000000000000}"/>
          </ac:spMkLst>
        </pc:spChg>
        <pc:spChg chg="mod">
          <ac:chgData name="Benge, Haley" userId="3406112a-b856-4424-b964-b4950491a8b2" providerId="ADAL" clId="{13B12AB0-0769-462C-A2F1-58F7667E958B}" dt="2026-04-28T19:16:02.471" v="2944" actId="1035"/>
          <ac:spMkLst>
            <pc:docMk/>
            <pc:sldMk cId="0" sldId="258"/>
            <ac:spMk id="46" creationId="{00000000-0000-0000-0000-000000000000}"/>
          </ac:spMkLst>
        </pc:spChg>
      </pc:sldChg>
      <pc:sldChg chg="addSp delSp modSp mod">
        <pc:chgData name="Benge, Haley" userId="3406112a-b856-4424-b964-b4950491a8b2" providerId="ADAL" clId="{13B12AB0-0769-462C-A2F1-58F7667E958B}" dt="2026-04-29T05:19:02.007" v="8630" actId="14100"/>
        <pc:sldMkLst>
          <pc:docMk/>
          <pc:sldMk cId="0" sldId="259"/>
        </pc:sldMkLst>
        <pc:spChg chg="mod">
          <ac:chgData name="Benge, Haley" userId="3406112a-b856-4424-b964-b4950491a8b2" providerId="ADAL" clId="{13B12AB0-0769-462C-A2F1-58F7667E958B}" dt="2026-04-28T19:13:48.268" v="2796" actId="20577"/>
          <ac:spMkLst>
            <pc:docMk/>
            <pc:sldMk cId="0" sldId="259"/>
            <ac:spMk id="18" creationId="{00000000-0000-0000-0000-000000000000}"/>
          </ac:spMkLst>
        </pc:spChg>
        <pc:spChg chg="mod">
          <ac:chgData name="Benge, Haley" userId="3406112a-b856-4424-b964-b4950491a8b2" providerId="ADAL" clId="{13B12AB0-0769-462C-A2F1-58F7667E958B}" dt="2026-04-28T20:02:42.712" v="3429" actId="20577"/>
          <ac:spMkLst>
            <pc:docMk/>
            <pc:sldMk cId="0" sldId="259"/>
            <ac:spMk id="24" creationId="{00000000-0000-0000-0000-000000000000}"/>
          </ac:spMkLst>
        </pc:spChg>
        <pc:spChg chg="mod">
          <ac:chgData name="Benge, Haley" userId="3406112a-b856-4424-b964-b4950491a8b2" providerId="ADAL" clId="{13B12AB0-0769-462C-A2F1-58F7667E958B}" dt="2026-04-28T19:58:32.976" v="3372" actId="1076"/>
          <ac:spMkLst>
            <pc:docMk/>
            <pc:sldMk cId="0" sldId="259"/>
            <ac:spMk id="25" creationId="{00000000-0000-0000-0000-000000000000}"/>
          </ac:spMkLst>
        </pc:spChg>
        <pc:spChg chg="del mod">
          <ac:chgData name="Benge, Haley" userId="3406112a-b856-4424-b964-b4950491a8b2" providerId="ADAL" clId="{13B12AB0-0769-462C-A2F1-58F7667E958B}" dt="2026-04-28T19:34:44.189" v="2990" actId="478"/>
          <ac:spMkLst>
            <pc:docMk/>
            <pc:sldMk cId="0" sldId="259"/>
            <ac:spMk id="29" creationId="{00000000-0000-0000-0000-000000000000}"/>
          </ac:spMkLst>
        </pc:spChg>
        <pc:spChg chg="add mod">
          <ac:chgData name="Benge, Haley" userId="3406112a-b856-4424-b964-b4950491a8b2" providerId="ADAL" clId="{13B12AB0-0769-462C-A2F1-58F7667E958B}" dt="2026-04-28T20:11:54.910" v="4264" actId="20577"/>
          <ac:spMkLst>
            <pc:docMk/>
            <pc:sldMk cId="0" sldId="259"/>
            <ac:spMk id="43" creationId="{77EA8D2B-26C3-E77C-CFF5-BE375052C6AA}"/>
          </ac:spMkLst>
        </pc:spChg>
        <pc:picChg chg="del mod">
          <ac:chgData name="Benge, Haley" userId="3406112a-b856-4424-b964-b4950491a8b2" providerId="ADAL" clId="{13B12AB0-0769-462C-A2F1-58F7667E958B}" dt="2026-04-28T19:32:15.479" v="2975" actId="478"/>
          <ac:picMkLst>
            <pc:docMk/>
            <pc:sldMk cId="0" sldId="259"/>
            <ac:picMk id="34" creationId="{F2D820A9-14C9-E7A0-A082-04512D208CFB}"/>
          </ac:picMkLst>
        </pc:picChg>
        <pc:picChg chg="del mod">
          <ac:chgData name="Benge, Haley" userId="3406112a-b856-4424-b964-b4950491a8b2" providerId="ADAL" clId="{13B12AB0-0769-462C-A2F1-58F7667E958B}" dt="2026-04-28T19:32:17.348" v="2976" actId="478"/>
          <ac:picMkLst>
            <pc:docMk/>
            <pc:sldMk cId="0" sldId="259"/>
            <ac:picMk id="35" creationId="{A2223CBB-906C-6E67-D9AF-A6FD1AC5D4E2}"/>
          </ac:picMkLst>
        </pc:picChg>
        <pc:picChg chg="del mod">
          <ac:chgData name="Benge, Haley" userId="3406112a-b856-4424-b964-b4950491a8b2" providerId="ADAL" clId="{13B12AB0-0769-462C-A2F1-58F7667E958B}" dt="2026-04-28T19:32:25.105" v="2977" actId="478"/>
          <ac:picMkLst>
            <pc:docMk/>
            <pc:sldMk cId="0" sldId="259"/>
            <ac:picMk id="36" creationId="{BF2F03B7-0546-339F-CD1D-0A1EFBDA82C0}"/>
          </ac:picMkLst>
        </pc:picChg>
        <pc:picChg chg="add del mod">
          <ac:chgData name="Benge, Haley" userId="3406112a-b856-4424-b964-b4950491a8b2" providerId="ADAL" clId="{13B12AB0-0769-462C-A2F1-58F7667E958B}" dt="2026-04-28T19:31:03.170" v="2974" actId="478"/>
          <ac:picMkLst>
            <pc:docMk/>
            <pc:sldMk cId="0" sldId="259"/>
            <ac:picMk id="37" creationId="{6F789943-C0D7-DD13-22EA-AF8F0F0D4989}"/>
          </ac:picMkLst>
        </pc:picChg>
        <pc:picChg chg="add del mod">
          <ac:chgData name="Benge, Haley" userId="3406112a-b856-4424-b964-b4950491a8b2" providerId="ADAL" clId="{13B12AB0-0769-462C-A2F1-58F7667E958B}" dt="2026-04-28T19:33:22.415" v="2980" actId="478"/>
          <ac:picMkLst>
            <pc:docMk/>
            <pc:sldMk cId="0" sldId="259"/>
            <ac:picMk id="38" creationId="{9A8D7747-4DD5-C8B0-D9C7-8A56211A6701}"/>
          </ac:picMkLst>
        </pc:picChg>
        <pc:picChg chg="add del">
          <ac:chgData name="Benge, Haley" userId="3406112a-b856-4424-b964-b4950491a8b2" providerId="ADAL" clId="{13B12AB0-0769-462C-A2F1-58F7667E958B}" dt="2026-04-28T19:33:51.084" v="2983" actId="478"/>
          <ac:picMkLst>
            <pc:docMk/>
            <pc:sldMk cId="0" sldId="259"/>
            <ac:picMk id="39" creationId="{DC9A5014-255F-C7CE-2B49-D30B2A615200}"/>
          </ac:picMkLst>
        </pc:picChg>
        <pc:picChg chg="add del mod">
          <ac:chgData name="Benge, Haley" userId="3406112a-b856-4424-b964-b4950491a8b2" providerId="ADAL" clId="{13B12AB0-0769-462C-A2F1-58F7667E958B}" dt="2026-04-28T19:50:57.074" v="3075" actId="478"/>
          <ac:picMkLst>
            <pc:docMk/>
            <pc:sldMk cId="0" sldId="259"/>
            <ac:picMk id="41" creationId="{B4266AB8-8CEB-74ED-CFBF-2D898E70A9BF}"/>
          </ac:picMkLst>
        </pc:picChg>
        <pc:picChg chg="add mod">
          <ac:chgData name="Benge, Haley" userId="3406112a-b856-4424-b964-b4950491a8b2" providerId="ADAL" clId="{13B12AB0-0769-462C-A2F1-58F7667E958B}" dt="2026-04-29T05:19:02.007" v="8630" actId="14100"/>
          <ac:picMkLst>
            <pc:docMk/>
            <pc:sldMk cId="0" sldId="259"/>
            <ac:picMk id="42" creationId="{842BC207-1355-6865-2382-014DB4C1E8C0}"/>
          </ac:picMkLst>
        </pc:picChg>
      </pc:sldChg>
      <pc:sldChg chg="modSp mod">
        <pc:chgData name="Benge, Haley" userId="3406112a-b856-4424-b964-b4950491a8b2" providerId="ADAL" clId="{13B12AB0-0769-462C-A2F1-58F7667E958B}" dt="2026-04-29T05:16:27.348" v="8625" actId="113"/>
        <pc:sldMkLst>
          <pc:docMk/>
          <pc:sldMk cId="0" sldId="260"/>
        </pc:sldMkLst>
        <pc:spChg chg="mod">
          <ac:chgData name="Benge, Haley" userId="3406112a-b856-4424-b964-b4950491a8b2" providerId="ADAL" clId="{13B12AB0-0769-462C-A2F1-58F7667E958B}" dt="2026-04-29T04:12:37.461" v="5835" actId="20577"/>
          <ac:spMkLst>
            <pc:docMk/>
            <pc:sldMk cId="0" sldId="260"/>
            <ac:spMk id="18" creationId="{00000000-0000-0000-0000-000000000000}"/>
          </ac:spMkLst>
        </pc:spChg>
        <pc:spChg chg="mod">
          <ac:chgData name="Benge, Haley" userId="3406112a-b856-4424-b964-b4950491a8b2" providerId="ADAL" clId="{13B12AB0-0769-462C-A2F1-58F7667E958B}" dt="2026-04-29T05:14:15.272" v="8592" actId="113"/>
          <ac:spMkLst>
            <pc:docMk/>
            <pc:sldMk cId="0" sldId="260"/>
            <ac:spMk id="19" creationId="{00000000-0000-0000-0000-000000000000}"/>
          </ac:spMkLst>
        </pc:spChg>
        <pc:spChg chg="mod">
          <ac:chgData name="Benge, Haley" userId="3406112a-b856-4424-b964-b4950491a8b2" providerId="ADAL" clId="{13B12AB0-0769-462C-A2F1-58F7667E958B}" dt="2026-04-29T04:01:15.388" v="4700" actId="20577"/>
          <ac:spMkLst>
            <pc:docMk/>
            <pc:sldMk cId="0" sldId="260"/>
            <ac:spMk id="27" creationId="{00000000-0000-0000-0000-000000000000}"/>
          </ac:spMkLst>
        </pc:spChg>
        <pc:spChg chg="mod">
          <ac:chgData name="Benge, Haley" userId="3406112a-b856-4424-b964-b4950491a8b2" providerId="ADAL" clId="{13B12AB0-0769-462C-A2F1-58F7667E958B}" dt="2026-04-29T05:15:13.102" v="8608" actId="113"/>
          <ac:spMkLst>
            <pc:docMk/>
            <pc:sldMk cId="0" sldId="260"/>
            <ac:spMk id="31" creationId="{00000000-0000-0000-0000-000000000000}"/>
          </ac:spMkLst>
        </pc:spChg>
        <pc:spChg chg="mod">
          <ac:chgData name="Benge, Haley" userId="3406112a-b856-4424-b964-b4950491a8b2" providerId="ADAL" clId="{13B12AB0-0769-462C-A2F1-58F7667E958B}" dt="2026-04-29T05:16:27.348" v="8625" actId="113"/>
          <ac:spMkLst>
            <pc:docMk/>
            <pc:sldMk cId="0" sldId="260"/>
            <ac:spMk id="43" creationId="{00000000-0000-0000-0000-000000000000}"/>
          </ac:spMkLst>
        </pc:spChg>
      </pc:sldChg>
      <pc:sldChg chg="modSp mod">
        <pc:chgData name="Benge, Haley" userId="3406112a-b856-4424-b964-b4950491a8b2" providerId="ADAL" clId="{13B12AB0-0769-462C-A2F1-58F7667E958B}" dt="2026-04-29T04:22:37.185" v="6329" actId="20577"/>
        <pc:sldMkLst>
          <pc:docMk/>
          <pc:sldMk cId="0" sldId="261"/>
        </pc:sldMkLst>
        <pc:spChg chg="mod">
          <ac:chgData name="Benge, Haley" userId="3406112a-b856-4424-b964-b4950491a8b2" providerId="ADAL" clId="{13B12AB0-0769-462C-A2F1-58F7667E958B}" dt="2026-04-29T04:22:37.185" v="6329" actId="20577"/>
          <ac:spMkLst>
            <pc:docMk/>
            <pc:sldMk cId="0" sldId="261"/>
            <ac:spMk id="19" creationId="{00000000-0000-0000-0000-000000000000}"/>
          </ac:spMkLst>
        </pc:spChg>
      </pc:sldChg>
      <pc:sldChg chg="addSp delSp modSp mod">
        <pc:chgData name="Benge, Haley" userId="3406112a-b856-4424-b964-b4950491a8b2" providerId="ADAL" clId="{13B12AB0-0769-462C-A2F1-58F7667E958B}" dt="2026-04-29T04:39:22.711" v="6687" actId="1037"/>
        <pc:sldMkLst>
          <pc:docMk/>
          <pc:sldMk cId="0" sldId="262"/>
        </pc:sldMkLst>
        <pc:spChg chg="mod">
          <ac:chgData name="Benge, Haley" userId="3406112a-b856-4424-b964-b4950491a8b2" providerId="ADAL" clId="{13B12AB0-0769-462C-A2F1-58F7667E958B}" dt="2026-04-29T04:39:22.711" v="6687" actId="1037"/>
          <ac:spMkLst>
            <pc:docMk/>
            <pc:sldMk cId="0" sldId="262"/>
            <ac:spMk id="9" creationId="{00000000-0000-0000-0000-000000000000}"/>
          </ac:spMkLst>
        </pc:spChg>
        <pc:spChg chg="mod">
          <ac:chgData name="Benge, Haley" userId="3406112a-b856-4424-b964-b4950491a8b2" providerId="ADAL" clId="{13B12AB0-0769-462C-A2F1-58F7667E958B}" dt="2026-04-29T04:26:31.394" v="6350" actId="20577"/>
          <ac:spMkLst>
            <pc:docMk/>
            <pc:sldMk cId="0" sldId="262"/>
            <ac:spMk id="17" creationId="{00000000-0000-0000-0000-000000000000}"/>
          </ac:spMkLst>
        </pc:spChg>
        <pc:spChg chg="mod">
          <ac:chgData name="Benge, Haley" userId="3406112a-b856-4424-b964-b4950491a8b2" providerId="ADAL" clId="{13B12AB0-0769-462C-A2F1-58F7667E958B}" dt="2026-04-29T04:25:49.263" v="6347" actId="20577"/>
          <ac:spMkLst>
            <pc:docMk/>
            <pc:sldMk cId="0" sldId="262"/>
            <ac:spMk id="22" creationId="{00000000-0000-0000-0000-000000000000}"/>
          </ac:spMkLst>
        </pc:spChg>
        <pc:spChg chg="mod">
          <ac:chgData name="Benge, Haley" userId="3406112a-b856-4424-b964-b4950491a8b2" providerId="ADAL" clId="{13B12AB0-0769-462C-A2F1-58F7667E958B}" dt="2026-04-29T04:28:20.684" v="6353" actId="20577"/>
          <ac:spMkLst>
            <pc:docMk/>
            <pc:sldMk cId="0" sldId="262"/>
            <ac:spMk id="27" creationId="{00000000-0000-0000-0000-000000000000}"/>
          </ac:spMkLst>
        </pc:spChg>
        <pc:spChg chg="mod">
          <ac:chgData name="Benge, Haley" userId="3406112a-b856-4424-b964-b4950491a8b2" providerId="ADAL" clId="{13B12AB0-0769-462C-A2F1-58F7667E958B}" dt="2026-04-29T04:28:48.203" v="6355" actId="20577"/>
          <ac:spMkLst>
            <pc:docMk/>
            <pc:sldMk cId="0" sldId="262"/>
            <ac:spMk id="32" creationId="{00000000-0000-0000-0000-000000000000}"/>
          </ac:spMkLst>
        </pc:spChg>
        <pc:spChg chg="mod">
          <ac:chgData name="Benge, Haley" userId="3406112a-b856-4424-b964-b4950491a8b2" providerId="ADAL" clId="{13B12AB0-0769-462C-A2F1-58F7667E958B}" dt="2026-04-29T04:31:37.025" v="6364" actId="20577"/>
          <ac:spMkLst>
            <pc:docMk/>
            <pc:sldMk cId="0" sldId="262"/>
            <ac:spMk id="35" creationId="{00000000-0000-0000-0000-000000000000}"/>
          </ac:spMkLst>
        </pc:spChg>
        <pc:spChg chg="del">
          <ac:chgData name="Benge, Haley" userId="3406112a-b856-4424-b964-b4950491a8b2" providerId="ADAL" clId="{13B12AB0-0769-462C-A2F1-58F7667E958B}" dt="2026-04-29T04:24:07.517" v="6335" actId="478"/>
          <ac:spMkLst>
            <pc:docMk/>
            <pc:sldMk cId="0" sldId="262"/>
            <ac:spMk id="39" creationId="{00000000-0000-0000-0000-000000000000}"/>
          </ac:spMkLst>
        </pc:spChg>
        <pc:spChg chg="mod ord">
          <ac:chgData name="Benge, Haley" userId="3406112a-b856-4424-b964-b4950491a8b2" providerId="ADAL" clId="{13B12AB0-0769-462C-A2F1-58F7667E958B}" dt="2026-04-29T04:37:55.816" v="6564" actId="166"/>
          <ac:spMkLst>
            <pc:docMk/>
            <pc:sldMk cId="0" sldId="262"/>
            <ac:spMk id="40" creationId="{00000000-0000-0000-0000-000000000000}"/>
          </ac:spMkLst>
        </pc:spChg>
        <pc:spChg chg="del">
          <ac:chgData name="Benge, Haley" userId="3406112a-b856-4424-b964-b4950491a8b2" providerId="ADAL" clId="{13B12AB0-0769-462C-A2F1-58F7667E958B}" dt="2026-04-29T04:35:58.580" v="6468" actId="478"/>
          <ac:spMkLst>
            <pc:docMk/>
            <pc:sldMk cId="0" sldId="262"/>
            <ac:spMk id="44" creationId="{00000000-0000-0000-0000-000000000000}"/>
          </ac:spMkLst>
        </pc:spChg>
        <pc:spChg chg="mod ord">
          <ac:chgData name="Benge, Haley" userId="3406112a-b856-4424-b964-b4950491a8b2" providerId="ADAL" clId="{13B12AB0-0769-462C-A2F1-58F7667E958B}" dt="2026-04-29T04:39:07.936" v="6642" actId="1038"/>
          <ac:spMkLst>
            <pc:docMk/>
            <pc:sldMk cId="0" sldId="262"/>
            <ac:spMk id="45" creationId="{00000000-0000-0000-0000-000000000000}"/>
          </ac:spMkLst>
        </pc:spChg>
        <pc:spChg chg="del mod">
          <ac:chgData name="Benge, Haley" userId="3406112a-b856-4424-b964-b4950491a8b2" providerId="ADAL" clId="{13B12AB0-0769-462C-A2F1-58F7667E958B}" dt="2026-04-29T04:37:04.701" v="6496" actId="478"/>
          <ac:spMkLst>
            <pc:docMk/>
            <pc:sldMk cId="0" sldId="262"/>
            <ac:spMk id="47" creationId="{00000000-0000-0000-0000-000000000000}"/>
          </ac:spMkLst>
        </pc:spChg>
        <pc:spChg chg="add mod">
          <ac:chgData name="Benge, Haley" userId="3406112a-b856-4424-b964-b4950491a8b2" providerId="ADAL" clId="{13B12AB0-0769-462C-A2F1-58F7667E958B}" dt="2026-04-29T04:35:16.201" v="6464" actId="207"/>
          <ac:spMkLst>
            <pc:docMk/>
            <pc:sldMk cId="0" sldId="262"/>
            <ac:spMk id="51" creationId="{22EC89DA-9013-3133-9FA4-0B0CCD8668F1}"/>
          </ac:spMkLst>
        </pc:spChg>
        <pc:picChg chg="del">
          <ac:chgData name="Benge, Haley" userId="3406112a-b856-4424-b964-b4950491a8b2" providerId="ADAL" clId="{13B12AB0-0769-462C-A2F1-58F7667E958B}" dt="2026-04-29T04:24:11.636" v="6336" actId="478"/>
          <ac:picMkLst>
            <pc:docMk/>
            <pc:sldMk cId="0" sldId="262"/>
            <ac:picMk id="41" creationId="{00000000-0000-0000-0000-000000000000}"/>
          </ac:picMkLst>
        </pc:picChg>
        <pc:picChg chg="del">
          <ac:chgData name="Benge, Haley" userId="3406112a-b856-4424-b964-b4950491a8b2" providerId="ADAL" clId="{13B12AB0-0769-462C-A2F1-58F7667E958B}" dt="2026-04-29T04:36:00.702" v="6469" actId="478"/>
          <ac:picMkLst>
            <pc:docMk/>
            <pc:sldMk cId="0" sldId="262"/>
            <ac:picMk id="46" creationId="{00000000-0000-0000-0000-000000000000}"/>
          </ac:picMkLst>
        </pc:picChg>
        <pc:picChg chg="add mod ord">
          <ac:chgData name="Benge, Haley" userId="3406112a-b856-4424-b964-b4950491a8b2" providerId="ADAL" clId="{13B12AB0-0769-462C-A2F1-58F7667E958B}" dt="2026-04-29T04:38:39.350" v="6597" actId="166"/>
          <ac:picMkLst>
            <pc:docMk/>
            <pc:sldMk cId="0" sldId="262"/>
            <ac:picMk id="49" creationId="{63F5CAF7-150A-CE28-DA3F-377799488EF6}"/>
          </ac:picMkLst>
        </pc:picChg>
        <pc:picChg chg="add mod">
          <ac:chgData name="Benge, Haley" userId="3406112a-b856-4424-b964-b4950491a8b2" providerId="ADAL" clId="{13B12AB0-0769-462C-A2F1-58F7667E958B}" dt="2026-04-29T04:37:20.944" v="6518" actId="1037"/>
          <ac:picMkLst>
            <pc:docMk/>
            <pc:sldMk cId="0" sldId="262"/>
            <ac:picMk id="50" creationId="{E1B4F636-6E09-6677-5815-26038919D310}"/>
          </ac:picMkLst>
        </pc:picChg>
      </pc:sldChg>
      <pc:sldChg chg="addSp delSp modSp mod">
        <pc:chgData name="Benge, Haley" userId="3406112a-b856-4424-b964-b4950491a8b2" providerId="ADAL" clId="{13B12AB0-0769-462C-A2F1-58F7667E958B}" dt="2026-04-29T04:53:32.562" v="7672" actId="20577"/>
        <pc:sldMkLst>
          <pc:docMk/>
          <pc:sldMk cId="0" sldId="263"/>
        </pc:sldMkLst>
        <pc:spChg chg="mod">
          <ac:chgData name="Benge, Haley" userId="3406112a-b856-4424-b964-b4950491a8b2" providerId="ADAL" clId="{13B12AB0-0769-462C-A2F1-58F7667E958B}" dt="2026-04-29T04:41:47.090" v="6795" actId="20577"/>
          <ac:spMkLst>
            <pc:docMk/>
            <pc:sldMk cId="0" sldId="263"/>
            <ac:spMk id="18" creationId="{00000000-0000-0000-0000-000000000000}"/>
          </ac:spMkLst>
        </pc:spChg>
        <pc:spChg chg="mod">
          <ac:chgData name="Benge, Haley" userId="3406112a-b856-4424-b964-b4950491a8b2" providerId="ADAL" clId="{13B12AB0-0769-462C-A2F1-58F7667E958B}" dt="2026-04-29T04:41:50.209" v="6799" actId="20577"/>
          <ac:spMkLst>
            <pc:docMk/>
            <pc:sldMk cId="0" sldId="263"/>
            <ac:spMk id="23" creationId="{00000000-0000-0000-0000-000000000000}"/>
          </ac:spMkLst>
        </pc:spChg>
        <pc:spChg chg="mod">
          <ac:chgData name="Benge, Haley" userId="3406112a-b856-4424-b964-b4950491a8b2" providerId="ADAL" clId="{13B12AB0-0769-462C-A2F1-58F7667E958B}" dt="2026-04-29T04:42:43.370" v="6820" actId="207"/>
          <ac:spMkLst>
            <pc:docMk/>
            <pc:sldMk cId="0" sldId="263"/>
            <ac:spMk id="28" creationId="{00000000-0000-0000-0000-000000000000}"/>
          </ac:spMkLst>
        </pc:spChg>
        <pc:spChg chg="mod">
          <ac:chgData name="Benge, Haley" userId="3406112a-b856-4424-b964-b4950491a8b2" providerId="ADAL" clId="{13B12AB0-0769-462C-A2F1-58F7667E958B}" dt="2026-04-29T04:42:55.801" v="6852" actId="20577"/>
          <ac:spMkLst>
            <pc:docMk/>
            <pc:sldMk cId="0" sldId="263"/>
            <ac:spMk id="33" creationId="{00000000-0000-0000-0000-000000000000}"/>
          </ac:spMkLst>
        </pc:spChg>
        <pc:spChg chg="mod">
          <ac:chgData name="Benge, Haley" userId="3406112a-b856-4424-b964-b4950491a8b2" providerId="ADAL" clId="{13B12AB0-0769-462C-A2F1-58F7667E958B}" dt="2026-04-29T04:43:14.223" v="6885" actId="20577"/>
          <ac:spMkLst>
            <pc:docMk/>
            <pc:sldMk cId="0" sldId="263"/>
            <ac:spMk id="38" creationId="{00000000-0000-0000-0000-000000000000}"/>
          </ac:spMkLst>
        </pc:spChg>
        <pc:spChg chg="del">
          <ac:chgData name="Benge, Haley" userId="3406112a-b856-4424-b964-b4950491a8b2" providerId="ADAL" clId="{13B12AB0-0769-462C-A2F1-58F7667E958B}" dt="2026-04-29T04:40:30.313" v="6694" actId="478"/>
          <ac:spMkLst>
            <pc:docMk/>
            <pc:sldMk cId="0" sldId="263"/>
            <ac:spMk id="41" creationId="{00000000-0000-0000-0000-000000000000}"/>
          </ac:spMkLst>
        </pc:spChg>
        <pc:spChg chg="mod">
          <ac:chgData name="Benge, Haley" userId="3406112a-b856-4424-b964-b4950491a8b2" providerId="ADAL" clId="{13B12AB0-0769-462C-A2F1-58F7667E958B}" dt="2026-04-29T04:53:32.562" v="7672" actId="20577"/>
          <ac:spMkLst>
            <pc:docMk/>
            <pc:sldMk cId="0" sldId="263"/>
            <ac:spMk id="48" creationId="{00000000-0000-0000-0000-000000000000}"/>
          </ac:spMkLst>
        </pc:spChg>
        <pc:picChg chg="add mod">
          <ac:chgData name="Benge, Haley" userId="3406112a-b856-4424-b964-b4950491a8b2" providerId="ADAL" clId="{13B12AB0-0769-462C-A2F1-58F7667E958B}" dt="2026-04-29T04:40:28.450" v="6693" actId="14100"/>
          <ac:picMkLst>
            <pc:docMk/>
            <pc:sldMk cId="0" sldId="263"/>
            <ac:picMk id="49" creationId="{184F71B5-2544-8B79-CE59-45D67796FE6C}"/>
          </ac:picMkLst>
        </pc:picChg>
      </pc:sldChg>
      <pc:sldChg chg="modSp mod">
        <pc:chgData name="Benge, Haley" userId="3406112a-b856-4424-b964-b4950491a8b2" providerId="ADAL" clId="{13B12AB0-0769-462C-A2F1-58F7667E958B}" dt="2026-04-29T05:04:38.822" v="8545" actId="1035"/>
        <pc:sldMkLst>
          <pc:docMk/>
          <pc:sldMk cId="0" sldId="264"/>
        </pc:sldMkLst>
        <pc:spChg chg="mod">
          <ac:chgData name="Benge, Haley" userId="3406112a-b856-4424-b964-b4950491a8b2" providerId="ADAL" clId="{13B12AB0-0769-462C-A2F1-58F7667E958B}" dt="2026-04-29T04:57:05.206" v="7847" actId="5793"/>
          <ac:spMkLst>
            <pc:docMk/>
            <pc:sldMk cId="0" sldId="264"/>
            <ac:spMk id="30" creationId="{00000000-0000-0000-0000-000000000000}"/>
          </ac:spMkLst>
        </pc:spChg>
        <pc:spChg chg="mod">
          <ac:chgData name="Benge, Haley" userId="3406112a-b856-4424-b964-b4950491a8b2" providerId="ADAL" clId="{13B12AB0-0769-462C-A2F1-58F7667E958B}" dt="2026-04-29T05:04:38.822" v="8545" actId="1035"/>
          <ac:spMkLst>
            <pc:docMk/>
            <pc:sldMk cId="0" sldId="264"/>
            <ac:spMk id="34" creationId="{00000000-0000-0000-0000-000000000000}"/>
          </ac:spMkLst>
        </pc:spChg>
      </pc:sldChg>
      <pc:sldChg chg="addSp modSp mod">
        <pc:chgData name="Benge, Haley" userId="3406112a-b856-4424-b964-b4950491a8b2" providerId="ADAL" clId="{13B12AB0-0769-462C-A2F1-58F7667E958B}" dt="2026-04-29T05:12:29.583" v="8578" actId="1038"/>
        <pc:sldMkLst>
          <pc:docMk/>
          <pc:sldMk cId="0" sldId="265"/>
        </pc:sldMkLst>
        <pc:spChg chg="mod">
          <ac:chgData name="Benge, Haley" userId="3406112a-b856-4424-b964-b4950491a8b2" providerId="ADAL" clId="{13B12AB0-0769-462C-A2F1-58F7667E958B}" dt="2026-04-29T05:05:40.593" v="8551" actId="207"/>
          <ac:spMkLst>
            <pc:docMk/>
            <pc:sldMk cId="0" sldId="265"/>
            <ac:spMk id="21" creationId="{00000000-0000-0000-0000-000000000000}"/>
          </ac:spMkLst>
        </pc:spChg>
        <pc:spChg chg="mod">
          <ac:chgData name="Benge, Haley" userId="3406112a-b856-4424-b964-b4950491a8b2" providerId="ADAL" clId="{13B12AB0-0769-462C-A2F1-58F7667E958B}" dt="2026-04-29T05:06:49.950" v="8553" actId="207"/>
          <ac:spMkLst>
            <pc:docMk/>
            <pc:sldMk cId="0" sldId="265"/>
            <ac:spMk id="22" creationId="{00000000-0000-0000-0000-000000000000}"/>
          </ac:spMkLst>
        </pc:spChg>
        <pc:spChg chg="mod">
          <ac:chgData name="Benge, Haley" userId="3406112a-b856-4424-b964-b4950491a8b2" providerId="ADAL" clId="{13B12AB0-0769-462C-A2F1-58F7667E958B}" dt="2026-04-29T05:06:59.226" v="8554" actId="20577"/>
          <ac:spMkLst>
            <pc:docMk/>
            <pc:sldMk cId="0" sldId="265"/>
            <ac:spMk id="23" creationId="{00000000-0000-0000-0000-000000000000}"/>
          </ac:spMkLst>
        </pc:spChg>
        <pc:spChg chg="mod">
          <ac:chgData name="Benge, Haley" userId="3406112a-b856-4424-b964-b4950491a8b2" providerId="ADAL" clId="{13B12AB0-0769-462C-A2F1-58F7667E958B}" dt="2026-04-29T05:07:37.608" v="8566" actId="20577"/>
          <ac:spMkLst>
            <pc:docMk/>
            <pc:sldMk cId="0" sldId="265"/>
            <ac:spMk id="42" creationId="{00000000-0000-0000-0000-000000000000}"/>
          </ac:spMkLst>
        </pc:spChg>
        <pc:picChg chg="add mod">
          <ac:chgData name="Benge, Haley" userId="3406112a-b856-4424-b964-b4950491a8b2" providerId="ADAL" clId="{13B12AB0-0769-462C-A2F1-58F7667E958B}" dt="2026-04-29T05:12:29.583" v="8578" actId="1038"/>
          <ac:picMkLst>
            <pc:docMk/>
            <pc:sldMk cId="0" sldId="265"/>
            <ac:picMk id="52" creationId="{AF666589-2BE3-64D7-3CFE-FFD3E40041C4}"/>
          </ac:picMkLst>
        </pc:picChg>
      </pc:sldChg>
      <pc:sldChg chg="addSp delSp modSp new mod">
        <pc:chgData name="Benge, Haley" userId="3406112a-b856-4424-b964-b4950491a8b2" providerId="ADAL" clId="{13B12AB0-0769-462C-A2F1-58F7667E958B}" dt="2026-04-29T05:35:00.126" v="9130" actId="478"/>
        <pc:sldMkLst>
          <pc:docMk/>
          <pc:sldMk cId="4053299503" sldId="266"/>
        </pc:sldMkLst>
        <pc:spChg chg="add mod">
          <ac:chgData name="Benge, Haley" userId="3406112a-b856-4424-b964-b4950491a8b2" providerId="ADAL" clId="{13B12AB0-0769-462C-A2F1-58F7667E958B}" dt="2026-04-29T05:17:58.593" v="8627"/>
          <ac:spMkLst>
            <pc:docMk/>
            <pc:sldMk cId="4053299503" sldId="266"/>
            <ac:spMk id="3" creationId="{92A4E7DE-C313-B8C0-CD74-07A52B25DDFE}"/>
          </ac:spMkLst>
        </pc:spChg>
        <pc:spChg chg="add mod">
          <ac:chgData name="Benge, Haley" userId="3406112a-b856-4424-b964-b4950491a8b2" providerId="ADAL" clId="{13B12AB0-0769-462C-A2F1-58F7667E958B}" dt="2026-04-29T05:17:58.593" v="8627"/>
          <ac:spMkLst>
            <pc:docMk/>
            <pc:sldMk cId="4053299503" sldId="266"/>
            <ac:spMk id="7" creationId="{8687B4B1-59DF-4F72-8B36-D4742277FB42}"/>
          </ac:spMkLst>
        </pc:spChg>
        <pc:spChg chg="mod">
          <ac:chgData name="Benge, Haley" userId="3406112a-b856-4424-b964-b4950491a8b2" providerId="ADAL" clId="{13B12AB0-0769-462C-A2F1-58F7667E958B}" dt="2026-04-29T05:18:45.114" v="8629" actId="20577"/>
          <ac:spMkLst>
            <pc:docMk/>
            <pc:sldMk cId="4053299503" sldId="266"/>
            <ac:spMk id="8" creationId="{CE235598-6A9A-E3EA-3DCD-269ACBA0CD7B}"/>
          </ac:spMkLst>
        </pc:spChg>
        <pc:spChg chg="mod">
          <ac:chgData name="Benge, Haley" userId="3406112a-b856-4424-b964-b4950491a8b2" providerId="ADAL" clId="{13B12AB0-0769-462C-A2F1-58F7667E958B}" dt="2026-04-29T05:19:31.235" v="8665" actId="20577"/>
          <ac:spMkLst>
            <pc:docMk/>
            <pc:sldMk cId="4053299503" sldId="266"/>
            <ac:spMk id="13" creationId="{ED6C1962-ABB2-B183-B760-EBA4626A36DE}"/>
          </ac:spMkLst>
        </pc:spChg>
        <pc:spChg chg="add mod">
          <ac:chgData name="Benge, Haley" userId="3406112a-b856-4424-b964-b4950491a8b2" providerId="ADAL" clId="{13B12AB0-0769-462C-A2F1-58F7667E958B}" dt="2026-04-29T05:20:01.700" v="8739" actId="20577"/>
          <ac:spMkLst>
            <pc:docMk/>
            <pc:sldMk cId="4053299503" sldId="266"/>
            <ac:spMk id="14" creationId="{1A67072A-AFEF-A43B-11C8-70D2540C7CC6}"/>
          </ac:spMkLst>
        </pc:spChg>
        <pc:spChg chg="mod">
          <ac:chgData name="Benge, Haley" userId="3406112a-b856-4424-b964-b4950491a8b2" providerId="ADAL" clId="{13B12AB0-0769-462C-A2F1-58F7667E958B}" dt="2026-04-29T05:31:49.175" v="9117" actId="1076"/>
          <ac:spMkLst>
            <pc:docMk/>
            <pc:sldMk cId="4053299503" sldId="266"/>
            <ac:spMk id="15" creationId="{ABB5AF54-9752-DF61-E606-7AB2E6B3C3EE}"/>
          </ac:spMkLst>
        </pc:spChg>
        <pc:spChg chg="mod">
          <ac:chgData name="Benge, Haley" userId="3406112a-b856-4424-b964-b4950491a8b2" providerId="ADAL" clId="{13B12AB0-0769-462C-A2F1-58F7667E958B}" dt="2026-04-29T05:31:49.175" v="9117" actId="1076"/>
          <ac:spMkLst>
            <pc:docMk/>
            <pc:sldMk cId="4053299503" sldId="266"/>
            <ac:spMk id="16" creationId="{F5CEFDB8-841D-F0A0-057A-1EDA2DDCE4FC}"/>
          </ac:spMkLst>
        </pc:spChg>
        <pc:spChg chg="del">
          <ac:chgData name="Benge, Haley" userId="3406112a-b856-4424-b964-b4950491a8b2" providerId="ADAL" clId="{13B12AB0-0769-462C-A2F1-58F7667E958B}" dt="2026-04-29T05:28:44.047" v="9106" actId="478"/>
          <ac:spMkLst>
            <pc:docMk/>
            <pc:sldMk cId="4053299503" sldId="266"/>
            <ac:spMk id="17" creationId="{0B54A040-9217-BA9C-B265-21F5BDE7AEC3}"/>
          </ac:spMkLst>
        </pc:spChg>
        <pc:spChg chg="mod">
          <ac:chgData name="Benge, Haley" userId="3406112a-b856-4424-b964-b4950491a8b2" providerId="ADAL" clId="{13B12AB0-0769-462C-A2F1-58F7667E958B}" dt="2026-04-29T05:32:24.787" v="9118" actId="1076"/>
          <ac:spMkLst>
            <pc:docMk/>
            <pc:sldMk cId="4053299503" sldId="266"/>
            <ac:spMk id="18" creationId="{3D579F80-1C5A-5992-9A51-DFBAFD616017}"/>
          </ac:spMkLst>
        </pc:spChg>
        <pc:spChg chg="mod">
          <ac:chgData name="Benge, Haley" userId="3406112a-b856-4424-b964-b4950491a8b2" providerId="ADAL" clId="{13B12AB0-0769-462C-A2F1-58F7667E958B}" dt="2026-04-29T05:32:24.787" v="9118" actId="1076"/>
          <ac:spMkLst>
            <pc:docMk/>
            <pc:sldMk cId="4053299503" sldId="266"/>
            <ac:spMk id="19" creationId="{F11B4451-74BB-306E-5C37-3DDFF62B80F1}"/>
          </ac:spMkLst>
        </pc:spChg>
        <pc:spChg chg="del">
          <ac:chgData name="Benge, Haley" userId="3406112a-b856-4424-b964-b4950491a8b2" providerId="ADAL" clId="{13B12AB0-0769-462C-A2F1-58F7667E958B}" dt="2026-04-29T05:28:47.190" v="9108" actId="478"/>
          <ac:spMkLst>
            <pc:docMk/>
            <pc:sldMk cId="4053299503" sldId="266"/>
            <ac:spMk id="20" creationId="{45782ED5-2B98-F023-A68F-14B1791EB9AB}"/>
          </ac:spMkLst>
        </pc:spChg>
        <pc:spChg chg="add mod">
          <ac:chgData name="Benge, Haley" userId="3406112a-b856-4424-b964-b4950491a8b2" providerId="ADAL" clId="{13B12AB0-0769-462C-A2F1-58F7667E958B}" dt="2026-04-29T05:29:50.796" v="9115" actId="14100"/>
          <ac:spMkLst>
            <pc:docMk/>
            <pc:sldMk cId="4053299503" sldId="266"/>
            <ac:spMk id="21" creationId="{DB8CCB7E-3A01-736E-03C3-86FE2C9E3E20}"/>
          </ac:spMkLst>
        </pc:spChg>
        <pc:spChg chg="mod">
          <ac:chgData name="Benge, Haley" userId="3406112a-b856-4424-b964-b4950491a8b2" providerId="ADAL" clId="{13B12AB0-0769-462C-A2F1-58F7667E958B}" dt="2026-04-29T05:29:56.995" v="9116" actId="1076"/>
          <ac:spMkLst>
            <pc:docMk/>
            <pc:sldMk cId="4053299503" sldId="266"/>
            <ac:spMk id="22" creationId="{1DD24424-DEE0-1280-196B-81AB8B74B087}"/>
          </ac:spMkLst>
        </pc:spChg>
        <pc:spChg chg="del">
          <ac:chgData name="Benge, Haley" userId="3406112a-b856-4424-b964-b4950491a8b2" providerId="ADAL" clId="{13B12AB0-0769-462C-A2F1-58F7667E958B}" dt="2026-04-29T05:28:52.821" v="9110" actId="478"/>
          <ac:spMkLst>
            <pc:docMk/>
            <pc:sldMk cId="4053299503" sldId="266"/>
            <ac:spMk id="23" creationId="{3DC721D4-E5FB-7E7A-FBE3-7D05CF4E80E8}"/>
          </ac:spMkLst>
        </pc:spChg>
        <pc:spChg chg="add del mod">
          <ac:chgData name="Benge, Haley" userId="3406112a-b856-4424-b964-b4950491a8b2" providerId="ADAL" clId="{13B12AB0-0769-462C-A2F1-58F7667E958B}" dt="2026-04-29T05:20:51.408" v="8743" actId="478"/>
          <ac:spMkLst>
            <pc:docMk/>
            <pc:sldMk cId="4053299503" sldId="266"/>
            <ac:spMk id="27" creationId="{D231F4FA-B606-FFE0-0FA6-13D71F99399A}"/>
          </ac:spMkLst>
        </pc:spChg>
        <pc:spChg chg="mod">
          <ac:chgData name="Benge, Haley" userId="3406112a-b856-4424-b964-b4950491a8b2" providerId="ADAL" clId="{13B12AB0-0769-462C-A2F1-58F7667E958B}" dt="2026-04-29T05:31:49.175" v="9117" actId="1076"/>
          <ac:spMkLst>
            <pc:docMk/>
            <pc:sldMk cId="4053299503" sldId="266"/>
            <ac:spMk id="28" creationId="{2D48BF21-9401-C798-E7EC-9CB1ECAFE63C}"/>
          </ac:spMkLst>
        </pc:spChg>
        <pc:spChg chg="add mod">
          <ac:chgData name="Benge, Haley" userId="3406112a-b856-4424-b964-b4950491a8b2" providerId="ADAL" clId="{13B12AB0-0769-462C-A2F1-58F7667E958B}" dt="2026-04-29T05:31:49.175" v="9117" actId="1076"/>
          <ac:spMkLst>
            <pc:docMk/>
            <pc:sldMk cId="4053299503" sldId="266"/>
            <ac:spMk id="29" creationId="{64018983-D281-6C1D-BA9D-C7B709A7A72C}"/>
          </ac:spMkLst>
        </pc:spChg>
        <pc:spChg chg="mod">
          <ac:chgData name="Benge, Haley" userId="3406112a-b856-4424-b964-b4950491a8b2" providerId="ADAL" clId="{13B12AB0-0769-462C-A2F1-58F7667E958B}" dt="2026-04-29T05:31:49.175" v="9117" actId="1076"/>
          <ac:spMkLst>
            <pc:docMk/>
            <pc:sldMk cId="4053299503" sldId="266"/>
            <ac:spMk id="30" creationId="{CF539696-BEE6-BA8C-FBF7-D1C21F176A85}"/>
          </ac:spMkLst>
        </pc:spChg>
        <pc:spChg chg="add del mod">
          <ac:chgData name="Benge, Haley" userId="3406112a-b856-4424-b964-b4950491a8b2" providerId="ADAL" clId="{13B12AB0-0769-462C-A2F1-58F7667E958B}" dt="2026-04-29T05:28:30.230" v="9103" actId="478"/>
          <ac:spMkLst>
            <pc:docMk/>
            <pc:sldMk cId="4053299503" sldId="266"/>
            <ac:spMk id="31" creationId="{B88B9DF7-1479-2FC4-47EF-A639F3D9C94E}"/>
          </ac:spMkLst>
        </pc:spChg>
        <pc:spChg chg="mod">
          <ac:chgData name="Benge, Haley" userId="3406112a-b856-4424-b964-b4950491a8b2" providerId="ADAL" clId="{13B12AB0-0769-462C-A2F1-58F7667E958B}" dt="2026-04-29T05:32:24.787" v="9118" actId="1076"/>
          <ac:spMkLst>
            <pc:docMk/>
            <pc:sldMk cId="4053299503" sldId="266"/>
            <ac:spMk id="32" creationId="{3AF04D99-142F-DCDE-727C-1378ED6196F1}"/>
          </ac:spMkLst>
        </pc:spChg>
        <pc:spChg chg="mod">
          <ac:chgData name="Benge, Haley" userId="3406112a-b856-4424-b964-b4950491a8b2" providerId="ADAL" clId="{13B12AB0-0769-462C-A2F1-58F7667E958B}" dt="2026-04-29T05:32:24.787" v="9118" actId="1076"/>
          <ac:spMkLst>
            <pc:docMk/>
            <pc:sldMk cId="4053299503" sldId="266"/>
            <ac:spMk id="33" creationId="{16E81F1E-E1AE-F027-A6B2-DC92A6D4712D}"/>
          </ac:spMkLst>
        </pc:spChg>
        <pc:spChg chg="add mod">
          <ac:chgData name="Benge, Haley" userId="3406112a-b856-4424-b964-b4950491a8b2" providerId="ADAL" clId="{13B12AB0-0769-462C-A2F1-58F7667E958B}" dt="2026-04-29T05:32:24.787" v="9118" actId="1076"/>
          <ac:spMkLst>
            <pc:docMk/>
            <pc:sldMk cId="4053299503" sldId="266"/>
            <ac:spMk id="34" creationId="{7E5259DE-977F-8ECE-0608-7D14D1EA619D}"/>
          </ac:spMkLst>
        </pc:spChg>
        <pc:spChg chg="add del mod">
          <ac:chgData name="Benge, Haley" userId="3406112a-b856-4424-b964-b4950491a8b2" providerId="ADAL" clId="{13B12AB0-0769-462C-A2F1-58F7667E958B}" dt="2026-04-29T05:28:39.800" v="9104" actId="478"/>
          <ac:spMkLst>
            <pc:docMk/>
            <pc:sldMk cId="4053299503" sldId="266"/>
            <ac:spMk id="35" creationId="{D541BE8D-14BF-2308-D173-CAD84218BC06}"/>
          </ac:spMkLst>
        </pc:spChg>
        <pc:spChg chg="add mod">
          <ac:chgData name="Benge, Haley" userId="3406112a-b856-4424-b964-b4950491a8b2" providerId="ADAL" clId="{13B12AB0-0769-462C-A2F1-58F7667E958B}" dt="2026-04-29T05:25:05.398" v="9008" actId="20577"/>
          <ac:spMkLst>
            <pc:docMk/>
            <pc:sldMk cId="4053299503" sldId="266"/>
            <ac:spMk id="36" creationId="{95D0D645-F524-D229-2ED6-E55CE279CC35}"/>
          </ac:spMkLst>
        </pc:spChg>
        <pc:spChg chg="mod">
          <ac:chgData name="Benge, Haley" userId="3406112a-b856-4424-b964-b4950491a8b2" providerId="ADAL" clId="{13B12AB0-0769-462C-A2F1-58F7667E958B}" dt="2026-04-29T05:27:44.549" v="9102" actId="113"/>
          <ac:spMkLst>
            <pc:docMk/>
            <pc:sldMk cId="4053299503" sldId="266"/>
            <ac:spMk id="38" creationId="{001E52B5-2EA5-68D2-9274-033BD1277822}"/>
          </ac:spMkLst>
        </pc:spChg>
        <pc:spChg chg="add del mod">
          <ac:chgData name="Benge, Haley" userId="3406112a-b856-4424-b964-b4950491a8b2" providerId="ADAL" clId="{13B12AB0-0769-462C-A2F1-58F7667E958B}" dt="2026-04-29T05:34:58.062" v="9129" actId="478"/>
          <ac:spMkLst>
            <pc:docMk/>
            <pc:sldMk cId="4053299503" sldId="266"/>
            <ac:spMk id="40" creationId="{56431F0F-CC1B-2173-3FC5-6A78C86CB606}"/>
          </ac:spMkLst>
        </pc:spChg>
        <pc:spChg chg="add del mod">
          <ac:chgData name="Benge, Haley" userId="3406112a-b856-4424-b964-b4950491a8b2" providerId="ADAL" clId="{13B12AB0-0769-462C-A2F1-58F7667E958B}" dt="2026-04-29T05:35:00.126" v="9130" actId="478"/>
          <ac:spMkLst>
            <pc:docMk/>
            <pc:sldMk cId="4053299503" sldId="266"/>
            <ac:spMk id="41" creationId="{5406E076-6D5C-5E44-337C-64F17D7FD3CF}"/>
          </ac:spMkLst>
        </pc:spChg>
        <pc:spChg chg="add del mod">
          <ac:chgData name="Benge, Haley" userId="3406112a-b856-4424-b964-b4950491a8b2" providerId="ADAL" clId="{13B12AB0-0769-462C-A2F1-58F7667E958B}" dt="2026-04-29T05:34:35.803" v="9128"/>
          <ac:spMkLst>
            <pc:docMk/>
            <pc:sldMk cId="4053299503" sldId="266"/>
            <ac:spMk id="42" creationId="{53FFD922-F0E3-94FC-3902-771B6C46B9BC}"/>
          </ac:spMkLst>
        </pc:spChg>
        <pc:picChg chg="del">
          <ac:chgData name="Benge, Haley" userId="3406112a-b856-4424-b964-b4950491a8b2" providerId="ADAL" clId="{13B12AB0-0769-462C-A2F1-58F7667E958B}" dt="2026-04-29T05:20:30.798" v="8740" actId="478"/>
          <ac:picMkLst>
            <pc:docMk/>
            <pc:sldMk cId="4053299503" sldId="266"/>
            <ac:picMk id="12" creationId="{406347A9-F281-E94E-6C53-2FDAE4CE610D}"/>
          </ac:picMkLst>
        </pc:picChg>
        <pc:picChg chg="del">
          <ac:chgData name="Benge, Haley" userId="3406112a-b856-4424-b964-b4950491a8b2" providerId="ADAL" clId="{13B12AB0-0769-462C-A2F1-58F7667E958B}" dt="2026-04-29T05:28:42.394" v="9105" actId="478"/>
          <ac:picMkLst>
            <pc:docMk/>
            <pc:sldMk cId="4053299503" sldId="266"/>
            <ac:picMk id="24" creationId="{AAAD2564-7F94-0CA5-FB42-8D8360489C55}"/>
          </ac:picMkLst>
        </pc:picChg>
        <pc:picChg chg="del">
          <ac:chgData name="Benge, Haley" userId="3406112a-b856-4424-b964-b4950491a8b2" providerId="ADAL" clId="{13B12AB0-0769-462C-A2F1-58F7667E958B}" dt="2026-04-29T05:28:46.013" v="9107" actId="478"/>
          <ac:picMkLst>
            <pc:docMk/>
            <pc:sldMk cId="4053299503" sldId="266"/>
            <ac:picMk id="25" creationId="{880F4F25-D9B9-69D4-334E-67D6DDE74FAE}"/>
          </ac:picMkLst>
        </pc:picChg>
        <pc:picChg chg="del">
          <ac:chgData name="Benge, Haley" userId="3406112a-b856-4424-b964-b4950491a8b2" providerId="ADAL" clId="{13B12AB0-0769-462C-A2F1-58F7667E958B}" dt="2026-04-29T05:28:51.531" v="9109" actId="478"/>
          <ac:picMkLst>
            <pc:docMk/>
            <pc:sldMk cId="4053299503" sldId="266"/>
            <ac:picMk id="26" creationId="{6962DF40-32A3-430D-D456-A79B7A8A0BFE}"/>
          </ac:picMkLst>
        </pc:picChg>
        <pc:picChg chg="add mod">
          <ac:chgData name="Benge, Haley" userId="3406112a-b856-4424-b964-b4950491a8b2" providerId="ADAL" clId="{13B12AB0-0769-462C-A2F1-58F7667E958B}" dt="2026-04-29T05:20:32.078" v="8741"/>
          <ac:picMkLst>
            <pc:docMk/>
            <pc:sldMk cId="4053299503" sldId="266"/>
            <ac:picMk id="39" creationId="{BBDAEEF6-0434-1F20-6041-4054CDC63CD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0129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hyperlink" Target="https://www.kaggle.com/datasets/architsharma01/loan-approval-prediction-dataset" TargetMode="Externa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3.jp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hyperlink" Target="https://chat.openai.com/" TargetMode="External"/><Relationship Id="rId4" Type="http://schemas.openxmlformats.org/officeDocument/2006/relationships/hyperlink" Target="https://www.kaggle.com/datasets/architsharma01/loan-approval-prediction-dataset"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F5B"/>
        </a:solidFill>
        <a:effectLst/>
      </p:bgPr>
    </p:bg>
    <p:spTree>
      <p:nvGrpSpPr>
        <p:cNvPr id="1" name=""/>
        <p:cNvGrpSpPr/>
        <p:nvPr/>
      </p:nvGrpSpPr>
      <p:grpSpPr>
        <a:xfrm>
          <a:off x="0" y="0"/>
          <a:ext cx="0" cy="0"/>
          <a:chOff x="0" y="0"/>
          <a:chExt cx="0" cy="0"/>
        </a:xfrm>
      </p:grpSpPr>
      <p:sp>
        <p:nvSpPr>
          <p:cNvPr id="2" name="Shape 0"/>
          <p:cNvSpPr/>
          <p:nvPr/>
        </p:nvSpPr>
        <p:spPr>
          <a:xfrm>
            <a:off x="9265615" y="0"/>
            <a:ext cx="2926080" cy="228600"/>
          </a:xfrm>
          <a:prstGeom prst="rect">
            <a:avLst/>
          </a:prstGeom>
          <a:solidFill>
            <a:srgbClr val="C8102E"/>
          </a:solidFill>
          <a:ln w="12700">
            <a:solidFill>
              <a:srgbClr val="C8102E"/>
            </a:solidFill>
            <a:prstDash val="solid"/>
          </a:ln>
        </p:spPr>
        <p:txBody>
          <a:bodyPr/>
          <a:lstStyle/>
          <a:p>
            <a:endParaRPr lang="en-US"/>
          </a:p>
        </p:txBody>
      </p:sp>
      <p:sp>
        <p:nvSpPr>
          <p:cNvPr id="3" name="Shape 1"/>
          <p:cNvSpPr/>
          <p:nvPr/>
        </p:nvSpPr>
        <p:spPr>
          <a:xfrm>
            <a:off x="9265615" y="228600"/>
            <a:ext cx="2926080" cy="36576"/>
          </a:xfrm>
          <a:prstGeom prst="rect">
            <a:avLst/>
          </a:prstGeom>
          <a:solidFill>
            <a:srgbClr val="FFFFFF"/>
          </a:solidFill>
          <a:ln w="12700">
            <a:solidFill>
              <a:srgbClr val="FFFFFF"/>
            </a:solidFill>
            <a:prstDash val="solid"/>
          </a:ln>
        </p:spPr>
        <p:txBody>
          <a:bodyPr/>
          <a:lstStyle/>
          <a:p>
            <a:endParaRPr lang="en-US"/>
          </a:p>
        </p:txBody>
      </p:sp>
      <p:sp>
        <p:nvSpPr>
          <p:cNvPr id="4" name="Shape 2"/>
          <p:cNvSpPr/>
          <p:nvPr/>
        </p:nvSpPr>
        <p:spPr>
          <a:xfrm>
            <a:off x="0" y="6537960"/>
            <a:ext cx="320040" cy="320040"/>
          </a:xfrm>
          <a:prstGeom prst="rect">
            <a:avLst/>
          </a:prstGeom>
          <a:solidFill>
            <a:srgbClr val="C8102E"/>
          </a:solidFill>
          <a:ln w="12700">
            <a:solidFill>
              <a:srgbClr val="C8102E"/>
            </a:solidFill>
            <a:prstDash val="solid"/>
          </a:ln>
        </p:spPr>
        <p:txBody>
          <a:bodyPr/>
          <a:lstStyle/>
          <a:p>
            <a:endParaRPr lang="en-US"/>
          </a:p>
        </p:txBody>
      </p:sp>
      <p:sp>
        <p:nvSpPr>
          <p:cNvPr id="5" name="Text 3"/>
          <p:cNvSpPr/>
          <p:nvPr/>
        </p:nvSpPr>
        <p:spPr>
          <a:xfrm>
            <a:off x="6429070" y="246888"/>
            <a:ext cx="5486400" cy="5486400"/>
          </a:xfrm>
          <a:prstGeom prst="rect">
            <a:avLst/>
          </a:prstGeom>
          <a:noFill/>
          <a:ln/>
        </p:spPr>
        <p:txBody>
          <a:bodyPr wrap="square" lIns="0" tIns="0" rIns="0" bIns="0" rtlCol="0" anchor="ctr"/>
          <a:lstStyle/>
          <a:p>
            <a:pPr marL="0" indent="0" algn="r">
              <a:buNone/>
            </a:pPr>
            <a:r>
              <a:rPr lang="en-US" sz="50000" b="1" dirty="0">
                <a:solidFill>
                  <a:srgbClr val="00143D"/>
                </a:solidFill>
                <a:latin typeface="Georgia" pitchFamily="34" charset="0"/>
                <a:ea typeface="Georgia" pitchFamily="34" charset="-122"/>
                <a:cs typeface="Georgia" pitchFamily="34" charset="-120"/>
              </a:rPr>
              <a:t>C</a:t>
            </a:r>
            <a:endParaRPr lang="en-US" sz="50000" dirty="0"/>
          </a:p>
        </p:txBody>
      </p:sp>
      <p:sp>
        <p:nvSpPr>
          <p:cNvPr id="6" name="Text 4"/>
          <p:cNvSpPr/>
          <p:nvPr/>
        </p:nvSpPr>
        <p:spPr>
          <a:xfrm>
            <a:off x="731520" y="640080"/>
            <a:ext cx="6400800" cy="365760"/>
          </a:xfrm>
          <a:prstGeom prst="rect">
            <a:avLst/>
          </a:prstGeom>
          <a:noFill/>
          <a:ln/>
        </p:spPr>
        <p:txBody>
          <a:bodyPr wrap="square" lIns="0" tIns="0" rIns="0" bIns="0" rtlCol="0" anchor="ctr"/>
          <a:lstStyle/>
          <a:p>
            <a:pPr marL="0" indent="0">
              <a:buNone/>
            </a:pPr>
            <a:r>
              <a:rPr lang="en-US" sz="1200" b="1" kern="0" spc="800" dirty="0">
                <a:solidFill>
                  <a:srgbClr val="FFFFFF"/>
                </a:solidFill>
                <a:latin typeface="Calibri" pitchFamily="34" charset="0"/>
                <a:ea typeface="Calibri" pitchFamily="34" charset="-122"/>
                <a:cs typeface="Calibri" pitchFamily="34" charset="-120"/>
              </a:rPr>
              <a:t>CATAWBA COLLEGE</a:t>
            </a:r>
            <a:endParaRPr lang="en-US" sz="1200" dirty="0"/>
          </a:p>
        </p:txBody>
      </p:sp>
      <p:sp>
        <p:nvSpPr>
          <p:cNvPr id="7" name="Shape 5"/>
          <p:cNvSpPr/>
          <p:nvPr/>
        </p:nvSpPr>
        <p:spPr>
          <a:xfrm>
            <a:off x="731520" y="1051560"/>
            <a:ext cx="731520" cy="45720"/>
          </a:xfrm>
          <a:prstGeom prst="rect">
            <a:avLst/>
          </a:prstGeom>
          <a:solidFill>
            <a:srgbClr val="C8102E"/>
          </a:solidFill>
          <a:ln w="12700">
            <a:solidFill>
              <a:srgbClr val="C8102E"/>
            </a:solidFill>
            <a:prstDash val="solid"/>
          </a:ln>
        </p:spPr>
        <p:txBody>
          <a:bodyPr/>
          <a:lstStyle/>
          <a:p>
            <a:endParaRPr lang="en-US"/>
          </a:p>
        </p:txBody>
      </p:sp>
      <p:sp>
        <p:nvSpPr>
          <p:cNvPr id="8" name="Text 6"/>
          <p:cNvSpPr/>
          <p:nvPr/>
        </p:nvSpPr>
        <p:spPr>
          <a:xfrm>
            <a:off x="731520" y="1143000"/>
            <a:ext cx="7315200" cy="320040"/>
          </a:xfrm>
          <a:prstGeom prst="rect">
            <a:avLst/>
          </a:prstGeom>
          <a:noFill/>
          <a:ln/>
        </p:spPr>
        <p:txBody>
          <a:bodyPr wrap="square" lIns="0" tIns="0" rIns="0" bIns="0" rtlCol="0" anchor="ctr"/>
          <a:lstStyle/>
          <a:p>
            <a:pPr marL="0" indent="0">
              <a:buNone/>
            </a:pPr>
            <a:r>
              <a:rPr lang="en-US" sz="1100" kern="0" spc="400" dirty="0">
                <a:solidFill>
                  <a:srgbClr val="A9B8D4"/>
                </a:solidFill>
                <a:latin typeface="Calibri" pitchFamily="34" charset="0"/>
                <a:ea typeface="Calibri" pitchFamily="34" charset="-122"/>
                <a:cs typeface="Calibri" pitchFamily="34" charset="-120"/>
              </a:rPr>
              <a:t>DATA MINING  ·  FINAL PROJECT</a:t>
            </a:r>
            <a:endParaRPr lang="en-US" sz="1100" dirty="0"/>
          </a:p>
        </p:txBody>
      </p:sp>
      <p:sp>
        <p:nvSpPr>
          <p:cNvPr id="9" name="Text 7"/>
          <p:cNvSpPr/>
          <p:nvPr/>
        </p:nvSpPr>
        <p:spPr>
          <a:xfrm>
            <a:off x="731520" y="2011680"/>
            <a:ext cx="10058400" cy="1051560"/>
          </a:xfrm>
          <a:prstGeom prst="rect">
            <a:avLst/>
          </a:prstGeom>
          <a:noFill/>
          <a:ln/>
        </p:spPr>
        <p:txBody>
          <a:bodyPr wrap="square" lIns="0" tIns="0" rIns="0" bIns="0" rtlCol="0" anchor="ctr"/>
          <a:lstStyle/>
          <a:p>
            <a:pPr marL="0" indent="0">
              <a:buNone/>
            </a:pPr>
            <a:r>
              <a:rPr lang="en-US" sz="7800" b="1" dirty="0">
                <a:solidFill>
                  <a:srgbClr val="FFFFFF"/>
                </a:solidFill>
                <a:latin typeface="Georgia" pitchFamily="34" charset="0"/>
              </a:rPr>
              <a:t>Loan Approval Classification</a:t>
            </a:r>
            <a:endParaRPr lang="en-US" sz="7800" dirty="0"/>
          </a:p>
        </p:txBody>
      </p:sp>
      <p:sp>
        <p:nvSpPr>
          <p:cNvPr id="10" name="Text 8"/>
          <p:cNvSpPr/>
          <p:nvPr/>
        </p:nvSpPr>
        <p:spPr>
          <a:xfrm>
            <a:off x="731520" y="2971800"/>
            <a:ext cx="10058400" cy="1051560"/>
          </a:xfrm>
          <a:prstGeom prst="rect">
            <a:avLst/>
          </a:prstGeom>
          <a:noFill/>
          <a:ln/>
        </p:spPr>
        <p:txBody>
          <a:bodyPr wrap="square" lIns="0" tIns="0" rIns="0" bIns="0" rtlCol="0" anchor="ctr"/>
          <a:lstStyle/>
          <a:p>
            <a:pPr marL="0" indent="0">
              <a:buNone/>
            </a:pPr>
            <a:endParaRPr lang="en-US" sz="7800" dirty="0"/>
          </a:p>
        </p:txBody>
      </p:sp>
      <p:sp>
        <p:nvSpPr>
          <p:cNvPr id="11" name="Text 9"/>
          <p:cNvSpPr/>
          <p:nvPr/>
        </p:nvSpPr>
        <p:spPr>
          <a:xfrm>
            <a:off x="731520" y="4160520"/>
            <a:ext cx="10058400" cy="365760"/>
          </a:xfrm>
          <a:prstGeom prst="rect">
            <a:avLst/>
          </a:prstGeom>
          <a:noFill/>
          <a:ln/>
        </p:spPr>
        <p:txBody>
          <a:bodyPr wrap="square" lIns="0" tIns="0" rIns="0" bIns="0" rtlCol="0" anchor="ctr"/>
          <a:lstStyle/>
          <a:p>
            <a:pPr marL="0" indent="0">
              <a:buNone/>
            </a:pPr>
            <a:r>
              <a:rPr lang="en-US" sz="1600" i="1" dirty="0">
                <a:solidFill>
                  <a:srgbClr val="CBD5E1"/>
                </a:solidFill>
                <a:latin typeface="Calibri" pitchFamily="34" charset="0"/>
                <a:ea typeface="Calibri" pitchFamily="34" charset="-122"/>
                <a:cs typeface="Calibri" pitchFamily="34" charset="-120"/>
              </a:rPr>
              <a:t>Supervised Learning  ·  End-to-End Modeling Workflow</a:t>
            </a:r>
            <a:endParaRPr lang="en-US" sz="1600" dirty="0"/>
          </a:p>
        </p:txBody>
      </p:sp>
      <p:sp>
        <p:nvSpPr>
          <p:cNvPr id="12" name="Shape 10"/>
          <p:cNvSpPr/>
          <p:nvPr/>
        </p:nvSpPr>
        <p:spPr>
          <a:xfrm>
            <a:off x="731520" y="4937760"/>
            <a:ext cx="457200" cy="36576"/>
          </a:xfrm>
          <a:prstGeom prst="rect">
            <a:avLst/>
          </a:prstGeom>
          <a:solidFill>
            <a:srgbClr val="C8102E"/>
          </a:solidFill>
          <a:ln w="12700">
            <a:solidFill>
              <a:srgbClr val="C8102E"/>
            </a:solidFill>
            <a:prstDash val="solid"/>
          </a:ln>
        </p:spPr>
        <p:txBody>
          <a:bodyPr/>
          <a:lstStyle/>
          <a:p>
            <a:endParaRPr lang="en-US"/>
          </a:p>
        </p:txBody>
      </p:sp>
      <p:sp>
        <p:nvSpPr>
          <p:cNvPr id="13" name="Text 11"/>
          <p:cNvSpPr/>
          <p:nvPr/>
        </p:nvSpPr>
        <p:spPr>
          <a:xfrm>
            <a:off x="731520" y="5029200"/>
            <a:ext cx="3291840" cy="274320"/>
          </a:xfrm>
          <a:prstGeom prst="rect">
            <a:avLst/>
          </a:prstGeom>
          <a:noFill/>
          <a:ln/>
        </p:spPr>
        <p:txBody>
          <a:bodyPr wrap="square" lIns="0" tIns="0" rIns="0" bIns="0" rtlCol="0" anchor="ctr"/>
          <a:lstStyle/>
          <a:p>
            <a:pPr marL="0" indent="0">
              <a:buNone/>
            </a:pPr>
            <a:r>
              <a:rPr lang="en-US" sz="1000" b="1" kern="0" spc="300" dirty="0">
                <a:solidFill>
                  <a:srgbClr val="A9B8D4"/>
                </a:solidFill>
                <a:latin typeface="Calibri" pitchFamily="34" charset="0"/>
                <a:ea typeface="Calibri" pitchFamily="34" charset="-122"/>
                <a:cs typeface="Calibri" pitchFamily="34" charset="-120"/>
              </a:rPr>
              <a:t>PROJECT TITLE</a:t>
            </a:r>
            <a:endParaRPr lang="en-US" sz="1000" dirty="0"/>
          </a:p>
        </p:txBody>
      </p:sp>
      <p:sp>
        <p:nvSpPr>
          <p:cNvPr id="14" name="Text 12"/>
          <p:cNvSpPr/>
          <p:nvPr/>
        </p:nvSpPr>
        <p:spPr>
          <a:xfrm>
            <a:off x="731520" y="5349240"/>
            <a:ext cx="3291840" cy="548640"/>
          </a:xfrm>
          <a:prstGeom prst="rect">
            <a:avLst/>
          </a:prstGeom>
          <a:noFill/>
          <a:ln/>
        </p:spPr>
        <p:txBody>
          <a:bodyPr wrap="square" lIns="0" tIns="0" rIns="0" bIns="0" rtlCol="0" anchor="ctr"/>
          <a:lstStyle/>
          <a:p>
            <a:pPr marL="0" indent="0">
              <a:buNone/>
            </a:pPr>
            <a:r>
              <a:rPr lang="en-US" sz="2000" i="1" dirty="0">
                <a:solidFill>
                  <a:srgbClr val="FFFFFF"/>
                </a:solidFill>
                <a:latin typeface="Georgia" pitchFamily="34" charset="0"/>
              </a:rPr>
              <a:t>Loan Approval Classification- Final Exam</a:t>
            </a:r>
            <a:endParaRPr lang="en-US" sz="2000" dirty="0"/>
          </a:p>
        </p:txBody>
      </p:sp>
      <p:sp>
        <p:nvSpPr>
          <p:cNvPr id="15" name="Shape 13"/>
          <p:cNvSpPr/>
          <p:nvPr/>
        </p:nvSpPr>
        <p:spPr>
          <a:xfrm>
            <a:off x="4206240" y="4937760"/>
            <a:ext cx="457200" cy="36576"/>
          </a:xfrm>
          <a:prstGeom prst="rect">
            <a:avLst/>
          </a:prstGeom>
          <a:solidFill>
            <a:srgbClr val="C8102E"/>
          </a:solidFill>
          <a:ln w="12700">
            <a:solidFill>
              <a:srgbClr val="C8102E"/>
            </a:solidFill>
            <a:prstDash val="solid"/>
          </a:ln>
        </p:spPr>
        <p:txBody>
          <a:bodyPr/>
          <a:lstStyle/>
          <a:p>
            <a:endParaRPr lang="en-US"/>
          </a:p>
        </p:txBody>
      </p:sp>
      <p:sp>
        <p:nvSpPr>
          <p:cNvPr id="16" name="Text 14"/>
          <p:cNvSpPr/>
          <p:nvPr/>
        </p:nvSpPr>
        <p:spPr>
          <a:xfrm>
            <a:off x="4206240" y="5029200"/>
            <a:ext cx="3291840" cy="274320"/>
          </a:xfrm>
          <a:prstGeom prst="rect">
            <a:avLst/>
          </a:prstGeom>
          <a:noFill/>
          <a:ln/>
        </p:spPr>
        <p:txBody>
          <a:bodyPr wrap="square" lIns="0" tIns="0" rIns="0" bIns="0" rtlCol="0" anchor="ctr"/>
          <a:lstStyle/>
          <a:p>
            <a:pPr marL="0" indent="0">
              <a:buNone/>
            </a:pPr>
            <a:r>
              <a:rPr lang="en-US" sz="1000" b="1" kern="0" spc="300" dirty="0">
                <a:solidFill>
                  <a:srgbClr val="A9B8D4"/>
                </a:solidFill>
                <a:latin typeface="Calibri" pitchFamily="34" charset="0"/>
                <a:ea typeface="Calibri" pitchFamily="34" charset="-122"/>
                <a:cs typeface="Calibri" pitchFamily="34" charset="-120"/>
              </a:rPr>
              <a:t>STUDENT NAME</a:t>
            </a:r>
            <a:endParaRPr lang="en-US" sz="1000" dirty="0"/>
          </a:p>
        </p:txBody>
      </p:sp>
      <p:sp>
        <p:nvSpPr>
          <p:cNvPr id="17" name="Text 15"/>
          <p:cNvSpPr/>
          <p:nvPr/>
        </p:nvSpPr>
        <p:spPr>
          <a:xfrm>
            <a:off x="4206240" y="5349240"/>
            <a:ext cx="3291840" cy="548640"/>
          </a:xfrm>
          <a:prstGeom prst="rect">
            <a:avLst/>
          </a:prstGeom>
          <a:noFill/>
          <a:ln/>
        </p:spPr>
        <p:txBody>
          <a:bodyPr wrap="square" lIns="0" tIns="0" rIns="0" bIns="0" rtlCol="0" anchor="ctr"/>
          <a:lstStyle/>
          <a:p>
            <a:pPr marL="0" indent="0">
              <a:buNone/>
            </a:pPr>
            <a:r>
              <a:rPr lang="en-US" sz="2000" i="1" dirty="0">
                <a:solidFill>
                  <a:srgbClr val="FFFFFF"/>
                </a:solidFill>
                <a:latin typeface="Georgia" pitchFamily="34" charset="0"/>
              </a:rPr>
              <a:t>Haley Benge</a:t>
            </a:r>
            <a:endParaRPr lang="en-US" sz="2000" dirty="0"/>
          </a:p>
        </p:txBody>
      </p:sp>
      <p:sp>
        <p:nvSpPr>
          <p:cNvPr id="18" name="Shape 16"/>
          <p:cNvSpPr/>
          <p:nvPr/>
        </p:nvSpPr>
        <p:spPr>
          <a:xfrm>
            <a:off x="7680960" y="4937760"/>
            <a:ext cx="457200" cy="36576"/>
          </a:xfrm>
          <a:prstGeom prst="rect">
            <a:avLst/>
          </a:prstGeom>
          <a:solidFill>
            <a:srgbClr val="C8102E"/>
          </a:solidFill>
          <a:ln w="12700">
            <a:solidFill>
              <a:srgbClr val="C8102E"/>
            </a:solidFill>
            <a:prstDash val="solid"/>
          </a:ln>
        </p:spPr>
        <p:txBody>
          <a:bodyPr/>
          <a:lstStyle/>
          <a:p>
            <a:endParaRPr lang="en-US"/>
          </a:p>
        </p:txBody>
      </p:sp>
      <p:sp>
        <p:nvSpPr>
          <p:cNvPr id="19" name="Text 17"/>
          <p:cNvSpPr/>
          <p:nvPr/>
        </p:nvSpPr>
        <p:spPr>
          <a:xfrm>
            <a:off x="7680960" y="5029200"/>
            <a:ext cx="3291840" cy="274320"/>
          </a:xfrm>
          <a:prstGeom prst="rect">
            <a:avLst/>
          </a:prstGeom>
          <a:noFill/>
          <a:ln/>
        </p:spPr>
        <p:txBody>
          <a:bodyPr wrap="square" lIns="0" tIns="0" rIns="0" bIns="0" rtlCol="0" anchor="ctr"/>
          <a:lstStyle/>
          <a:p>
            <a:pPr marL="0" indent="0">
              <a:buNone/>
            </a:pPr>
            <a:r>
              <a:rPr lang="en-US" sz="1000" b="1" kern="0" spc="300" dirty="0">
                <a:solidFill>
                  <a:srgbClr val="A9B8D4"/>
                </a:solidFill>
                <a:latin typeface="Calibri" pitchFamily="34" charset="0"/>
                <a:ea typeface="Calibri" pitchFamily="34" charset="-122"/>
                <a:cs typeface="Calibri" pitchFamily="34" charset="-120"/>
              </a:rPr>
              <a:t>DATE</a:t>
            </a:r>
            <a:endParaRPr lang="en-US" sz="1000" dirty="0"/>
          </a:p>
        </p:txBody>
      </p:sp>
      <p:sp>
        <p:nvSpPr>
          <p:cNvPr id="20" name="Text 18"/>
          <p:cNvSpPr/>
          <p:nvPr/>
        </p:nvSpPr>
        <p:spPr>
          <a:xfrm>
            <a:off x="7680960" y="5349240"/>
            <a:ext cx="3291840" cy="548640"/>
          </a:xfrm>
          <a:prstGeom prst="rect">
            <a:avLst/>
          </a:prstGeom>
          <a:noFill/>
          <a:ln/>
        </p:spPr>
        <p:txBody>
          <a:bodyPr wrap="square" lIns="0" tIns="0" rIns="0" bIns="0" rtlCol="0" anchor="ctr"/>
          <a:lstStyle/>
          <a:p>
            <a:pPr marL="0" indent="0">
              <a:buNone/>
            </a:pPr>
            <a:r>
              <a:rPr lang="en-US" sz="2000" i="1" dirty="0">
                <a:solidFill>
                  <a:srgbClr val="FFFFFF"/>
                </a:solidFill>
                <a:latin typeface="Georgia" pitchFamily="34" charset="0"/>
                <a:ea typeface="Georgia" pitchFamily="34" charset="-122"/>
                <a:cs typeface="Georgia" pitchFamily="34" charset="-120"/>
              </a:rPr>
              <a:t>04/28/2026</a:t>
            </a:r>
            <a:endParaRPr lang="en-US" sz="2000" dirty="0"/>
          </a:p>
        </p:txBody>
      </p:sp>
      <p:sp>
        <p:nvSpPr>
          <p:cNvPr id="21" name="Shape 19"/>
          <p:cNvSpPr/>
          <p:nvPr/>
        </p:nvSpPr>
        <p:spPr>
          <a:xfrm>
            <a:off x="10088575" y="5989320"/>
            <a:ext cx="1645920" cy="457200"/>
          </a:xfrm>
          <a:prstGeom prst="roundRect">
            <a:avLst>
              <a:gd name="adj" fmla="val 16000"/>
            </a:avLst>
          </a:prstGeom>
          <a:solidFill>
            <a:srgbClr val="001F5B">
              <a:alpha val="0"/>
            </a:srgbClr>
          </a:solidFill>
          <a:ln w="15875">
            <a:solidFill>
              <a:srgbClr val="C8102E"/>
            </a:solidFill>
            <a:prstDash val="solid"/>
          </a:ln>
        </p:spPr>
        <p:txBody>
          <a:bodyPr/>
          <a:lstStyle/>
          <a:p>
            <a:endParaRPr lang="en-US"/>
          </a:p>
        </p:txBody>
      </p:sp>
      <p:sp>
        <p:nvSpPr>
          <p:cNvPr id="22" name="Text 20"/>
          <p:cNvSpPr/>
          <p:nvPr/>
        </p:nvSpPr>
        <p:spPr>
          <a:xfrm>
            <a:off x="10088575" y="5989320"/>
            <a:ext cx="1645920" cy="457200"/>
          </a:xfrm>
          <a:prstGeom prst="rect">
            <a:avLst/>
          </a:prstGeom>
          <a:noFill/>
          <a:ln/>
        </p:spPr>
        <p:txBody>
          <a:bodyPr wrap="square" lIns="0" tIns="0" rIns="0" bIns="0" rtlCol="0" anchor="ctr"/>
          <a:lstStyle/>
          <a:p>
            <a:pPr marL="0" indent="0" algn="ctr">
              <a:buNone/>
            </a:pPr>
            <a:r>
              <a:rPr lang="en-US" sz="1300" b="1" kern="0" spc="400" dirty="0">
                <a:solidFill>
                  <a:srgbClr val="FFFFFF"/>
                </a:solidFill>
                <a:latin typeface="Calibri" pitchFamily="34" charset="0"/>
                <a:ea typeface="Calibri" pitchFamily="34" charset="-122"/>
                <a:cs typeface="Calibri" pitchFamily="34" charset="-120"/>
              </a:rPr>
              <a:t>CIS 3902</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01F5B"/>
          </a:solidFill>
          <a:ln w="12700">
            <a:solidFill>
              <a:srgbClr val="001F5B"/>
            </a:solidFill>
            <a:prstDash val="solid"/>
          </a:ln>
        </p:spPr>
        <p:txBody>
          <a:bodyPr/>
          <a:lstStyle/>
          <a:p>
            <a:endParaRPr lang="en-US"/>
          </a:p>
        </p:txBody>
      </p:sp>
      <p:sp>
        <p:nvSpPr>
          <p:cNvPr id="3" name="Shape 1"/>
          <p:cNvSpPr/>
          <p:nvPr/>
        </p:nvSpPr>
        <p:spPr>
          <a:xfrm>
            <a:off x="0" y="0"/>
            <a:ext cx="320040" cy="320040"/>
          </a:xfrm>
          <a:prstGeom prst="rect">
            <a:avLst/>
          </a:prstGeom>
          <a:solidFill>
            <a:srgbClr val="C8102E"/>
          </a:solidFill>
          <a:ln w="12700">
            <a:solidFill>
              <a:srgbClr val="C8102E"/>
            </a:solidFill>
            <a:prstDash val="solid"/>
          </a:ln>
        </p:spPr>
        <p:txBody>
          <a:bodyPr/>
          <a:lstStyle/>
          <a:p>
            <a:endParaRPr lang="en-US"/>
          </a:p>
        </p:txBody>
      </p:sp>
      <p:sp>
        <p:nvSpPr>
          <p:cNvPr id="4" name="Text 2"/>
          <p:cNvSpPr/>
          <p:nvPr/>
        </p:nvSpPr>
        <p:spPr>
          <a:xfrm>
            <a:off x="457200" y="0"/>
            <a:ext cx="2743200" cy="320040"/>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CATAWBA COLLEGE</a:t>
            </a:r>
            <a:endParaRPr lang="en-US" sz="900" dirty="0"/>
          </a:p>
        </p:txBody>
      </p:sp>
      <p:sp>
        <p:nvSpPr>
          <p:cNvPr id="5" name="Text 3"/>
          <p:cNvSpPr/>
          <p:nvPr/>
        </p:nvSpPr>
        <p:spPr>
          <a:xfrm>
            <a:off x="8076895" y="0"/>
            <a:ext cx="3657600" cy="320040"/>
          </a:xfrm>
          <a:prstGeom prst="rect">
            <a:avLst/>
          </a:prstGeom>
          <a:noFill/>
          <a:ln/>
        </p:spPr>
        <p:txBody>
          <a:bodyPr wrap="square" lIns="0" tIns="0" rIns="0" bIns="0"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01 · PROBLEM</a:t>
            </a:r>
            <a:endParaRPr lang="en-US" sz="900" dirty="0"/>
          </a:p>
        </p:txBody>
      </p:sp>
      <p:sp>
        <p:nvSpPr>
          <p:cNvPr id="6" name="Shape 4"/>
          <p:cNvSpPr/>
          <p:nvPr/>
        </p:nvSpPr>
        <p:spPr>
          <a:xfrm>
            <a:off x="457200" y="6492240"/>
            <a:ext cx="11277295" cy="0"/>
          </a:xfrm>
          <a:prstGeom prst="line">
            <a:avLst/>
          </a:prstGeom>
          <a:noFill/>
          <a:ln w="9525">
            <a:solidFill>
              <a:srgbClr val="E5E7EB"/>
            </a:solidFill>
            <a:prstDash val="solid"/>
          </a:ln>
        </p:spPr>
        <p:txBody>
          <a:bodyPr/>
          <a:lstStyle/>
          <a:p>
            <a:endParaRPr lang="en-US"/>
          </a:p>
        </p:txBody>
      </p:sp>
      <p:sp>
        <p:nvSpPr>
          <p:cNvPr id="7" name="Text 5"/>
          <p:cNvSpPr/>
          <p:nvPr/>
        </p:nvSpPr>
        <p:spPr>
          <a:xfrm>
            <a:off x="457200" y="6537960"/>
            <a:ext cx="457200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Data Mining · Final Project</a:t>
            </a:r>
            <a:endParaRPr lang="en-US" sz="900" dirty="0"/>
          </a:p>
        </p:txBody>
      </p:sp>
      <p:sp>
        <p:nvSpPr>
          <p:cNvPr id="8" name="Text 6"/>
          <p:cNvSpPr/>
          <p:nvPr/>
        </p:nvSpPr>
        <p:spPr>
          <a:xfrm>
            <a:off x="10362895" y="6537960"/>
            <a:ext cx="13716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  /  10</a:t>
            </a:r>
            <a:endParaRPr lang="en-US" sz="900" dirty="0"/>
          </a:p>
        </p:txBody>
      </p:sp>
      <p:sp>
        <p:nvSpPr>
          <p:cNvPr id="9" name="Shape 7"/>
          <p:cNvSpPr/>
          <p:nvPr/>
        </p:nvSpPr>
        <p:spPr>
          <a:xfrm>
            <a:off x="11643055" y="6400800"/>
            <a:ext cx="228600" cy="36576"/>
          </a:xfrm>
          <a:prstGeom prst="rect">
            <a:avLst/>
          </a:prstGeom>
          <a:solidFill>
            <a:srgbClr val="C8102E"/>
          </a:solidFill>
          <a:ln w="12700">
            <a:solidFill>
              <a:srgbClr val="C8102E"/>
            </a:solidFill>
            <a:prstDash val="solid"/>
          </a:ln>
        </p:spPr>
        <p:txBody>
          <a:bodyPr/>
          <a:lstStyle/>
          <a:p>
            <a:endParaRPr lang="en-US"/>
          </a:p>
        </p:txBody>
      </p:sp>
      <p:sp>
        <p:nvSpPr>
          <p:cNvPr id="10" name="Shape 8"/>
          <p:cNvSpPr/>
          <p:nvPr/>
        </p:nvSpPr>
        <p:spPr>
          <a:xfrm>
            <a:off x="457200" y="685800"/>
            <a:ext cx="73152" cy="822960"/>
          </a:xfrm>
          <a:prstGeom prst="rect">
            <a:avLst/>
          </a:prstGeom>
          <a:solidFill>
            <a:srgbClr val="C8102E"/>
          </a:solidFill>
          <a:ln w="12700">
            <a:solidFill>
              <a:srgbClr val="C8102E"/>
            </a:solidFill>
            <a:prstDash val="solid"/>
          </a:ln>
        </p:spPr>
        <p:txBody>
          <a:bodyPr/>
          <a:lstStyle/>
          <a:p>
            <a:endParaRPr lang="en-US"/>
          </a:p>
        </p:txBody>
      </p:sp>
      <p:sp>
        <p:nvSpPr>
          <p:cNvPr id="11" name="Shape 9"/>
          <p:cNvSpPr/>
          <p:nvPr/>
        </p:nvSpPr>
        <p:spPr>
          <a:xfrm>
            <a:off x="731520" y="731520"/>
            <a:ext cx="731520" cy="731520"/>
          </a:xfrm>
          <a:prstGeom prst="ellipse">
            <a:avLst/>
          </a:prstGeom>
          <a:solidFill>
            <a:srgbClr val="001F5B"/>
          </a:solidFill>
          <a:ln w="12700">
            <a:solidFill>
              <a:srgbClr val="001F5B"/>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896112" y="896112"/>
            <a:ext cx="402336" cy="402336"/>
          </a:xfrm>
          <a:prstGeom prst="rect">
            <a:avLst/>
          </a:prstGeom>
        </p:spPr>
      </p:pic>
      <p:sp>
        <p:nvSpPr>
          <p:cNvPr id="13" name="Text 10"/>
          <p:cNvSpPr/>
          <p:nvPr/>
        </p:nvSpPr>
        <p:spPr>
          <a:xfrm>
            <a:off x="1645920" y="658368"/>
            <a:ext cx="9601200" cy="548640"/>
          </a:xfrm>
          <a:prstGeom prst="rect">
            <a:avLst/>
          </a:prstGeom>
          <a:noFill/>
          <a:ln/>
        </p:spPr>
        <p:txBody>
          <a:bodyPr wrap="square" lIns="0" tIns="0" rIns="0" bIns="0" rtlCol="0" anchor="ctr"/>
          <a:lstStyle/>
          <a:p>
            <a:pPr marL="0" indent="0">
              <a:buNone/>
            </a:pPr>
            <a:r>
              <a:rPr lang="en-US" sz="3000" b="1" dirty="0">
                <a:solidFill>
                  <a:srgbClr val="001F5B"/>
                </a:solidFill>
                <a:latin typeface="Georgia" pitchFamily="34" charset="0"/>
                <a:ea typeface="Georgia" pitchFamily="34" charset="-122"/>
                <a:cs typeface="Georgia" pitchFamily="34" charset="-120"/>
              </a:rPr>
              <a:t>Problem Statement &amp; Objective</a:t>
            </a:r>
            <a:endParaRPr lang="en-US" sz="3000" dirty="0"/>
          </a:p>
        </p:txBody>
      </p:sp>
      <p:sp>
        <p:nvSpPr>
          <p:cNvPr id="14" name="Text 11"/>
          <p:cNvSpPr/>
          <p:nvPr/>
        </p:nvSpPr>
        <p:spPr>
          <a:xfrm>
            <a:off x="1645920" y="1170432"/>
            <a:ext cx="960120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Frame the problem, clarify the target, justify the work</a:t>
            </a:r>
            <a:endParaRPr lang="en-US" sz="1200" dirty="0"/>
          </a:p>
        </p:txBody>
      </p:sp>
      <p:sp>
        <p:nvSpPr>
          <p:cNvPr id="15" name="Shape 12"/>
          <p:cNvSpPr/>
          <p:nvPr/>
        </p:nvSpPr>
        <p:spPr>
          <a:xfrm>
            <a:off x="457200" y="1828800"/>
            <a:ext cx="4754880" cy="4389120"/>
          </a:xfrm>
          <a:prstGeom prst="rect">
            <a:avLst/>
          </a:prstGeom>
          <a:solidFill>
            <a:srgbClr val="001F5B"/>
          </a:solidFill>
          <a:ln w="12700">
            <a:solidFill>
              <a:srgbClr val="001F5B"/>
            </a:solidFill>
            <a:prstDash val="solid"/>
          </a:ln>
          <a:effectLst>
            <a:outerShdw blurRad="177800" dist="50800" dir="5400000" algn="bl" rotWithShape="0">
              <a:srgbClr val="000000">
                <a:alpha val="15000"/>
              </a:srgbClr>
            </a:outerShdw>
          </a:effectLst>
        </p:spPr>
        <p:txBody>
          <a:bodyPr/>
          <a:lstStyle/>
          <a:p>
            <a:endParaRPr lang="en-US"/>
          </a:p>
        </p:txBody>
      </p:sp>
      <p:sp>
        <p:nvSpPr>
          <p:cNvPr id="16" name="Shape 13"/>
          <p:cNvSpPr/>
          <p:nvPr/>
        </p:nvSpPr>
        <p:spPr>
          <a:xfrm>
            <a:off x="457200" y="1828800"/>
            <a:ext cx="731520" cy="73152"/>
          </a:xfrm>
          <a:prstGeom prst="rect">
            <a:avLst/>
          </a:prstGeom>
          <a:solidFill>
            <a:srgbClr val="C8102E"/>
          </a:solidFill>
          <a:ln w="12700">
            <a:solidFill>
              <a:srgbClr val="C8102E"/>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777240" y="2057400"/>
            <a:ext cx="548640" cy="548640"/>
          </a:xfrm>
          <a:prstGeom prst="rect">
            <a:avLst/>
          </a:prstGeom>
        </p:spPr>
      </p:pic>
      <p:sp>
        <p:nvSpPr>
          <p:cNvPr id="18" name="Text 14"/>
          <p:cNvSpPr/>
          <p:nvPr/>
        </p:nvSpPr>
        <p:spPr>
          <a:xfrm>
            <a:off x="777240" y="2743200"/>
            <a:ext cx="4114800" cy="365760"/>
          </a:xfrm>
          <a:prstGeom prst="rect">
            <a:avLst/>
          </a:prstGeom>
          <a:noFill/>
          <a:ln/>
        </p:spPr>
        <p:txBody>
          <a:bodyPr wrap="square" lIns="0" tIns="0" rIns="0" bIns="0" rtlCol="0" anchor="ctr"/>
          <a:lstStyle/>
          <a:p>
            <a:pPr marL="0" indent="0">
              <a:buNone/>
            </a:pPr>
            <a:r>
              <a:rPr lang="en-US" sz="1200" b="1" kern="0" spc="400" dirty="0">
                <a:solidFill>
                  <a:srgbClr val="A9B8D4"/>
                </a:solidFill>
                <a:latin typeface="Calibri" pitchFamily="34" charset="0"/>
                <a:ea typeface="Calibri" pitchFamily="34" charset="-122"/>
                <a:cs typeface="Calibri" pitchFamily="34" charset="-120"/>
              </a:rPr>
              <a:t>Introduction</a:t>
            </a:r>
            <a:endParaRPr lang="en-US" sz="1200" dirty="0"/>
          </a:p>
        </p:txBody>
      </p:sp>
      <p:sp>
        <p:nvSpPr>
          <p:cNvPr id="19" name="Text 15"/>
          <p:cNvSpPr/>
          <p:nvPr/>
        </p:nvSpPr>
        <p:spPr>
          <a:xfrm>
            <a:off x="777240" y="3200400"/>
            <a:ext cx="4114800" cy="2743200"/>
          </a:xfrm>
          <a:prstGeom prst="rect">
            <a:avLst/>
          </a:prstGeom>
          <a:noFill/>
          <a:ln/>
        </p:spPr>
        <p:txBody>
          <a:bodyPr wrap="square" lIns="0" tIns="0" rIns="0" bIns="0" rtlCol="0" anchor="t"/>
          <a:lstStyle/>
          <a:p>
            <a:pPr marL="0" indent="0">
              <a:spcAft>
                <a:spcPts val="600"/>
              </a:spcAft>
              <a:buNone/>
            </a:pPr>
            <a:r>
              <a:rPr lang="en-US" sz="2000" i="1" dirty="0">
                <a:solidFill>
                  <a:srgbClr val="FFFFFF"/>
                </a:solidFill>
                <a:latin typeface="Georgia" pitchFamily="34" charset="0"/>
                <a:ea typeface="Georgia" pitchFamily="34" charset="-122"/>
                <a:cs typeface="Georgia" pitchFamily="34" charset="-120"/>
              </a:rPr>
              <a:t>[ This analysis uses classification models to determine loan approval status based on key features. ]</a:t>
            </a:r>
            <a:endParaRPr lang="en-US" sz="2000" dirty="0"/>
          </a:p>
        </p:txBody>
      </p:sp>
      <p:sp>
        <p:nvSpPr>
          <p:cNvPr id="20" name="Shape 16"/>
          <p:cNvSpPr/>
          <p:nvPr/>
        </p:nvSpPr>
        <p:spPr>
          <a:xfrm>
            <a:off x="5577840" y="1828800"/>
            <a:ext cx="6126480" cy="1325880"/>
          </a:xfrm>
          <a:prstGeom prst="rect">
            <a:avLst/>
          </a:prstGeom>
          <a:solidFill>
            <a:srgbClr val="F7F8FB"/>
          </a:solidFill>
          <a:ln w="9525">
            <a:solidFill>
              <a:srgbClr val="E5E7EB"/>
            </a:solidFill>
            <a:prstDash val="solid"/>
          </a:ln>
        </p:spPr>
        <p:txBody>
          <a:bodyPr/>
          <a:lstStyle/>
          <a:p>
            <a:endParaRPr lang="en-US"/>
          </a:p>
        </p:txBody>
      </p:sp>
      <p:sp>
        <p:nvSpPr>
          <p:cNvPr id="21" name="Shape 17"/>
          <p:cNvSpPr/>
          <p:nvPr/>
        </p:nvSpPr>
        <p:spPr>
          <a:xfrm>
            <a:off x="5577840" y="1828800"/>
            <a:ext cx="91440" cy="1325880"/>
          </a:xfrm>
          <a:prstGeom prst="rect">
            <a:avLst/>
          </a:prstGeom>
          <a:solidFill>
            <a:srgbClr val="C8102E"/>
          </a:solidFill>
          <a:ln w="12700">
            <a:solidFill>
              <a:srgbClr val="C8102E"/>
            </a:solidFill>
            <a:prstDash val="solid"/>
          </a:ln>
        </p:spPr>
        <p:txBody>
          <a:bodyPr/>
          <a:lstStyle/>
          <a:p>
            <a:endParaRPr lang="en-US"/>
          </a:p>
        </p:txBody>
      </p:sp>
      <p:sp>
        <p:nvSpPr>
          <p:cNvPr id="22" name="Text 18"/>
          <p:cNvSpPr/>
          <p:nvPr/>
        </p:nvSpPr>
        <p:spPr>
          <a:xfrm>
            <a:off x="5852160" y="1965960"/>
            <a:ext cx="914400" cy="1005840"/>
          </a:xfrm>
          <a:prstGeom prst="rect">
            <a:avLst/>
          </a:prstGeom>
          <a:noFill/>
          <a:ln/>
        </p:spPr>
        <p:txBody>
          <a:bodyPr wrap="square" lIns="0" tIns="0" rIns="0" bIns="0" rtlCol="0" anchor="ctr"/>
          <a:lstStyle/>
          <a:p>
            <a:pPr marL="0" indent="0">
              <a:buNone/>
            </a:pPr>
            <a:r>
              <a:rPr lang="en-US" sz="4400" b="1" dirty="0">
                <a:solidFill>
                  <a:srgbClr val="001F5B"/>
                </a:solidFill>
                <a:latin typeface="Georgia" pitchFamily="34" charset="0"/>
                <a:ea typeface="Georgia" pitchFamily="34" charset="-122"/>
                <a:cs typeface="Georgia" pitchFamily="34" charset="-120"/>
              </a:rPr>
              <a:t>01</a:t>
            </a:r>
            <a:endParaRPr lang="en-US" sz="4400" dirty="0"/>
          </a:p>
        </p:txBody>
      </p:sp>
      <p:sp>
        <p:nvSpPr>
          <p:cNvPr id="23" name="Text 19"/>
          <p:cNvSpPr/>
          <p:nvPr/>
        </p:nvSpPr>
        <p:spPr>
          <a:xfrm>
            <a:off x="6812280" y="2011680"/>
            <a:ext cx="4754880" cy="457200"/>
          </a:xfrm>
          <a:prstGeom prst="rect">
            <a:avLst/>
          </a:prstGeom>
          <a:noFill/>
          <a:ln/>
        </p:spPr>
        <p:txBody>
          <a:bodyPr wrap="square" lIns="0" tIns="0" rIns="0" bIns="0" rtlCol="0" anchor="ctr"/>
          <a:lstStyle/>
          <a:p>
            <a:pPr marL="0" indent="0">
              <a:buNone/>
            </a:pPr>
            <a:r>
              <a:rPr lang="en-US" sz="1700" b="1" dirty="0">
                <a:solidFill>
                  <a:srgbClr val="001F5B"/>
                </a:solidFill>
                <a:latin typeface="Calibri" pitchFamily="34" charset="0"/>
                <a:ea typeface="Calibri" pitchFamily="34" charset="-122"/>
                <a:cs typeface="Calibri" pitchFamily="34" charset="-120"/>
              </a:rPr>
              <a:t>Motivation</a:t>
            </a:r>
            <a:endParaRPr lang="en-US" sz="1700" dirty="0"/>
          </a:p>
        </p:txBody>
      </p:sp>
      <p:sp>
        <p:nvSpPr>
          <p:cNvPr id="24" name="Text 20"/>
          <p:cNvSpPr/>
          <p:nvPr/>
        </p:nvSpPr>
        <p:spPr>
          <a:xfrm>
            <a:off x="6812280" y="2468880"/>
            <a:ext cx="4754880" cy="594360"/>
          </a:xfrm>
          <a:prstGeom prst="rect">
            <a:avLst/>
          </a:prstGeom>
          <a:noFill/>
          <a:ln/>
        </p:spPr>
        <p:txBody>
          <a:bodyPr wrap="square" lIns="0" tIns="0" rIns="0" bIns="0" rtlCol="0" anchor="t"/>
          <a:lstStyle/>
          <a:p>
            <a:pPr marL="0" indent="0">
              <a:buNone/>
            </a:pPr>
            <a:r>
              <a:rPr lang="en-US" sz="1300" i="1" dirty="0">
                <a:solidFill>
                  <a:srgbClr val="1F2937"/>
                </a:solidFill>
                <a:latin typeface="Calibri" pitchFamily="34" charset="0"/>
                <a:ea typeface="Calibri" pitchFamily="34" charset="-122"/>
                <a:cs typeface="Calibri" pitchFamily="34" charset="-120"/>
              </a:rPr>
              <a:t>Loan approval applications can be time consuming and inconsistent. This model automates the decision-making process, reducing time and ensuring consistent results. </a:t>
            </a:r>
            <a:endParaRPr lang="en-US" sz="1300" dirty="0"/>
          </a:p>
        </p:txBody>
      </p:sp>
      <p:sp>
        <p:nvSpPr>
          <p:cNvPr id="25" name="Shape 21"/>
          <p:cNvSpPr/>
          <p:nvPr/>
        </p:nvSpPr>
        <p:spPr>
          <a:xfrm>
            <a:off x="5577840" y="3337560"/>
            <a:ext cx="6126480" cy="1325880"/>
          </a:xfrm>
          <a:prstGeom prst="rect">
            <a:avLst/>
          </a:prstGeom>
          <a:solidFill>
            <a:srgbClr val="F7F8FB"/>
          </a:solidFill>
          <a:ln w="9525">
            <a:solidFill>
              <a:srgbClr val="E5E7EB"/>
            </a:solidFill>
            <a:prstDash val="solid"/>
          </a:ln>
        </p:spPr>
        <p:txBody>
          <a:bodyPr/>
          <a:lstStyle/>
          <a:p>
            <a:endParaRPr lang="en-US" dirty="0"/>
          </a:p>
        </p:txBody>
      </p:sp>
      <p:sp>
        <p:nvSpPr>
          <p:cNvPr id="26" name="Shape 22"/>
          <p:cNvSpPr/>
          <p:nvPr/>
        </p:nvSpPr>
        <p:spPr>
          <a:xfrm>
            <a:off x="5577840" y="3337560"/>
            <a:ext cx="91440" cy="1325880"/>
          </a:xfrm>
          <a:prstGeom prst="rect">
            <a:avLst/>
          </a:prstGeom>
          <a:solidFill>
            <a:srgbClr val="C8102E"/>
          </a:solidFill>
          <a:ln w="12700">
            <a:solidFill>
              <a:srgbClr val="C8102E"/>
            </a:solidFill>
            <a:prstDash val="solid"/>
          </a:ln>
        </p:spPr>
        <p:txBody>
          <a:bodyPr/>
          <a:lstStyle/>
          <a:p>
            <a:endParaRPr lang="en-US"/>
          </a:p>
        </p:txBody>
      </p:sp>
      <p:sp>
        <p:nvSpPr>
          <p:cNvPr id="27" name="Text 23"/>
          <p:cNvSpPr/>
          <p:nvPr/>
        </p:nvSpPr>
        <p:spPr>
          <a:xfrm>
            <a:off x="5852160" y="3474720"/>
            <a:ext cx="914400" cy="1005840"/>
          </a:xfrm>
          <a:prstGeom prst="rect">
            <a:avLst/>
          </a:prstGeom>
          <a:noFill/>
          <a:ln/>
        </p:spPr>
        <p:txBody>
          <a:bodyPr wrap="square" lIns="0" tIns="0" rIns="0" bIns="0" rtlCol="0" anchor="ctr"/>
          <a:lstStyle/>
          <a:p>
            <a:pPr marL="0" indent="0">
              <a:buNone/>
            </a:pPr>
            <a:r>
              <a:rPr lang="en-US" sz="4400" b="1" dirty="0">
                <a:solidFill>
                  <a:srgbClr val="001F5B"/>
                </a:solidFill>
                <a:latin typeface="Georgia" pitchFamily="34" charset="0"/>
                <a:ea typeface="Georgia" pitchFamily="34" charset="-122"/>
                <a:cs typeface="Georgia" pitchFamily="34" charset="-120"/>
              </a:rPr>
              <a:t>02</a:t>
            </a:r>
            <a:endParaRPr lang="en-US" sz="4400" dirty="0"/>
          </a:p>
        </p:txBody>
      </p:sp>
      <p:sp>
        <p:nvSpPr>
          <p:cNvPr id="28" name="Text 24"/>
          <p:cNvSpPr/>
          <p:nvPr/>
        </p:nvSpPr>
        <p:spPr>
          <a:xfrm>
            <a:off x="6812280" y="3520440"/>
            <a:ext cx="4754880" cy="457200"/>
          </a:xfrm>
          <a:prstGeom prst="rect">
            <a:avLst/>
          </a:prstGeom>
          <a:noFill/>
          <a:ln/>
        </p:spPr>
        <p:txBody>
          <a:bodyPr wrap="square" lIns="0" tIns="0" rIns="0" bIns="0" rtlCol="0" anchor="ctr"/>
          <a:lstStyle/>
          <a:p>
            <a:pPr marL="0" indent="0">
              <a:buNone/>
            </a:pPr>
            <a:r>
              <a:rPr lang="en-US" sz="1700" b="1" dirty="0">
                <a:solidFill>
                  <a:srgbClr val="001F5B"/>
                </a:solidFill>
                <a:latin typeface="Calibri" pitchFamily="34" charset="0"/>
                <a:ea typeface="Calibri" pitchFamily="34" charset="-122"/>
                <a:cs typeface="Calibri" pitchFamily="34" charset="-120"/>
              </a:rPr>
              <a:t>Prediction Target</a:t>
            </a:r>
            <a:endParaRPr lang="en-US" sz="1700" dirty="0"/>
          </a:p>
        </p:txBody>
      </p:sp>
      <p:sp>
        <p:nvSpPr>
          <p:cNvPr id="29" name="Text 25"/>
          <p:cNvSpPr/>
          <p:nvPr/>
        </p:nvSpPr>
        <p:spPr>
          <a:xfrm>
            <a:off x="6812280" y="3977640"/>
            <a:ext cx="4754880" cy="594360"/>
          </a:xfrm>
          <a:prstGeom prst="rect">
            <a:avLst/>
          </a:prstGeom>
          <a:noFill/>
          <a:ln/>
        </p:spPr>
        <p:txBody>
          <a:bodyPr wrap="square" lIns="0" tIns="0" rIns="0" bIns="0" rtlCol="0" anchor="t"/>
          <a:lstStyle/>
          <a:p>
            <a:pPr marL="0" indent="0">
              <a:buNone/>
            </a:pPr>
            <a:r>
              <a:rPr lang="en-US" sz="1300" i="1" dirty="0">
                <a:solidFill>
                  <a:srgbClr val="1F2937"/>
                </a:solidFill>
                <a:latin typeface="Calibri" pitchFamily="34" charset="0"/>
                <a:ea typeface="Calibri" pitchFamily="34" charset="-122"/>
                <a:cs typeface="Calibri" pitchFamily="34" charset="-120"/>
              </a:rPr>
              <a:t>The model is predicting </a:t>
            </a:r>
            <a:r>
              <a:rPr lang="en-US" sz="1300" b="1" i="1" dirty="0" err="1">
                <a:solidFill>
                  <a:srgbClr val="1F2937"/>
                </a:solidFill>
                <a:latin typeface="Calibri" pitchFamily="34" charset="0"/>
                <a:ea typeface="Calibri" pitchFamily="34" charset="-122"/>
                <a:cs typeface="Calibri" pitchFamily="34" charset="-120"/>
              </a:rPr>
              <a:t>loan_status</a:t>
            </a:r>
            <a:r>
              <a:rPr lang="en-US" sz="1300" b="1" i="1" dirty="0">
                <a:solidFill>
                  <a:srgbClr val="1F2937"/>
                </a:solidFill>
                <a:latin typeface="Calibri" pitchFamily="34" charset="0"/>
                <a:ea typeface="Calibri" pitchFamily="34" charset="-122"/>
                <a:cs typeface="Calibri" pitchFamily="34" charset="-120"/>
              </a:rPr>
              <a:t> </a:t>
            </a:r>
            <a:r>
              <a:rPr lang="en-US" sz="1300" i="1" dirty="0">
                <a:solidFill>
                  <a:srgbClr val="1F2937"/>
                </a:solidFill>
                <a:latin typeface="Calibri" pitchFamily="34" charset="0"/>
                <a:ea typeface="Calibri" pitchFamily="34" charset="-122"/>
                <a:cs typeface="Calibri" pitchFamily="34" charset="-120"/>
              </a:rPr>
              <a:t>as Approved or Rejected. </a:t>
            </a:r>
            <a:endParaRPr lang="en-US" sz="1300" dirty="0"/>
          </a:p>
        </p:txBody>
      </p:sp>
      <p:sp>
        <p:nvSpPr>
          <p:cNvPr id="30" name="Shape 26"/>
          <p:cNvSpPr/>
          <p:nvPr/>
        </p:nvSpPr>
        <p:spPr>
          <a:xfrm>
            <a:off x="5577840" y="4846320"/>
            <a:ext cx="6126480" cy="1325880"/>
          </a:xfrm>
          <a:prstGeom prst="rect">
            <a:avLst/>
          </a:prstGeom>
          <a:solidFill>
            <a:srgbClr val="F7F8FB"/>
          </a:solidFill>
          <a:ln w="9525">
            <a:solidFill>
              <a:srgbClr val="E5E7EB"/>
            </a:solidFill>
            <a:prstDash val="solid"/>
          </a:ln>
        </p:spPr>
        <p:txBody>
          <a:bodyPr/>
          <a:lstStyle/>
          <a:p>
            <a:endParaRPr lang="en-US"/>
          </a:p>
        </p:txBody>
      </p:sp>
      <p:sp>
        <p:nvSpPr>
          <p:cNvPr id="31" name="Shape 27"/>
          <p:cNvSpPr/>
          <p:nvPr/>
        </p:nvSpPr>
        <p:spPr>
          <a:xfrm>
            <a:off x="5577840" y="4846320"/>
            <a:ext cx="91440" cy="1325880"/>
          </a:xfrm>
          <a:prstGeom prst="rect">
            <a:avLst/>
          </a:prstGeom>
          <a:solidFill>
            <a:srgbClr val="C8102E"/>
          </a:solidFill>
          <a:ln w="12700">
            <a:solidFill>
              <a:srgbClr val="C8102E"/>
            </a:solidFill>
            <a:prstDash val="solid"/>
          </a:ln>
        </p:spPr>
        <p:txBody>
          <a:bodyPr/>
          <a:lstStyle/>
          <a:p>
            <a:endParaRPr lang="en-US"/>
          </a:p>
        </p:txBody>
      </p:sp>
      <p:sp>
        <p:nvSpPr>
          <p:cNvPr id="32" name="Text 28"/>
          <p:cNvSpPr/>
          <p:nvPr/>
        </p:nvSpPr>
        <p:spPr>
          <a:xfrm>
            <a:off x="5852160" y="4983480"/>
            <a:ext cx="914400" cy="1005840"/>
          </a:xfrm>
          <a:prstGeom prst="rect">
            <a:avLst/>
          </a:prstGeom>
          <a:noFill/>
          <a:ln/>
        </p:spPr>
        <p:txBody>
          <a:bodyPr wrap="square" lIns="0" tIns="0" rIns="0" bIns="0" rtlCol="0" anchor="ctr"/>
          <a:lstStyle/>
          <a:p>
            <a:pPr marL="0" indent="0">
              <a:buNone/>
            </a:pPr>
            <a:r>
              <a:rPr lang="en-US" sz="4400" b="1" dirty="0">
                <a:solidFill>
                  <a:srgbClr val="001F5B"/>
                </a:solidFill>
                <a:latin typeface="Georgia" pitchFamily="34" charset="0"/>
                <a:ea typeface="Georgia" pitchFamily="34" charset="-122"/>
                <a:cs typeface="Georgia" pitchFamily="34" charset="-120"/>
              </a:rPr>
              <a:t>03</a:t>
            </a:r>
            <a:endParaRPr lang="en-US" sz="4400" dirty="0"/>
          </a:p>
        </p:txBody>
      </p:sp>
      <p:sp>
        <p:nvSpPr>
          <p:cNvPr id="33" name="Text 29"/>
          <p:cNvSpPr/>
          <p:nvPr/>
        </p:nvSpPr>
        <p:spPr>
          <a:xfrm>
            <a:off x="6812280" y="5029200"/>
            <a:ext cx="4754880" cy="457200"/>
          </a:xfrm>
          <a:prstGeom prst="rect">
            <a:avLst/>
          </a:prstGeom>
          <a:noFill/>
          <a:ln/>
        </p:spPr>
        <p:txBody>
          <a:bodyPr wrap="square" lIns="0" tIns="0" rIns="0" bIns="0" rtlCol="0" anchor="ctr"/>
          <a:lstStyle/>
          <a:p>
            <a:pPr marL="0" indent="0">
              <a:buNone/>
            </a:pPr>
            <a:r>
              <a:rPr lang="en-US" sz="1700" b="1" dirty="0">
                <a:solidFill>
                  <a:srgbClr val="001F5B"/>
                </a:solidFill>
                <a:latin typeface="Calibri" pitchFamily="34" charset="0"/>
                <a:ea typeface="Calibri" pitchFamily="34" charset="-122"/>
                <a:cs typeface="Calibri" pitchFamily="34" charset="-120"/>
              </a:rPr>
              <a:t>Impact</a:t>
            </a:r>
            <a:endParaRPr lang="en-US" sz="1700" dirty="0"/>
          </a:p>
        </p:txBody>
      </p:sp>
      <p:sp>
        <p:nvSpPr>
          <p:cNvPr id="34" name="Text 30"/>
          <p:cNvSpPr/>
          <p:nvPr/>
        </p:nvSpPr>
        <p:spPr>
          <a:xfrm>
            <a:off x="6812280" y="5486400"/>
            <a:ext cx="4754880" cy="594360"/>
          </a:xfrm>
          <a:prstGeom prst="rect">
            <a:avLst/>
          </a:prstGeom>
          <a:noFill/>
          <a:ln/>
        </p:spPr>
        <p:txBody>
          <a:bodyPr wrap="square" lIns="0" tIns="0" rIns="0" bIns="0" rtlCol="0" anchor="t"/>
          <a:lstStyle/>
          <a:p>
            <a:pPr marL="0" indent="0">
              <a:buNone/>
            </a:pPr>
            <a:r>
              <a:rPr lang="en-US" sz="1300" i="1" dirty="0">
                <a:solidFill>
                  <a:srgbClr val="1F2937"/>
                </a:solidFill>
                <a:latin typeface="Calibri" pitchFamily="34" charset="0"/>
                <a:ea typeface="Calibri" pitchFamily="34" charset="-122"/>
                <a:cs typeface="Calibri" pitchFamily="34" charset="-120"/>
              </a:rPr>
              <a:t>This model can help financial institutions make quicker and more reliable decision while reducing manual workloads, and minimizing risky lending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01F5B"/>
          </a:solidFill>
          <a:ln w="12700">
            <a:solidFill>
              <a:srgbClr val="001F5B"/>
            </a:solidFill>
            <a:prstDash val="solid"/>
          </a:ln>
        </p:spPr>
        <p:txBody>
          <a:bodyPr/>
          <a:lstStyle/>
          <a:p>
            <a:endParaRPr lang="en-US"/>
          </a:p>
        </p:txBody>
      </p:sp>
      <p:sp>
        <p:nvSpPr>
          <p:cNvPr id="3" name="Shape 1"/>
          <p:cNvSpPr/>
          <p:nvPr/>
        </p:nvSpPr>
        <p:spPr>
          <a:xfrm>
            <a:off x="0" y="0"/>
            <a:ext cx="320040" cy="320040"/>
          </a:xfrm>
          <a:prstGeom prst="rect">
            <a:avLst/>
          </a:prstGeom>
          <a:solidFill>
            <a:srgbClr val="C8102E"/>
          </a:solidFill>
          <a:ln w="12700">
            <a:solidFill>
              <a:srgbClr val="C8102E"/>
            </a:solidFill>
            <a:prstDash val="solid"/>
          </a:ln>
        </p:spPr>
        <p:txBody>
          <a:bodyPr/>
          <a:lstStyle/>
          <a:p>
            <a:endParaRPr lang="en-US"/>
          </a:p>
        </p:txBody>
      </p:sp>
      <p:sp>
        <p:nvSpPr>
          <p:cNvPr id="4" name="Text 2"/>
          <p:cNvSpPr/>
          <p:nvPr/>
        </p:nvSpPr>
        <p:spPr>
          <a:xfrm>
            <a:off x="457200" y="0"/>
            <a:ext cx="2743200" cy="320040"/>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CATAWBA COLLEGE</a:t>
            </a:r>
            <a:endParaRPr lang="en-US" sz="900" dirty="0"/>
          </a:p>
        </p:txBody>
      </p:sp>
      <p:sp>
        <p:nvSpPr>
          <p:cNvPr id="5" name="Text 3"/>
          <p:cNvSpPr/>
          <p:nvPr/>
        </p:nvSpPr>
        <p:spPr>
          <a:xfrm>
            <a:off x="8076895" y="0"/>
            <a:ext cx="3657600" cy="320040"/>
          </a:xfrm>
          <a:prstGeom prst="rect">
            <a:avLst/>
          </a:prstGeom>
          <a:noFill/>
          <a:ln/>
        </p:spPr>
        <p:txBody>
          <a:bodyPr wrap="square" lIns="0" tIns="0" rIns="0" bIns="0"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02 · DATASET</a:t>
            </a:r>
            <a:endParaRPr lang="en-US" sz="900" dirty="0"/>
          </a:p>
        </p:txBody>
      </p:sp>
      <p:sp>
        <p:nvSpPr>
          <p:cNvPr id="6" name="Shape 4"/>
          <p:cNvSpPr/>
          <p:nvPr/>
        </p:nvSpPr>
        <p:spPr>
          <a:xfrm>
            <a:off x="457200" y="6492240"/>
            <a:ext cx="11277295" cy="0"/>
          </a:xfrm>
          <a:prstGeom prst="line">
            <a:avLst/>
          </a:prstGeom>
          <a:noFill/>
          <a:ln w="9525">
            <a:solidFill>
              <a:srgbClr val="E5E7EB"/>
            </a:solidFill>
            <a:prstDash val="solid"/>
          </a:ln>
        </p:spPr>
        <p:txBody>
          <a:bodyPr/>
          <a:lstStyle/>
          <a:p>
            <a:endParaRPr lang="en-US"/>
          </a:p>
        </p:txBody>
      </p:sp>
      <p:sp>
        <p:nvSpPr>
          <p:cNvPr id="7" name="Text 5"/>
          <p:cNvSpPr/>
          <p:nvPr/>
        </p:nvSpPr>
        <p:spPr>
          <a:xfrm>
            <a:off x="457200" y="6537960"/>
            <a:ext cx="457200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Data Mining · Final Project</a:t>
            </a:r>
            <a:endParaRPr lang="en-US" sz="900" dirty="0"/>
          </a:p>
        </p:txBody>
      </p:sp>
      <p:sp>
        <p:nvSpPr>
          <p:cNvPr id="8" name="Text 6"/>
          <p:cNvSpPr/>
          <p:nvPr/>
        </p:nvSpPr>
        <p:spPr>
          <a:xfrm>
            <a:off x="10362895" y="6537960"/>
            <a:ext cx="13716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  /  10</a:t>
            </a:r>
            <a:endParaRPr lang="en-US" sz="900" dirty="0"/>
          </a:p>
        </p:txBody>
      </p:sp>
      <p:sp>
        <p:nvSpPr>
          <p:cNvPr id="9" name="Shape 7"/>
          <p:cNvSpPr/>
          <p:nvPr/>
        </p:nvSpPr>
        <p:spPr>
          <a:xfrm>
            <a:off x="11643055" y="6400800"/>
            <a:ext cx="228600" cy="36576"/>
          </a:xfrm>
          <a:prstGeom prst="rect">
            <a:avLst/>
          </a:prstGeom>
          <a:solidFill>
            <a:srgbClr val="C8102E"/>
          </a:solidFill>
          <a:ln w="12700">
            <a:solidFill>
              <a:srgbClr val="C8102E"/>
            </a:solidFill>
            <a:prstDash val="solid"/>
          </a:ln>
        </p:spPr>
        <p:txBody>
          <a:bodyPr/>
          <a:lstStyle/>
          <a:p>
            <a:endParaRPr lang="en-US"/>
          </a:p>
        </p:txBody>
      </p:sp>
      <p:sp>
        <p:nvSpPr>
          <p:cNvPr id="10" name="Shape 8"/>
          <p:cNvSpPr/>
          <p:nvPr/>
        </p:nvSpPr>
        <p:spPr>
          <a:xfrm>
            <a:off x="457200" y="685800"/>
            <a:ext cx="73152" cy="822960"/>
          </a:xfrm>
          <a:prstGeom prst="rect">
            <a:avLst/>
          </a:prstGeom>
          <a:solidFill>
            <a:srgbClr val="C8102E"/>
          </a:solidFill>
          <a:ln w="12700">
            <a:solidFill>
              <a:srgbClr val="C8102E"/>
            </a:solidFill>
            <a:prstDash val="solid"/>
          </a:ln>
        </p:spPr>
        <p:txBody>
          <a:bodyPr/>
          <a:lstStyle/>
          <a:p>
            <a:endParaRPr lang="en-US"/>
          </a:p>
        </p:txBody>
      </p:sp>
      <p:sp>
        <p:nvSpPr>
          <p:cNvPr id="11" name="Shape 9"/>
          <p:cNvSpPr/>
          <p:nvPr/>
        </p:nvSpPr>
        <p:spPr>
          <a:xfrm>
            <a:off x="731520" y="731520"/>
            <a:ext cx="731520" cy="731520"/>
          </a:xfrm>
          <a:prstGeom prst="ellipse">
            <a:avLst/>
          </a:prstGeom>
          <a:solidFill>
            <a:srgbClr val="001F5B"/>
          </a:solidFill>
          <a:ln w="12700">
            <a:solidFill>
              <a:srgbClr val="001F5B"/>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896112" y="896112"/>
            <a:ext cx="402336" cy="402336"/>
          </a:xfrm>
          <a:prstGeom prst="rect">
            <a:avLst/>
          </a:prstGeom>
        </p:spPr>
      </p:pic>
      <p:sp>
        <p:nvSpPr>
          <p:cNvPr id="13" name="Text 10"/>
          <p:cNvSpPr/>
          <p:nvPr/>
        </p:nvSpPr>
        <p:spPr>
          <a:xfrm>
            <a:off x="1645920" y="658368"/>
            <a:ext cx="9601200" cy="548640"/>
          </a:xfrm>
          <a:prstGeom prst="rect">
            <a:avLst/>
          </a:prstGeom>
          <a:noFill/>
          <a:ln/>
        </p:spPr>
        <p:txBody>
          <a:bodyPr wrap="square" lIns="0" tIns="0" rIns="0" bIns="0" rtlCol="0" anchor="ctr"/>
          <a:lstStyle/>
          <a:p>
            <a:pPr marL="0" indent="0">
              <a:buNone/>
            </a:pPr>
            <a:r>
              <a:rPr lang="en-US" sz="3000" b="1" dirty="0">
                <a:solidFill>
                  <a:srgbClr val="001F5B"/>
                </a:solidFill>
                <a:latin typeface="Georgia" pitchFamily="34" charset="0"/>
                <a:ea typeface="Georgia" pitchFamily="34" charset="-122"/>
                <a:cs typeface="Georgia" pitchFamily="34" charset="-120"/>
              </a:rPr>
              <a:t>Dataset &amp; Domain Context</a:t>
            </a:r>
            <a:endParaRPr lang="en-US" sz="3000" dirty="0"/>
          </a:p>
        </p:txBody>
      </p:sp>
      <p:sp>
        <p:nvSpPr>
          <p:cNvPr id="14" name="Text 11"/>
          <p:cNvSpPr/>
          <p:nvPr/>
        </p:nvSpPr>
        <p:spPr>
          <a:xfrm>
            <a:off x="1645920" y="1170432"/>
            <a:ext cx="960120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Where the data comes from and why it fits the problem</a:t>
            </a:r>
            <a:endParaRPr lang="en-US" sz="1200" dirty="0"/>
          </a:p>
        </p:txBody>
      </p:sp>
      <p:sp>
        <p:nvSpPr>
          <p:cNvPr id="15" name="Shape 12"/>
          <p:cNvSpPr/>
          <p:nvPr/>
        </p:nvSpPr>
        <p:spPr>
          <a:xfrm>
            <a:off x="457200" y="1828800"/>
            <a:ext cx="3931920" cy="4389120"/>
          </a:xfrm>
          <a:prstGeom prst="rect">
            <a:avLst/>
          </a:prstGeom>
          <a:solidFill>
            <a:srgbClr val="001F5B"/>
          </a:solidFill>
          <a:ln w="12700">
            <a:solidFill>
              <a:srgbClr val="001F5B"/>
            </a:solidFill>
            <a:prstDash val="solid"/>
          </a:ln>
          <a:effectLst>
            <a:outerShdw blurRad="177800" dist="50800" dir="5400000" algn="bl" rotWithShape="0">
              <a:srgbClr val="000000">
                <a:alpha val="15000"/>
              </a:srgbClr>
            </a:outerShdw>
          </a:effectLst>
        </p:spPr>
        <p:txBody>
          <a:bodyPr/>
          <a:lstStyle/>
          <a:p>
            <a:endParaRPr lang="en-US"/>
          </a:p>
        </p:txBody>
      </p:sp>
      <p:sp>
        <p:nvSpPr>
          <p:cNvPr id="16" name="Shape 13"/>
          <p:cNvSpPr/>
          <p:nvPr/>
        </p:nvSpPr>
        <p:spPr>
          <a:xfrm>
            <a:off x="457200" y="1828800"/>
            <a:ext cx="731520" cy="73152"/>
          </a:xfrm>
          <a:prstGeom prst="rect">
            <a:avLst/>
          </a:prstGeom>
          <a:solidFill>
            <a:srgbClr val="C8102E"/>
          </a:solidFill>
          <a:ln w="12700">
            <a:solidFill>
              <a:srgbClr val="C8102E"/>
            </a:solidFill>
            <a:prstDash val="solid"/>
          </a:ln>
        </p:spPr>
        <p:txBody>
          <a:bodyPr/>
          <a:lstStyle/>
          <a:p>
            <a:endParaRPr lang="en-US"/>
          </a:p>
        </p:txBody>
      </p:sp>
      <p:sp>
        <p:nvSpPr>
          <p:cNvPr id="17" name="Text 14"/>
          <p:cNvSpPr/>
          <p:nvPr/>
        </p:nvSpPr>
        <p:spPr>
          <a:xfrm>
            <a:off x="731520" y="2011680"/>
            <a:ext cx="3474720" cy="320040"/>
          </a:xfrm>
          <a:prstGeom prst="rect">
            <a:avLst/>
          </a:prstGeom>
          <a:noFill/>
          <a:ln/>
        </p:spPr>
        <p:txBody>
          <a:bodyPr wrap="square" lIns="0" tIns="0" rIns="0" bIns="0" rtlCol="0" anchor="ctr"/>
          <a:lstStyle/>
          <a:p>
            <a:pPr marL="0" indent="0">
              <a:buNone/>
            </a:pPr>
            <a:r>
              <a:rPr lang="en-US" sz="1100" b="1" kern="0" spc="400" dirty="0">
                <a:solidFill>
                  <a:srgbClr val="A9B8D4"/>
                </a:solidFill>
                <a:latin typeface="Calibri" pitchFamily="34" charset="0"/>
                <a:ea typeface="Calibri" pitchFamily="34" charset="-122"/>
                <a:cs typeface="Calibri" pitchFamily="34" charset="-120"/>
              </a:rPr>
              <a:t>AT A GLANCE</a:t>
            </a:r>
            <a:endParaRPr lang="en-US" sz="1100" dirty="0"/>
          </a:p>
        </p:txBody>
      </p:sp>
      <p:sp>
        <p:nvSpPr>
          <p:cNvPr id="18" name="Text 15"/>
          <p:cNvSpPr/>
          <p:nvPr/>
        </p:nvSpPr>
        <p:spPr>
          <a:xfrm>
            <a:off x="777240" y="2606040"/>
            <a:ext cx="1188720" cy="914400"/>
          </a:xfrm>
          <a:prstGeom prst="rect">
            <a:avLst/>
          </a:prstGeom>
          <a:noFill/>
          <a:ln/>
        </p:spPr>
        <p:txBody>
          <a:bodyPr wrap="square" lIns="0" tIns="0" rIns="0" bIns="0" rtlCol="0" anchor="ctr"/>
          <a:lstStyle/>
          <a:p>
            <a:pPr marL="0" indent="0">
              <a:buNone/>
            </a:pPr>
            <a:r>
              <a:rPr lang="en-US" sz="4800" b="1" dirty="0">
                <a:solidFill>
                  <a:srgbClr val="C8102E"/>
                </a:solidFill>
                <a:latin typeface="Georgia" pitchFamily="34" charset="0"/>
                <a:ea typeface="Georgia" pitchFamily="34" charset="-122"/>
                <a:cs typeface="Georgia" pitchFamily="34" charset="-120"/>
              </a:rPr>
              <a:t>#</a:t>
            </a:r>
            <a:endParaRPr lang="en-US" sz="4800" dirty="0"/>
          </a:p>
        </p:txBody>
      </p:sp>
      <p:sp>
        <p:nvSpPr>
          <p:cNvPr id="19" name="Text 16"/>
          <p:cNvSpPr/>
          <p:nvPr/>
        </p:nvSpPr>
        <p:spPr>
          <a:xfrm>
            <a:off x="1965960" y="2697480"/>
            <a:ext cx="219456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rows</a:t>
            </a:r>
            <a:endParaRPr lang="en-US" sz="1500" dirty="0"/>
          </a:p>
        </p:txBody>
      </p:sp>
      <p:sp>
        <p:nvSpPr>
          <p:cNvPr id="20" name="Text 17"/>
          <p:cNvSpPr/>
          <p:nvPr/>
        </p:nvSpPr>
        <p:spPr>
          <a:xfrm>
            <a:off x="1965960" y="3108960"/>
            <a:ext cx="2194560" cy="411480"/>
          </a:xfrm>
          <a:prstGeom prst="rect">
            <a:avLst/>
          </a:prstGeom>
          <a:noFill/>
          <a:ln/>
        </p:spPr>
        <p:txBody>
          <a:bodyPr wrap="square" lIns="0" tIns="0" rIns="0" bIns="0" rtlCol="0" anchor="ctr"/>
          <a:lstStyle/>
          <a:p>
            <a:pPr marL="0" indent="0">
              <a:buNone/>
            </a:pPr>
            <a:r>
              <a:rPr lang="en-US" sz="1000" i="1" dirty="0">
                <a:solidFill>
                  <a:srgbClr val="A9B8D4"/>
                </a:solidFill>
                <a:latin typeface="Calibri" pitchFamily="34" charset="0"/>
                <a:ea typeface="Calibri" pitchFamily="34" charset="-122"/>
                <a:cs typeface="Calibri" pitchFamily="34" charset="-120"/>
              </a:rPr>
              <a:t>4,269 application</a:t>
            </a:r>
            <a:endParaRPr lang="en-US" sz="1000" dirty="0"/>
          </a:p>
        </p:txBody>
      </p:sp>
      <p:sp>
        <p:nvSpPr>
          <p:cNvPr id="21" name="Shape 18"/>
          <p:cNvSpPr/>
          <p:nvPr/>
        </p:nvSpPr>
        <p:spPr>
          <a:xfrm>
            <a:off x="822960" y="3703320"/>
            <a:ext cx="3200400" cy="0"/>
          </a:xfrm>
          <a:prstGeom prst="line">
            <a:avLst/>
          </a:prstGeom>
          <a:noFill/>
          <a:ln w="9525">
            <a:solidFill>
              <a:srgbClr val="1A3A7A"/>
            </a:solidFill>
            <a:prstDash val="solid"/>
          </a:ln>
        </p:spPr>
        <p:txBody>
          <a:bodyPr/>
          <a:lstStyle/>
          <a:p>
            <a:endParaRPr lang="en-US"/>
          </a:p>
        </p:txBody>
      </p:sp>
      <p:sp>
        <p:nvSpPr>
          <p:cNvPr id="22" name="Text 19"/>
          <p:cNvSpPr/>
          <p:nvPr/>
        </p:nvSpPr>
        <p:spPr>
          <a:xfrm>
            <a:off x="777240" y="3794760"/>
            <a:ext cx="1188720" cy="914400"/>
          </a:xfrm>
          <a:prstGeom prst="rect">
            <a:avLst/>
          </a:prstGeom>
          <a:noFill/>
          <a:ln/>
        </p:spPr>
        <p:txBody>
          <a:bodyPr wrap="square" lIns="0" tIns="0" rIns="0" bIns="0" rtlCol="0" anchor="ctr"/>
          <a:lstStyle/>
          <a:p>
            <a:pPr marL="0" indent="0">
              <a:buNone/>
            </a:pPr>
            <a:r>
              <a:rPr lang="en-US" sz="4800" b="1" dirty="0">
                <a:solidFill>
                  <a:srgbClr val="C8102E"/>
                </a:solidFill>
                <a:latin typeface="Georgia" pitchFamily="34" charset="0"/>
                <a:ea typeface="Georgia" pitchFamily="34" charset="-122"/>
                <a:cs typeface="Georgia" pitchFamily="34" charset="-120"/>
              </a:rPr>
              <a:t>#</a:t>
            </a:r>
            <a:endParaRPr lang="en-US" sz="4800" dirty="0"/>
          </a:p>
        </p:txBody>
      </p:sp>
      <p:sp>
        <p:nvSpPr>
          <p:cNvPr id="23" name="Text 20"/>
          <p:cNvSpPr/>
          <p:nvPr/>
        </p:nvSpPr>
        <p:spPr>
          <a:xfrm>
            <a:off x="1965960" y="3886200"/>
            <a:ext cx="219456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features</a:t>
            </a:r>
            <a:endParaRPr lang="en-US" sz="1500" dirty="0"/>
          </a:p>
        </p:txBody>
      </p:sp>
      <p:sp>
        <p:nvSpPr>
          <p:cNvPr id="24" name="Text 21"/>
          <p:cNvSpPr/>
          <p:nvPr/>
        </p:nvSpPr>
        <p:spPr>
          <a:xfrm>
            <a:off x="1965960" y="4297680"/>
            <a:ext cx="2194560" cy="411480"/>
          </a:xfrm>
          <a:prstGeom prst="rect">
            <a:avLst/>
          </a:prstGeom>
          <a:noFill/>
          <a:ln/>
        </p:spPr>
        <p:txBody>
          <a:bodyPr wrap="square" lIns="0" tIns="0" rIns="0" bIns="0" rtlCol="0" anchor="ctr"/>
          <a:lstStyle/>
          <a:p>
            <a:pPr marL="0" indent="0">
              <a:buNone/>
            </a:pPr>
            <a:r>
              <a:rPr lang="en-US" sz="1000" i="1" dirty="0">
                <a:solidFill>
                  <a:srgbClr val="A9B8D4"/>
                </a:solidFill>
                <a:latin typeface="Calibri" pitchFamily="34" charset="0"/>
                <a:ea typeface="Calibri" pitchFamily="34" charset="-122"/>
                <a:cs typeface="Calibri" pitchFamily="34" charset="-120"/>
              </a:rPr>
              <a:t>13</a:t>
            </a:r>
            <a:endParaRPr lang="en-US" sz="1000" dirty="0"/>
          </a:p>
        </p:txBody>
      </p:sp>
      <p:sp>
        <p:nvSpPr>
          <p:cNvPr id="25" name="Shape 22"/>
          <p:cNvSpPr/>
          <p:nvPr/>
        </p:nvSpPr>
        <p:spPr>
          <a:xfrm>
            <a:off x="822960" y="4892040"/>
            <a:ext cx="3200400" cy="0"/>
          </a:xfrm>
          <a:prstGeom prst="line">
            <a:avLst/>
          </a:prstGeom>
          <a:noFill/>
          <a:ln w="9525">
            <a:solidFill>
              <a:srgbClr val="1A3A7A"/>
            </a:solidFill>
            <a:prstDash val="solid"/>
          </a:ln>
        </p:spPr>
        <p:txBody>
          <a:bodyPr/>
          <a:lstStyle/>
          <a:p>
            <a:endParaRPr lang="en-US"/>
          </a:p>
        </p:txBody>
      </p:sp>
      <p:sp>
        <p:nvSpPr>
          <p:cNvPr id="26" name="Text 23"/>
          <p:cNvSpPr/>
          <p:nvPr/>
        </p:nvSpPr>
        <p:spPr>
          <a:xfrm>
            <a:off x="777240" y="4983480"/>
            <a:ext cx="1188720" cy="914400"/>
          </a:xfrm>
          <a:prstGeom prst="rect">
            <a:avLst/>
          </a:prstGeom>
          <a:noFill/>
          <a:ln/>
        </p:spPr>
        <p:txBody>
          <a:bodyPr wrap="square" lIns="0" tIns="0" rIns="0" bIns="0" rtlCol="0" anchor="ctr"/>
          <a:lstStyle/>
          <a:p>
            <a:pPr marL="0" indent="0">
              <a:buNone/>
            </a:pPr>
            <a:r>
              <a:rPr lang="en-US" sz="4800" b="1" dirty="0">
                <a:solidFill>
                  <a:srgbClr val="C8102E"/>
                </a:solidFill>
                <a:latin typeface="Georgia" pitchFamily="34" charset="0"/>
                <a:ea typeface="Georgia" pitchFamily="34" charset="-122"/>
                <a:cs typeface="Georgia" pitchFamily="34" charset="-120"/>
              </a:rPr>
              <a:t>—</a:t>
            </a:r>
            <a:endParaRPr lang="en-US" sz="4800" dirty="0"/>
          </a:p>
        </p:txBody>
      </p:sp>
      <p:sp>
        <p:nvSpPr>
          <p:cNvPr id="27" name="Text 24"/>
          <p:cNvSpPr/>
          <p:nvPr/>
        </p:nvSpPr>
        <p:spPr>
          <a:xfrm>
            <a:off x="1965960" y="5074920"/>
            <a:ext cx="219456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target type</a:t>
            </a:r>
            <a:endParaRPr lang="en-US" sz="1500" dirty="0"/>
          </a:p>
        </p:txBody>
      </p:sp>
      <p:sp>
        <p:nvSpPr>
          <p:cNvPr id="28" name="Text 25"/>
          <p:cNvSpPr/>
          <p:nvPr/>
        </p:nvSpPr>
        <p:spPr>
          <a:xfrm>
            <a:off x="1965960" y="5486400"/>
            <a:ext cx="2194560" cy="411480"/>
          </a:xfrm>
          <a:prstGeom prst="rect">
            <a:avLst/>
          </a:prstGeom>
          <a:noFill/>
          <a:ln/>
        </p:spPr>
        <p:txBody>
          <a:bodyPr wrap="square" lIns="0" tIns="0" rIns="0" bIns="0" rtlCol="0" anchor="ctr"/>
          <a:lstStyle/>
          <a:p>
            <a:pPr marL="0" indent="0">
              <a:buNone/>
            </a:pPr>
            <a:r>
              <a:rPr lang="en-US" sz="1000" i="1" dirty="0">
                <a:solidFill>
                  <a:srgbClr val="A9B8D4"/>
                </a:solidFill>
                <a:latin typeface="Calibri" pitchFamily="34" charset="0"/>
                <a:ea typeface="Calibri" pitchFamily="34" charset="-122"/>
                <a:cs typeface="Calibri" pitchFamily="34" charset="-120"/>
              </a:rPr>
              <a:t>Classification</a:t>
            </a:r>
            <a:endParaRPr lang="en-US" sz="1000" dirty="0"/>
          </a:p>
        </p:txBody>
      </p:sp>
      <p:sp>
        <p:nvSpPr>
          <p:cNvPr id="29" name="Shape 26"/>
          <p:cNvSpPr/>
          <p:nvPr/>
        </p:nvSpPr>
        <p:spPr>
          <a:xfrm>
            <a:off x="4663440" y="1828800"/>
            <a:ext cx="7040880" cy="1325880"/>
          </a:xfrm>
          <a:prstGeom prst="rect">
            <a:avLst/>
          </a:prstGeom>
          <a:solidFill>
            <a:srgbClr val="F7F8FB"/>
          </a:solidFill>
          <a:ln w="9525">
            <a:solidFill>
              <a:srgbClr val="E5E7EB"/>
            </a:solidFill>
            <a:prstDash val="solid"/>
          </a:ln>
        </p:spPr>
        <p:txBody>
          <a:bodyPr/>
          <a:lstStyle/>
          <a:p>
            <a:endParaRPr lang="en-US"/>
          </a:p>
        </p:txBody>
      </p:sp>
      <p:sp>
        <p:nvSpPr>
          <p:cNvPr id="30" name="Shape 27"/>
          <p:cNvSpPr/>
          <p:nvPr/>
        </p:nvSpPr>
        <p:spPr>
          <a:xfrm>
            <a:off x="4663440" y="1828800"/>
            <a:ext cx="91440" cy="1325880"/>
          </a:xfrm>
          <a:prstGeom prst="rect">
            <a:avLst/>
          </a:prstGeom>
          <a:solidFill>
            <a:srgbClr val="001F5B"/>
          </a:solidFill>
          <a:ln w="12700">
            <a:solidFill>
              <a:srgbClr val="001F5B"/>
            </a:solidFill>
            <a:prstDash val="solid"/>
          </a:ln>
        </p:spPr>
        <p:txBody>
          <a:bodyPr/>
          <a:lstStyle/>
          <a:p>
            <a:endParaRPr lang="en-US"/>
          </a:p>
        </p:txBody>
      </p:sp>
      <p:sp>
        <p:nvSpPr>
          <p:cNvPr id="31" name="Shape 28"/>
          <p:cNvSpPr/>
          <p:nvPr/>
        </p:nvSpPr>
        <p:spPr>
          <a:xfrm>
            <a:off x="4983480" y="2148840"/>
            <a:ext cx="685800" cy="685800"/>
          </a:xfrm>
          <a:prstGeom prst="ellipse">
            <a:avLst/>
          </a:prstGeom>
          <a:solidFill>
            <a:srgbClr val="FFFFFF"/>
          </a:solidFill>
          <a:ln w="19050">
            <a:solidFill>
              <a:srgbClr val="001F5B"/>
            </a:solidFill>
            <a:prstDash val="solid"/>
          </a:ln>
        </p:spPr>
        <p:txBody>
          <a:bodyPr/>
          <a:lstStyle/>
          <a:p>
            <a:endParaRPr lang="en-US"/>
          </a:p>
        </p:txBody>
      </p:sp>
      <p:pic>
        <p:nvPicPr>
          <p:cNvPr id="32" name="Image 1" descr="preencoded.png"/>
          <p:cNvPicPr>
            <a:picLocks noChangeAspect="1"/>
          </p:cNvPicPr>
          <p:nvPr/>
        </p:nvPicPr>
        <p:blipFill>
          <a:blip r:embed="rId4"/>
          <a:stretch>
            <a:fillRect/>
          </a:stretch>
        </p:blipFill>
        <p:spPr>
          <a:xfrm>
            <a:off x="5148072" y="2313432"/>
            <a:ext cx="356616" cy="356616"/>
          </a:xfrm>
          <a:prstGeom prst="rect">
            <a:avLst/>
          </a:prstGeom>
        </p:spPr>
      </p:pic>
      <p:sp>
        <p:nvSpPr>
          <p:cNvPr id="33" name="Text 29"/>
          <p:cNvSpPr/>
          <p:nvPr/>
        </p:nvSpPr>
        <p:spPr>
          <a:xfrm>
            <a:off x="5852160" y="2011680"/>
            <a:ext cx="5669280" cy="411480"/>
          </a:xfrm>
          <a:prstGeom prst="rect">
            <a:avLst/>
          </a:prstGeom>
          <a:noFill/>
          <a:ln/>
        </p:spPr>
        <p:txBody>
          <a:bodyPr wrap="square" lIns="0" tIns="0" rIns="0" bIns="0" rtlCol="0" anchor="ctr"/>
          <a:lstStyle/>
          <a:p>
            <a:pPr marL="0" indent="0">
              <a:buNone/>
            </a:pPr>
            <a:r>
              <a:rPr lang="en-US" sz="1700" b="1" dirty="0">
                <a:solidFill>
                  <a:srgbClr val="001F5B"/>
                </a:solidFill>
                <a:latin typeface="Calibri" pitchFamily="34" charset="0"/>
                <a:ea typeface="Calibri" pitchFamily="34" charset="-122"/>
                <a:cs typeface="Calibri" pitchFamily="34" charset="-120"/>
              </a:rPr>
              <a:t>Source &amp; Citation</a:t>
            </a:r>
            <a:endParaRPr lang="en-US" sz="1700" dirty="0"/>
          </a:p>
        </p:txBody>
      </p:sp>
      <p:sp>
        <p:nvSpPr>
          <p:cNvPr id="34" name="Text 30"/>
          <p:cNvSpPr/>
          <p:nvPr/>
        </p:nvSpPr>
        <p:spPr>
          <a:xfrm>
            <a:off x="5852160" y="2423160"/>
            <a:ext cx="5669280" cy="640080"/>
          </a:xfrm>
          <a:prstGeom prst="rect">
            <a:avLst/>
          </a:prstGeom>
          <a:noFill/>
          <a:ln/>
        </p:spPr>
        <p:txBody>
          <a:bodyPr wrap="square" lIns="0" tIns="0" rIns="0" bIns="0" rtlCol="0" anchor="t"/>
          <a:lstStyle/>
          <a:p>
            <a:r>
              <a:rPr lang="en-US" sz="1300" dirty="0">
                <a:solidFill>
                  <a:srgbClr val="1F2937"/>
                </a:solidFill>
                <a:latin typeface="Calibri" pitchFamily="34" charset="0"/>
                <a:ea typeface="Calibri" pitchFamily="34" charset="-122"/>
                <a:cs typeface="Calibri" pitchFamily="34" charset="-120"/>
              </a:rPr>
              <a:t>Sharma, A. (2023). </a:t>
            </a:r>
            <a:r>
              <a:rPr lang="en-US" sz="1300" i="1" dirty="0">
                <a:solidFill>
                  <a:srgbClr val="1F2937"/>
                </a:solidFill>
                <a:latin typeface="Calibri" pitchFamily="34" charset="0"/>
                <a:ea typeface="Calibri" pitchFamily="34" charset="-122"/>
                <a:cs typeface="Calibri" pitchFamily="34" charset="-120"/>
              </a:rPr>
              <a:t>Loan approval dataset. </a:t>
            </a:r>
            <a:r>
              <a:rPr lang="en-US" sz="1300" dirty="0">
                <a:solidFill>
                  <a:srgbClr val="1F2937"/>
                </a:solidFill>
                <a:latin typeface="Calibri" pitchFamily="34" charset="0"/>
                <a:ea typeface="Calibri" pitchFamily="34" charset="-122"/>
                <a:cs typeface="Calibri" pitchFamily="34" charset="-120"/>
              </a:rPr>
              <a:t>Kaggle. </a:t>
            </a:r>
            <a:r>
              <a:rPr lang="en-US" sz="1400" dirty="0">
                <a:hlinkClick r:id="rId5"/>
              </a:rPr>
              <a:t>Loan-Approval-Prediction-Dataset</a:t>
            </a:r>
            <a:endParaRPr lang="en-US" sz="1300" dirty="0"/>
          </a:p>
        </p:txBody>
      </p:sp>
      <p:sp>
        <p:nvSpPr>
          <p:cNvPr id="35" name="Shape 31"/>
          <p:cNvSpPr/>
          <p:nvPr/>
        </p:nvSpPr>
        <p:spPr>
          <a:xfrm>
            <a:off x="4663440" y="3337560"/>
            <a:ext cx="7040880" cy="1325880"/>
          </a:xfrm>
          <a:prstGeom prst="rect">
            <a:avLst/>
          </a:prstGeom>
          <a:solidFill>
            <a:srgbClr val="F7F8FB"/>
          </a:solidFill>
          <a:ln w="9525">
            <a:solidFill>
              <a:srgbClr val="E5E7EB"/>
            </a:solidFill>
            <a:prstDash val="solid"/>
          </a:ln>
        </p:spPr>
        <p:txBody>
          <a:bodyPr/>
          <a:lstStyle/>
          <a:p>
            <a:endParaRPr lang="en-US"/>
          </a:p>
        </p:txBody>
      </p:sp>
      <p:sp>
        <p:nvSpPr>
          <p:cNvPr id="36" name="Shape 32"/>
          <p:cNvSpPr/>
          <p:nvPr/>
        </p:nvSpPr>
        <p:spPr>
          <a:xfrm>
            <a:off x="4663440" y="3337560"/>
            <a:ext cx="91440" cy="1325880"/>
          </a:xfrm>
          <a:prstGeom prst="rect">
            <a:avLst/>
          </a:prstGeom>
          <a:solidFill>
            <a:srgbClr val="001F5B"/>
          </a:solidFill>
          <a:ln w="12700">
            <a:solidFill>
              <a:srgbClr val="001F5B"/>
            </a:solidFill>
            <a:prstDash val="solid"/>
          </a:ln>
        </p:spPr>
        <p:txBody>
          <a:bodyPr/>
          <a:lstStyle/>
          <a:p>
            <a:endParaRPr lang="en-US"/>
          </a:p>
        </p:txBody>
      </p:sp>
      <p:sp>
        <p:nvSpPr>
          <p:cNvPr id="37" name="Shape 33"/>
          <p:cNvSpPr/>
          <p:nvPr/>
        </p:nvSpPr>
        <p:spPr>
          <a:xfrm>
            <a:off x="4983480" y="3657600"/>
            <a:ext cx="685800" cy="685800"/>
          </a:xfrm>
          <a:prstGeom prst="ellipse">
            <a:avLst/>
          </a:prstGeom>
          <a:solidFill>
            <a:srgbClr val="FFFFFF"/>
          </a:solidFill>
          <a:ln w="19050">
            <a:solidFill>
              <a:srgbClr val="001F5B"/>
            </a:solidFill>
            <a:prstDash val="solid"/>
          </a:ln>
        </p:spPr>
        <p:txBody>
          <a:bodyPr/>
          <a:lstStyle/>
          <a:p>
            <a:endParaRPr lang="en-US"/>
          </a:p>
        </p:txBody>
      </p:sp>
      <p:pic>
        <p:nvPicPr>
          <p:cNvPr id="38" name="Image 2" descr="preencoded.png"/>
          <p:cNvPicPr>
            <a:picLocks noChangeAspect="1"/>
          </p:cNvPicPr>
          <p:nvPr/>
        </p:nvPicPr>
        <p:blipFill>
          <a:blip r:embed="rId6"/>
          <a:stretch>
            <a:fillRect/>
          </a:stretch>
        </p:blipFill>
        <p:spPr>
          <a:xfrm>
            <a:off x="5148072" y="3822192"/>
            <a:ext cx="356616" cy="356616"/>
          </a:xfrm>
          <a:prstGeom prst="rect">
            <a:avLst/>
          </a:prstGeom>
        </p:spPr>
      </p:pic>
      <p:sp>
        <p:nvSpPr>
          <p:cNvPr id="39" name="Text 34"/>
          <p:cNvSpPr/>
          <p:nvPr/>
        </p:nvSpPr>
        <p:spPr>
          <a:xfrm>
            <a:off x="5852160" y="3520440"/>
            <a:ext cx="5669280" cy="411480"/>
          </a:xfrm>
          <a:prstGeom prst="rect">
            <a:avLst/>
          </a:prstGeom>
          <a:noFill/>
          <a:ln/>
        </p:spPr>
        <p:txBody>
          <a:bodyPr wrap="square" lIns="0" tIns="0" rIns="0" bIns="0" rtlCol="0" anchor="ctr"/>
          <a:lstStyle/>
          <a:p>
            <a:pPr marL="0" indent="0">
              <a:buNone/>
            </a:pPr>
            <a:r>
              <a:rPr lang="en-US" sz="1700" b="1" dirty="0">
                <a:solidFill>
                  <a:srgbClr val="001F5B"/>
                </a:solidFill>
                <a:latin typeface="Calibri" pitchFamily="34" charset="0"/>
                <a:ea typeface="Calibri" pitchFamily="34" charset="-122"/>
                <a:cs typeface="Calibri" pitchFamily="34" charset="-120"/>
              </a:rPr>
              <a:t>Size &amp; Structure</a:t>
            </a:r>
            <a:endParaRPr lang="en-US" sz="1700" dirty="0"/>
          </a:p>
        </p:txBody>
      </p:sp>
      <p:sp>
        <p:nvSpPr>
          <p:cNvPr id="40" name="Text 35"/>
          <p:cNvSpPr/>
          <p:nvPr/>
        </p:nvSpPr>
        <p:spPr>
          <a:xfrm>
            <a:off x="5852160" y="3881586"/>
            <a:ext cx="5669280" cy="64008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Contains 4,269 rows representing loan applications, and 13 columns describing applicants financial and demographic information, with a mixture of numerical (annual income, loan amount, credit score) and categorical (education, loan status) variables. </a:t>
            </a:r>
            <a:endParaRPr lang="en-US" sz="1300" dirty="0"/>
          </a:p>
        </p:txBody>
      </p:sp>
      <p:sp>
        <p:nvSpPr>
          <p:cNvPr id="41" name="Shape 36"/>
          <p:cNvSpPr/>
          <p:nvPr/>
        </p:nvSpPr>
        <p:spPr>
          <a:xfrm>
            <a:off x="4663440" y="4846320"/>
            <a:ext cx="7040880" cy="1325880"/>
          </a:xfrm>
          <a:prstGeom prst="rect">
            <a:avLst/>
          </a:prstGeom>
          <a:solidFill>
            <a:srgbClr val="F7F8FB"/>
          </a:solidFill>
          <a:ln w="9525">
            <a:solidFill>
              <a:srgbClr val="E5E7EB"/>
            </a:solidFill>
            <a:prstDash val="solid"/>
          </a:ln>
        </p:spPr>
        <p:txBody>
          <a:bodyPr/>
          <a:lstStyle/>
          <a:p>
            <a:endParaRPr lang="en-US"/>
          </a:p>
        </p:txBody>
      </p:sp>
      <p:sp>
        <p:nvSpPr>
          <p:cNvPr id="42" name="Shape 37"/>
          <p:cNvSpPr/>
          <p:nvPr/>
        </p:nvSpPr>
        <p:spPr>
          <a:xfrm>
            <a:off x="4663440" y="4846320"/>
            <a:ext cx="91440" cy="1325880"/>
          </a:xfrm>
          <a:prstGeom prst="rect">
            <a:avLst/>
          </a:prstGeom>
          <a:solidFill>
            <a:srgbClr val="001F5B"/>
          </a:solidFill>
          <a:ln w="12700">
            <a:solidFill>
              <a:srgbClr val="001F5B"/>
            </a:solidFill>
            <a:prstDash val="solid"/>
          </a:ln>
        </p:spPr>
        <p:txBody>
          <a:bodyPr/>
          <a:lstStyle/>
          <a:p>
            <a:endParaRPr lang="en-US"/>
          </a:p>
        </p:txBody>
      </p:sp>
      <p:sp>
        <p:nvSpPr>
          <p:cNvPr id="43" name="Shape 38"/>
          <p:cNvSpPr/>
          <p:nvPr/>
        </p:nvSpPr>
        <p:spPr>
          <a:xfrm>
            <a:off x="4983480" y="5166360"/>
            <a:ext cx="685800" cy="685800"/>
          </a:xfrm>
          <a:prstGeom prst="ellipse">
            <a:avLst/>
          </a:prstGeom>
          <a:solidFill>
            <a:srgbClr val="FFFFFF"/>
          </a:solidFill>
          <a:ln w="19050">
            <a:solidFill>
              <a:srgbClr val="001F5B"/>
            </a:solidFill>
            <a:prstDash val="solid"/>
          </a:ln>
        </p:spPr>
        <p:txBody>
          <a:bodyPr/>
          <a:lstStyle/>
          <a:p>
            <a:endParaRPr lang="en-US"/>
          </a:p>
        </p:txBody>
      </p:sp>
      <p:pic>
        <p:nvPicPr>
          <p:cNvPr id="44" name="Image 3" descr="preencoded.png"/>
          <p:cNvPicPr>
            <a:picLocks noChangeAspect="1"/>
          </p:cNvPicPr>
          <p:nvPr/>
        </p:nvPicPr>
        <p:blipFill>
          <a:blip r:embed="rId7"/>
          <a:stretch>
            <a:fillRect/>
          </a:stretch>
        </p:blipFill>
        <p:spPr>
          <a:xfrm>
            <a:off x="5148072" y="5330952"/>
            <a:ext cx="356616" cy="356616"/>
          </a:xfrm>
          <a:prstGeom prst="rect">
            <a:avLst/>
          </a:prstGeom>
        </p:spPr>
      </p:pic>
      <p:sp>
        <p:nvSpPr>
          <p:cNvPr id="45" name="Text 39"/>
          <p:cNvSpPr/>
          <p:nvPr/>
        </p:nvSpPr>
        <p:spPr>
          <a:xfrm>
            <a:off x="5852160" y="5029200"/>
            <a:ext cx="5669280" cy="411480"/>
          </a:xfrm>
          <a:prstGeom prst="rect">
            <a:avLst/>
          </a:prstGeom>
          <a:noFill/>
          <a:ln/>
        </p:spPr>
        <p:txBody>
          <a:bodyPr wrap="square" lIns="0" tIns="0" rIns="0" bIns="0" rtlCol="0" anchor="ctr"/>
          <a:lstStyle/>
          <a:p>
            <a:pPr marL="0" indent="0">
              <a:buNone/>
            </a:pPr>
            <a:r>
              <a:rPr lang="en-US" sz="1700" b="1" dirty="0">
                <a:solidFill>
                  <a:srgbClr val="001F5B"/>
                </a:solidFill>
                <a:latin typeface="Calibri" pitchFamily="34" charset="0"/>
                <a:ea typeface="Calibri" pitchFamily="34" charset="-122"/>
                <a:cs typeface="Calibri" pitchFamily="34" charset="-120"/>
              </a:rPr>
              <a:t>Domain Relevance</a:t>
            </a:r>
            <a:endParaRPr lang="en-US" sz="1700" dirty="0"/>
          </a:p>
        </p:txBody>
      </p:sp>
      <p:sp>
        <p:nvSpPr>
          <p:cNvPr id="46" name="Text 40"/>
          <p:cNvSpPr/>
          <p:nvPr/>
        </p:nvSpPr>
        <p:spPr>
          <a:xfrm>
            <a:off x="5852160" y="5390346"/>
            <a:ext cx="5669280" cy="64008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This dataset contains features that are commonly used in lending decisions. Variables such as income, credit history and loan amount directly reflect the factors used to assess credit risk in real-world application. Limits to this dataset include simplification, potential bias in data, and class imbalance affecting predictions. </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01F5B"/>
          </a:solidFill>
          <a:ln w="12700">
            <a:solidFill>
              <a:srgbClr val="001F5B"/>
            </a:solidFill>
            <a:prstDash val="solid"/>
          </a:ln>
        </p:spPr>
        <p:txBody>
          <a:bodyPr/>
          <a:lstStyle/>
          <a:p>
            <a:endParaRPr lang="en-US"/>
          </a:p>
        </p:txBody>
      </p:sp>
      <p:sp>
        <p:nvSpPr>
          <p:cNvPr id="3" name="Shape 1"/>
          <p:cNvSpPr/>
          <p:nvPr/>
        </p:nvSpPr>
        <p:spPr>
          <a:xfrm>
            <a:off x="0" y="0"/>
            <a:ext cx="320040" cy="320040"/>
          </a:xfrm>
          <a:prstGeom prst="rect">
            <a:avLst/>
          </a:prstGeom>
          <a:solidFill>
            <a:srgbClr val="C8102E"/>
          </a:solidFill>
          <a:ln w="12700">
            <a:solidFill>
              <a:srgbClr val="C8102E"/>
            </a:solidFill>
            <a:prstDash val="solid"/>
          </a:ln>
        </p:spPr>
        <p:txBody>
          <a:bodyPr/>
          <a:lstStyle/>
          <a:p>
            <a:endParaRPr lang="en-US"/>
          </a:p>
        </p:txBody>
      </p:sp>
      <p:sp>
        <p:nvSpPr>
          <p:cNvPr id="4" name="Text 2"/>
          <p:cNvSpPr/>
          <p:nvPr/>
        </p:nvSpPr>
        <p:spPr>
          <a:xfrm>
            <a:off x="457200" y="0"/>
            <a:ext cx="2743200" cy="320040"/>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CATAWBA COLLEGE</a:t>
            </a:r>
            <a:endParaRPr lang="en-US" sz="900" dirty="0"/>
          </a:p>
        </p:txBody>
      </p:sp>
      <p:sp>
        <p:nvSpPr>
          <p:cNvPr id="5" name="Text 3"/>
          <p:cNvSpPr/>
          <p:nvPr/>
        </p:nvSpPr>
        <p:spPr>
          <a:xfrm>
            <a:off x="8076895" y="0"/>
            <a:ext cx="3657600" cy="320040"/>
          </a:xfrm>
          <a:prstGeom prst="rect">
            <a:avLst/>
          </a:prstGeom>
          <a:noFill/>
          <a:ln/>
        </p:spPr>
        <p:txBody>
          <a:bodyPr wrap="square" lIns="0" tIns="0" rIns="0" bIns="0"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03 · EXPLORATION</a:t>
            </a:r>
            <a:endParaRPr lang="en-US" sz="900" dirty="0"/>
          </a:p>
        </p:txBody>
      </p:sp>
      <p:sp>
        <p:nvSpPr>
          <p:cNvPr id="6" name="Shape 4"/>
          <p:cNvSpPr/>
          <p:nvPr/>
        </p:nvSpPr>
        <p:spPr>
          <a:xfrm>
            <a:off x="457200" y="6492240"/>
            <a:ext cx="11277295" cy="0"/>
          </a:xfrm>
          <a:prstGeom prst="line">
            <a:avLst/>
          </a:prstGeom>
          <a:noFill/>
          <a:ln w="9525">
            <a:solidFill>
              <a:srgbClr val="E5E7EB"/>
            </a:solidFill>
            <a:prstDash val="solid"/>
          </a:ln>
        </p:spPr>
        <p:txBody>
          <a:bodyPr/>
          <a:lstStyle/>
          <a:p>
            <a:endParaRPr lang="en-US"/>
          </a:p>
        </p:txBody>
      </p:sp>
      <p:sp>
        <p:nvSpPr>
          <p:cNvPr id="7" name="Text 5"/>
          <p:cNvSpPr/>
          <p:nvPr/>
        </p:nvSpPr>
        <p:spPr>
          <a:xfrm>
            <a:off x="457200" y="6537960"/>
            <a:ext cx="457200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Data Mining · Final Project</a:t>
            </a:r>
            <a:endParaRPr lang="en-US" sz="900" dirty="0"/>
          </a:p>
        </p:txBody>
      </p:sp>
      <p:sp>
        <p:nvSpPr>
          <p:cNvPr id="8" name="Text 6"/>
          <p:cNvSpPr/>
          <p:nvPr/>
        </p:nvSpPr>
        <p:spPr>
          <a:xfrm>
            <a:off x="10362895" y="6537960"/>
            <a:ext cx="13716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  /  10</a:t>
            </a:r>
            <a:endParaRPr lang="en-US" sz="900" dirty="0"/>
          </a:p>
        </p:txBody>
      </p:sp>
      <p:sp>
        <p:nvSpPr>
          <p:cNvPr id="9" name="Shape 7"/>
          <p:cNvSpPr/>
          <p:nvPr/>
        </p:nvSpPr>
        <p:spPr>
          <a:xfrm>
            <a:off x="11643055" y="6400800"/>
            <a:ext cx="228600" cy="36576"/>
          </a:xfrm>
          <a:prstGeom prst="rect">
            <a:avLst/>
          </a:prstGeom>
          <a:solidFill>
            <a:srgbClr val="C8102E"/>
          </a:solidFill>
          <a:ln w="12700">
            <a:solidFill>
              <a:srgbClr val="C8102E"/>
            </a:solidFill>
            <a:prstDash val="solid"/>
          </a:ln>
        </p:spPr>
        <p:txBody>
          <a:bodyPr/>
          <a:lstStyle/>
          <a:p>
            <a:endParaRPr lang="en-US"/>
          </a:p>
        </p:txBody>
      </p:sp>
      <p:sp>
        <p:nvSpPr>
          <p:cNvPr id="10" name="Shape 8"/>
          <p:cNvSpPr/>
          <p:nvPr/>
        </p:nvSpPr>
        <p:spPr>
          <a:xfrm>
            <a:off x="457200" y="685800"/>
            <a:ext cx="73152" cy="822960"/>
          </a:xfrm>
          <a:prstGeom prst="rect">
            <a:avLst/>
          </a:prstGeom>
          <a:solidFill>
            <a:srgbClr val="C8102E"/>
          </a:solidFill>
          <a:ln w="12700">
            <a:solidFill>
              <a:srgbClr val="C8102E"/>
            </a:solidFill>
            <a:prstDash val="solid"/>
          </a:ln>
        </p:spPr>
        <p:txBody>
          <a:bodyPr/>
          <a:lstStyle/>
          <a:p>
            <a:endParaRPr lang="en-US"/>
          </a:p>
        </p:txBody>
      </p:sp>
      <p:sp>
        <p:nvSpPr>
          <p:cNvPr id="11" name="Shape 9"/>
          <p:cNvSpPr/>
          <p:nvPr/>
        </p:nvSpPr>
        <p:spPr>
          <a:xfrm>
            <a:off x="731520" y="731520"/>
            <a:ext cx="731520" cy="731520"/>
          </a:xfrm>
          <a:prstGeom prst="ellipse">
            <a:avLst/>
          </a:prstGeom>
          <a:solidFill>
            <a:srgbClr val="001F5B"/>
          </a:solidFill>
          <a:ln w="12700">
            <a:solidFill>
              <a:srgbClr val="001F5B"/>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896112" y="896112"/>
            <a:ext cx="402336" cy="402336"/>
          </a:xfrm>
          <a:prstGeom prst="rect">
            <a:avLst/>
          </a:prstGeom>
        </p:spPr>
      </p:pic>
      <p:sp>
        <p:nvSpPr>
          <p:cNvPr id="13" name="Text 10"/>
          <p:cNvSpPr/>
          <p:nvPr/>
        </p:nvSpPr>
        <p:spPr>
          <a:xfrm>
            <a:off x="1645920" y="658368"/>
            <a:ext cx="9601200" cy="548640"/>
          </a:xfrm>
          <a:prstGeom prst="rect">
            <a:avLst/>
          </a:prstGeom>
          <a:noFill/>
          <a:ln/>
        </p:spPr>
        <p:txBody>
          <a:bodyPr wrap="square" lIns="0" tIns="0" rIns="0" bIns="0" rtlCol="0" anchor="ctr"/>
          <a:lstStyle/>
          <a:p>
            <a:pPr marL="0" indent="0">
              <a:buNone/>
            </a:pPr>
            <a:r>
              <a:rPr lang="en-US" sz="3000" b="1" dirty="0">
                <a:solidFill>
                  <a:srgbClr val="001F5B"/>
                </a:solidFill>
                <a:latin typeface="Georgia" pitchFamily="34" charset="0"/>
                <a:ea typeface="Georgia" pitchFamily="34" charset="-122"/>
                <a:cs typeface="Georgia" pitchFamily="34" charset="-120"/>
              </a:rPr>
              <a:t>Data Exploration &amp; Key Insights</a:t>
            </a:r>
            <a:endParaRPr lang="en-US" sz="3000" dirty="0"/>
          </a:p>
        </p:txBody>
      </p:sp>
      <p:sp>
        <p:nvSpPr>
          <p:cNvPr id="14" name="Text 11"/>
          <p:cNvSpPr/>
          <p:nvPr/>
        </p:nvSpPr>
        <p:spPr>
          <a:xfrm>
            <a:off x="1645920" y="1170432"/>
            <a:ext cx="960120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What the data reveals before any modeling happens</a:t>
            </a:r>
            <a:endParaRPr lang="en-US" sz="1200" dirty="0"/>
          </a:p>
        </p:txBody>
      </p:sp>
      <p:sp>
        <p:nvSpPr>
          <p:cNvPr id="15" name="Text 12"/>
          <p:cNvSpPr/>
          <p:nvPr/>
        </p:nvSpPr>
        <p:spPr>
          <a:xfrm>
            <a:off x="457200" y="1828800"/>
            <a:ext cx="4846320" cy="274320"/>
          </a:xfrm>
          <a:prstGeom prst="rect">
            <a:avLst/>
          </a:prstGeom>
          <a:noFill/>
          <a:ln/>
        </p:spPr>
        <p:txBody>
          <a:bodyPr wrap="square" lIns="0" tIns="0" rIns="0" bIns="0" rtlCol="0" anchor="ctr"/>
          <a:lstStyle/>
          <a:p>
            <a:pPr marL="0" indent="0">
              <a:buNone/>
            </a:pPr>
            <a:r>
              <a:rPr lang="en-US" sz="1100" b="1" kern="0" spc="400" dirty="0">
                <a:solidFill>
                  <a:srgbClr val="C8102E"/>
                </a:solidFill>
                <a:latin typeface="Calibri" pitchFamily="34" charset="0"/>
                <a:ea typeface="Calibri" pitchFamily="34" charset="-122"/>
                <a:cs typeface="Calibri" pitchFamily="34" charset="-120"/>
              </a:rPr>
              <a:t>WHAT TO COVER</a:t>
            </a:r>
            <a:endParaRPr lang="en-US" sz="1100" dirty="0"/>
          </a:p>
        </p:txBody>
      </p:sp>
      <p:pic>
        <p:nvPicPr>
          <p:cNvPr id="16" name="Image 1" descr="preencoded.png"/>
          <p:cNvPicPr>
            <a:picLocks noChangeAspect="1"/>
          </p:cNvPicPr>
          <p:nvPr/>
        </p:nvPicPr>
        <p:blipFill>
          <a:blip r:embed="rId4"/>
          <a:stretch>
            <a:fillRect/>
          </a:stretch>
        </p:blipFill>
        <p:spPr>
          <a:xfrm>
            <a:off x="457200" y="2331720"/>
            <a:ext cx="320040" cy="320040"/>
          </a:xfrm>
          <a:prstGeom prst="rect">
            <a:avLst/>
          </a:prstGeom>
        </p:spPr>
      </p:pic>
      <p:sp>
        <p:nvSpPr>
          <p:cNvPr id="17" name="Text 13"/>
          <p:cNvSpPr/>
          <p:nvPr/>
        </p:nvSpPr>
        <p:spPr>
          <a:xfrm>
            <a:off x="914400" y="2286000"/>
            <a:ext cx="4389120" cy="365760"/>
          </a:xfrm>
          <a:prstGeom prst="rect">
            <a:avLst/>
          </a:prstGeom>
          <a:noFill/>
          <a:ln/>
        </p:spPr>
        <p:txBody>
          <a:bodyPr wrap="square" lIns="0" tIns="0" rIns="0" bIns="0" rtlCol="0" anchor="ctr"/>
          <a:lstStyle/>
          <a:p>
            <a:pPr marL="0" indent="0">
              <a:buNone/>
            </a:pPr>
            <a:r>
              <a:rPr lang="en-US" sz="1600" b="1" dirty="0">
                <a:solidFill>
                  <a:srgbClr val="001F5B"/>
                </a:solidFill>
                <a:latin typeface="Calibri" pitchFamily="34" charset="0"/>
                <a:ea typeface="Calibri" pitchFamily="34" charset="-122"/>
                <a:cs typeface="Calibri" pitchFamily="34" charset="-120"/>
              </a:rPr>
              <a:t>Summary statistics</a:t>
            </a:r>
            <a:endParaRPr lang="en-US" sz="1600" dirty="0"/>
          </a:p>
        </p:txBody>
      </p:sp>
      <p:sp>
        <p:nvSpPr>
          <p:cNvPr id="18" name="Text 14"/>
          <p:cNvSpPr/>
          <p:nvPr/>
        </p:nvSpPr>
        <p:spPr>
          <a:xfrm>
            <a:off x="914400" y="2670048"/>
            <a:ext cx="4389120" cy="640080"/>
          </a:xfrm>
          <a:prstGeom prst="rect">
            <a:avLst/>
          </a:prstGeom>
          <a:noFill/>
          <a:ln/>
        </p:spPr>
        <p:txBody>
          <a:bodyPr wrap="square" lIns="0" tIns="0" rIns="0" bIns="0" rtlCol="0" anchor="ctr"/>
          <a:lstStyle/>
          <a:p>
            <a:pPr marL="285750" indent="-285750">
              <a:buFontTx/>
              <a:buChar char="-"/>
            </a:pPr>
            <a:r>
              <a:rPr lang="en-US" sz="1300" dirty="0">
                <a:solidFill>
                  <a:srgbClr val="1F2937"/>
                </a:solidFill>
                <a:latin typeface="Calibri" pitchFamily="34" charset="0"/>
                <a:ea typeface="Calibri" pitchFamily="34" charset="-122"/>
                <a:cs typeface="Calibri" pitchFamily="34" charset="-120"/>
              </a:rPr>
              <a:t>Class Balance: 2656 Approved (62.2%) and 1613 Rejected (37.8%)</a:t>
            </a:r>
          </a:p>
          <a:p>
            <a:pPr marL="285750" indent="-285750">
              <a:buFontTx/>
              <a:buChar char="-"/>
            </a:pPr>
            <a:r>
              <a:rPr lang="en-US" sz="1300" dirty="0">
                <a:solidFill>
                  <a:srgbClr val="1F2937"/>
                </a:solidFill>
                <a:latin typeface="Calibri" pitchFamily="34" charset="0"/>
                <a:ea typeface="Calibri" pitchFamily="34" charset="-122"/>
                <a:cs typeface="Calibri" pitchFamily="34" charset="-120"/>
              </a:rPr>
              <a:t>Credit Score: Mean (599.9) &amp; </a:t>
            </a:r>
            <a:r>
              <a:rPr lang="en-US" sz="1300" dirty="0" err="1">
                <a:solidFill>
                  <a:srgbClr val="1F2937"/>
                </a:solidFill>
                <a:latin typeface="Calibri" pitchFamily="34" charset="0"/>
                <a:ea typeface="Calibri" pitchFamily="34" charset="-122"/>
                <a:cs typeface="Calibri" pitchFamily="34" charset="-120"/>
              </a:rPr>
              <a:t>Stdv</a:t>
            </a:r>
            <a:r>
              <a:rPr lang="en-US" sz="1300" dirty="0">
                <a:solidFill>
                  <a:srgbClr val="1F2937"/>
                </a:solidFill>
                <a:latin typeface="Calibri" pitchFamily="34" charset="0"/>
                <a:ea typeface="Calibri" pitchFamily="34" charset="-122"/>
                <a:cs typeface="Calibri" pitchFamily="34" charset="-120"/>
              </a:rPr>
              <a:t> (172.4)</a:t>
            </a:r>
          </a:p>
          <a:p>
            <a:pPr marL="285750" indent="-285750">
              <a:buFontTx/>
              <a:buChar char="-"/>
            </a:pPr>
            <a:r>
              <a:rPr lang="en-US" sz="1300" dirty="0">
                <a:solidFill>
                  <a:srgbClr val="1F2937"/>
                </a:solidFill>
                <a:latin typeface="Calibri" pitchFamily="34" charset="0"/>
                <a:ea typeface="Calibri" pitchFamily="34" charset="-122"/>
                <a:cs typeface="Calibri" pitchFamily="34" charset="-120"/>
              </a:rPr>
              <a:t>Loan Term: Mean (10.9 years) &amp; </a:t>
            </a:r>
            <a:r>
              <a:rPr lang="en-US" sz="1300" dirty="0" err="1">
                <a:solidFill>
                  <a:srgbClr val="1F2937"/>
                </a:solidFill>
                <a:latin typeface="Calibri" pitchFamily="34" charset="0"/>
                <a:ea typeface="Calibri" pitchFamily="34" charset="-122"/>
                <a:cs typeface="Calibri" pitchFamily="34" charset="-120"/>
              </a:rPr>
              <a:t>Stdv</a:t>
            </a:r>
            <a:r>
              <a:rPr lang="en-US" sz="1300" dirty="0">
                <a:solidFill>
                  <a:srgbClr val="1F2937"/>
                </a:solidFill>
                <a:latin typeface="Calibri" pitchFamily="34" charset="0"/>
                <a:ea typeface="Calibri" pitchFamily="34" charset="-122"/>
                <a:cs typeface="Calibri" pitchFamily="34" charset="-120"/>
              </a:rPr>
              <a:t> (5.7 years)</a:t>
            </a:r>
            <a:endParaRPr lang="en-US" sz="1300" dirty="0"/>
          </a:p>
        </p:txBody>
      </p:sp>
      <p:pic>
        <p:nvPicPr>
          <p:cNvPr id="19" name="Image 2" descr="preencoded.png"/>
          <p:cNvPicPr>
            <a:picLocks noChangeAspect="1"/>
          </p:cNvPicPr>
          <p:nvPr/>
        </p:nvPicPr>
        <p:blipFill>
          <a:blip r:embed="rId4"/>
          <a:stretch>
            <a:fillRect/>
          </a:stretch>
        </p:blipFill>
        <p:spPr>
          <a:xfrm>
            <a:off x="457200" y="3474720"/>
            <a:ext cx="320040" cy="320040"/>
          </a:xfrm>
          <a:prstGeom prst="rect">
            <a:avLst/>
          </a:prstGeom>
        </p:spPr>
      </p:pic>
      <p:sp>
        <p:nvSpPr>
          <p:cNvPr id="20" name="Text 15"/>
          <p:cNvSpPr/>
          <p:nvPr/>
        </p:nvSpPr>
        <p:spPr>
          <a:xfrm>
            <a:off x="914400" y="3429000"/>
            <a:ext cx="4389120" cy="365760"/>
          </a:xfrm>
          <a:prstGeom prst="rect">
            <a:avLst/>
          </a:prstGeom>
          <a:noFill/>
          <a:ln/>
        </p:spPr>
        <p:txBody>
          <a:bodyPr wrap="square" lIns="0" tIns="0" rIns="0" bIns="0" rtlCol="0" anchor="ctr"/>
          <a:lstStyle/>
          <a:p>
            <a:pPr marL="0" indent="0">
              <a:buNone/>
            </a:pPr>
            <a:r>
              <a:rPr lang="en-US" sz="1600" b="1" dirty="0">
                <a:solidFill>
                  <a:srgbClr val="001F5B"/>
                </a:solidFill>
                <a:latin typeface="Calibri" pitchFamily="34" charset="0"/>
                <a:ea typeface="Calibri" pitchFamily="34" charset="-122"/>
                <a:cs typeface="Calibri" pitchFamily="34" charset="-120"/>
              </a:rPr>
              <a:t>Visuals</a:t>
            </a:r>
            <a:endParaRPr lang="en-US" sz="1600" dirty="0"/>
          </a:p>
        </p:txBody>
      </p:sp>
      <p:sp>
        <p:nvSpPr>
          <p:cNvPr id="21" name="Text 16"/>
          <p:cNvSpPr/>
          <p:nvPr/>
        </p:nvSpPr>
        <p:spPr>
          <a:xfrm>
            <a:off x="914400" y="3813048"/>
            <a:ext cx="4389120" cy="64008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Histograms, correlations, box plots, pair plots.</a:t>
            </a:r>
            <a:endParaRPr lang="en-US" sz="1300" dirty="0"/>
          </a:p>
        </p:txBody>
      </p:sp>
      <p:pic>
        <p:nvPicPr>
          <p:cNvPr id="22" name="Image 3" descr="preencoded.png"/>
          <p:cNvPicPr>
            <a:picLocks noChangeAspect="1"/>
          </p:cNvPicPr>
          <p:nvPr/>
        </p:nvPicPr>
        <p:blipFill>
          <a:blip r:embed="rId4"/>
          <a:stretch>
            <a:fillRect/>
          </a:stretch>
        </p:blipFill>
        <p:spPr>
          <a:xfrm>
            <a:off x="457200" y="4617720"/>
            <a:ext cx="320040" cy="320040"/>
          </a:xfrm>
          <a:prstGeom prst="rect">
            <a:avLst/>
          </a:prstGeom>
        </p:spPr>
      </p:pic>
      <p:sp>
        <p:nvSpPr>
          <p:cNvPr id="23" name="Text 17"/>
          <p:cNvSpPr/>
          <p:nvPr/>
        </p:nvSpPr>
        <p:spPr>
          <a:xfrm>
            <a:off x="914400" y="4572000"/>
            <a:ext cx="4389120" cy="365760"/>
          </a:xfrm>
          <a:prstGeom prst="rect">
            <a:avLst/>
          </a:prstGeom>
          <a:noFill/>
          <a:ln/>
        </p:spPr>
        <p:txBody>
          <a:bodyPr wrap="square" lIns="0" tIns="0" rIns="0" bIns="0" rtlCol="0" anchor="ctr"/>
          <a:lstStyle/>
          <a:p>
            <a:pPr marL="0" indent="0">
              <a:buNone/>
            </a:pPr>
            <a:r>
              <a:rPr lang="en-US" sz="1600" b="1" dirty="0">
                <a:solidFill>
                  <a:srgbClr val="001F5B"/>
                </a:solidFill>
                <a:latin typeface="Calibri" pitchFamily="34" charset="0"/>
                <a:ea typeface="Calibri" pitchFamily="34" charset="-122"/>
                <a:cs typeface="Calibri" pitchFamily="34" charset="-120"/>
              </a:rPr>
              <a:t>Notable trends &amp; outliers</a:t>
            </a:r>
            <a:endParaRPr lang="en-US" sz="1600" dirty="0"/>
          </a:p>
        </p:txBody>
      </p:sp>
      <p:sp>
        <p:nvSpPr>
          <p:cNvPr id="24" name="Text 18"/>
          <p:cNvSpPr/>
          <p:nvPr/>
        </p:nvSpPr>
        <p:spPr>
          <a:xfrm>
            <a:off x="914400" y="4803643"/>
            <a:ext cx="4389120" cy="640080"/>
          </a:xfrm>
          <a:prstGeom prst="rect">
            <a:avLst/>
          </a:prstGeom>
          <a:noFill/>
          <a:ln/>
        </p:spPr>
        <p:txBody>
          <a:bodyPr wrap="square" lIns="0" tIns="0" rIns="0" bIns="0" rtlCol="0" anchor="ctr"/>
          <a:lstStyle/>
          <a:p>
            <a:pPr marL="0" indent="0">
              <a:buNone/>
            </a:pPr>
            <a:r>
              <a:rPr lang="en-US" sz="1300" dirty="0"/>
              <a:t>- The “-1” that are found in the heatmap are due to the encoded variables. </a:t>
            </a:r>
          </a:p>
          <a:p>
            <a:pPr marL="0" indent="0">
              <a:buNone/>
            </a:pPr>
            <a:r>
              <a:rPr lang="en-US" sz="1300" dirty="0"/>
              <a:t>- Education has little relationship with loan status</a:t>
            </a:r>
          </a:p>
        </p:txBody>
      </p:sp>
      <p:sp>
        <p:nvSpPr>
          <p:cNvPr id="25" name="Shape 19"/>
          <p:cNvSpPr/>
          <p:nvPr/>
        </p:nvSpPr>
        <p:spPr>
          <a:xfrm>
            <a:off x="457200" y="5486400"/>
            <a:ext cx="4846320" cy="777240"/>
          </a:xfrm>
          <a:prstGeom prst="rect">
            <a:avLst/>
          </a:prstGeom>
          <a:solidFill>
            <a:srgbClr val="001F5B"/>
          </a:solidFill>
          <a:ln w="12700">
            <a:solidFill>
              <a:srgbClr val="001F5B"/>
            </a:solidFill>
            <a:prstDash val="solid"/>
          </a:ln>
        </p:spPr>
        <p:txBody>
          <a:bodyPr/>
          <a:lstStyle/>
          <a:p>
            <a:endParaRPr lang="en-US" dirty="0"/>
          </a:p>
        </p:txBody>
      </p:sp>
      <p:sp>
        <p:nvSpPr>
          <p:cNvPr id="26" name="Shape 20"/>
          <p:cNvSpPr/>
          <p:nvPr/>
        </p:nvSpPr>
        <p:spPr>
          <a:xfrm>
            <a:off x="457200" y="5486400"/>
            <a:ext cx="91440" cy="777240"/>
          </a:xfrm>
          <a:prstGeom prst="rect">
            <a:avLst/>
          </a:prstGeom>
          <a:solidFill>
            <a:srgbClr val="C8102E"/>
          </a:solidFill>
          <a:ln w="12700">
            <a:solidFill>
              <a:srgbClr val="C8102E"/>
            </a:solidFill>
            <a:prstDash val="solid"/>
          </a:ln>
        </p:spPr>
        <p:txBody>
          <a:bodyPr/>
          <a:lstStyle/>
          <a:p>
            <a:endParaRPr lang="en-US"/>
          </a:p>
        </p:txBody>
      </p:sp>
      <p:sp>
        <p:nvSpPr>
          <p:cNvPr id="27" name="Text 21"/>
          <p:cNvSpPr/>
          <p:nvPr/>
        </p:nvSpPr>
        <p:spPr>
          <a:xfrm>
            <a:off x="685800" y="5559552"/>
            <a:ext cx="4572000" cy="274320"/>
          </a:xfrm>
          <a:prstGeom prst="rect">
            <a:avLst/>
          </a:prstGeom>
          <a:noFill/>
          <a:ln/>
        </p:spPr>
        <p:txBody>
          <a:bodyPr wrap="square" lIns="0" tIns="0" rIns="0" bIns="0" rtlCol="0" anchor="ctr"/>
          <a:lstStyle/>
          <a:p>
            <a:pPr marL="0" indent="0">
              <a:buNone/>
            </a:pPr>
            <a:r>
              <a:rPr lang="en-US" sz="1000" b="1" kern="0" spc="300" dirty="0">
                <a:solidFill>
                  <a:srgbClr val="A9B8D4"/>
                </a:solidFill>
                <a:latin typeface="Calibri" pitchFamily="34" charset="0"/>
                <a:ea typeface="Calibri" pitchFamily="34" charset="-122"/>
                <a:cs typeface="Calibri" pitchFamily="34" charset="-120"/>
              </a:rPr>
              <a:t>Important Note:</a:t>
            </a:r>
            <a:endParaRPr lang="en-US" sz="1000" dirty="0"/>
          </a:p>
        </p:txBody>
      </p:sp>
      <p:sp>
        <p:nvSpPr>
          <p:cNvPr id="28" name="Text 22"/>
          <p:cNvSpPr/>
          <p:nvPr/>
        </p:nvSpPr>
        <p:spPr>
          <a:xfrm>
            <a:off x="685800" y="5815584"/>
            <a:ext cx="4572000" cy="457200"/>
          </a:xfrm>
          <a:prstGeom prst="rect">
            <a:avLst/>
          </a:prstGeom>
          <a:noFill/>
          <a:ln/>
        </p:spPr>
        <p:txBody>
          <a:bodyPr wrap="square" lIns="0" tIns="0" rIns="0" bIns="0" rtlCol="0" anchor="ctr"/>
          <a:lstStyle/>
          <a:p>
            <a:pPr marL="0" indent="0">
              <a:buNone/>
            </a:pPr>
            <a:endParaRPr lang="en-US" sz="1200" dirty="0"/>
          </a:p>
        </p:txBody>
      </p:sp>
      <p:sp>
        <p:nvSpPr>
          <p:cNvPr id="30" name="Shape 24"/>
          <p:cNvSpPr/>
          <p:nvPr/>
        </p:nvSpPr>
        <p:spPr>
          <a:xfrm>
            <a:off x="5669280" y="1828800"/>
            <a:ext cx="914400" cy="91440"/>
          </a:xfrm>
          <a:prstGeom prst="rect">
            <a:avLst/>
          </a:prstGeom>
          <a:solidFill>
            <a:srgbClr val="C8102E"/>
          </a:solidFill>
          <a:ln w="12700">
            <a:solidFill>
              <a:srgbClr val="C8102E"/>
            </a:solidFill>
            <a:prstDash val="solid"/>
          </a:ln>
        </p:spPr>
        <p:txBody>
          <a:bodyPr/>
          <a:lstStyle/>
          <a:p>
            <a:endParaRPr lang="en-US"/>
          </a:p>
        </p:txBody>
      </p:sp>
      <p:pic>
        <p:nvPicPr>
          <p:cNvPr id="31" name="Image 4" descr="preencoded.png"/>
          <p:cNvPicPr>
            <a:picLocks noChangeAspect="1"/>
          </p:cNvPicPr>
          <p:nvPr/>
        </p:nvPicPr>
        <p:blipFill>
          <a:blip r:embed="rId5"/>
          <a:stretch>
            <a:fillRect/>
          </a:stretch>
        </p:blipFill>
        <p:spPr>
          <a:xfrm>
            <a:off x="8321040" y="3223260"/>
            <a:ext cx="731520" cy="731520"/>
          </a:xfrm>
          <a:prstGeom prst="rect">
            <a:avLst/>
          </a:prstGeom>
        </p:spPr>
      </p:pic>
      <p:sp>
        <p:nvSpPr>
          <p:cNvPr id="32" name="Text 25"/>
          <p:cNvSpPr/>
          <p:nvPr/>
        </p:nvSpPr>
        <p:spPr>
          <a:xfrm>
            <a:off x="5669280" y="4000500"/>
            <a:ext cx="6035040" cy="457200"/>
          </a:xfrm>
          <a:prstGeom prst="rect">
            <a:avLst/>
          </a:prstGeom>
          <a:noFill/>
          <a:ln/>
        </p:spPr>
        <p:txBody>
          <a:bodyPr wrap="square" lIns="0" tIns="0" rIns="0" bIns="0" rtlCol="0" anchor="ctr"/>
          <a:lstStyle/>
          <a:p>
            <a:pPr marL="0" indent="0" algn="ctr">
              <a:buNone/>
            </a:pPr>
            <a:r>
              <a:rPr lang="en-US" sz="1500" b="1" dirty="0">
                <a:solidFill>
                  <a:srgbClr val="001F5B"/>
                </a:solidFill>
                <a:latin typeface="Calibri" pitchFamily="34" charset="0"/>
                <a:ea typeface="Calibri" pitchFamily="34" charset="-122"/>
                <a:cs typeface="Calibri" pitchFamily="34" charset="-120"/>
              </a:rPr>
              <a:t>[ Paste your EDA visualization here ]</a:t>
            </a:r>
            <a:endParaRPr lang="en-US" sz="1500" dirty="0"/>
          </a:p>
        </p:txBody>
      </p:sp>
      <p:sp>
        <p:nvSpPr>
          <p:cNvPr id="33" name="Text 26"/>
          <p:cNvSpPr/>
          <p:nvPr/>
        </p:nvSpPr>
        <p:spPr>
          <a:xfrm>
            <a:off x="5669280" y="4411980"/>
            <a:ext cx="6035040" cy="365760"/>
          </a:xfrm>
          <a:prstGeom prst="rect">
            <a:avLst/>
          </a:prstGeom>
          <a:noFill/>
          <a:ln/>
        </p:spPr>
        <p:txBody>
          <a:bodyPr wrap="square" lIns="0" tIns="0" rIns="0" bIns="0"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Histogram · Correlation heatmap · Scatter · etc.</a:t>
            </a:r>
            <a:endParaRPr lang="en-US" sz="1200" dirty="0"/>
          </a:p>
        </p:txBody>
      </p:sp>
      <p:pic>
        <p:nvPicPr>
          <p:cNvPr id="42" name="Picture 41">
            <a:extLst>
              <a:ext uri="{FF2B5EF4-FFF2-40B4-BE49-F238E27FC236}">
                <a16:creationId xmlns:a16="http://schemas.microsoft.com/office/drawing/2014/main" id="{842BC207-1355-6865-2382-014DB4C1E8C0}"/>
              </a:ext>
            </a:extLst>
          </p:cNvPr>
          <p:cNvPicPr>
            <a:picLocks noChangeAspect="1"/>
          </p:cNvPicPr>
          <p:nvPr/>
        </p:nvPicPr>
        <p:blipFill>
          <a:blip r:embed="rId6"/>
          <a:stretch>
            <a:fillRect/>
          </a:stretch>
        </p:blipFill>
        <p:spPr>
          <a:xfrm>
            <a:off x="5481712" y="1561338"/>
            <a:ext cx="6222608" cy="4849320"/>
          </a:xfrm>
          <a:prstGeom prst="rect">
            <a:avLst/>
          </a:prstGeom>
        </p:spPr>
      </p:pic>
      <p:sp>
        <p:nvSpPr>
          <p:cNvPr id="43" name="TextBox 42">
            <a:extLst>
              <a:ext uri="{FF2B5EF4-FFF2-40B4-BE49-F238E27FC236}">
                <a16:creationId xmlns:a16="http://schemas.microsoft.com/office/drawing/2014/main" id="{77EA8D2B-26C3-E77C-CFF5-BE375052C6AA}"/>
              </a:ext>
            </a:extLst>
          </p:cNvPr>
          <p:cNvSpPr txBox="1"/>
          <p:nvPr/>
        </p:nvSpPr>
        <p:spPr>
          <a:xfrm>
            <a:off x="632011" y="5731675"/>
            <a:ext cx="4567312" cy="461665"/>
          </a:xfrm>
          <a:prstGeom prst="rect">
            <a:avLst/>
          </a:prstGeom>
          <a:noFill/>
        </p:spPr>
        <p:txBody>
          <a:bodyPr wrap="square" rtlCol="0">
            <a:spAutoFit/>
          </a:bodyPr>
          <a:lstStyle/>
          <a:p>
            <a:r>
              <a:rPr lang="en-US" sz="1200" dirty="0">
                <a:solidFill>
                  <a:schemeClr val="bg1"/>
                </a:solidFill>
              </a:rPr>
              <a:t>- Categorical versions of these encoded variables will be dropped, as well as variables with little/no relationship.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01F5B"/>
          </a:solidFill>
          <a:ln w="12700">
            <a:solidFill>
              <a:srgbClr val="001F5B"/>
            </a:solidFill>
            <a:prstDash val="solid"/>
          </a:ln>
        </p:spPr>
        <p:txBody>
          <a:bodyPr/>
          <a:lstStyle/>
          <a:p>
            <a:endParaRPr lang="en-US"/>
          </a:p>
        </p:txBody>
      </p:sp>
      <p:sp>
        <p:nvSpPr>
          <p:cNvPr id="3" name="Shape 1"/>
          <p:cNvSpPr/>
          <p:nvPr/>
        </p:nvSpPr>
        <p:spPr>
          <a:xfrm>
            <a:off x="0" y="0"/>
            <a:ext cx="320040" cy="320040"/>
          </a:xfrm>
          <a:prstGeom prst="rect">
            <a:avLst/>
          </a:prstGeom>
          <a:solidFill>
            <a:srgbClr val="C8102E"/>
          </a:solidFill>
          <a:ln w="12700">
            <a:solidFill>
              <a:srgbClr val="C8102E"/>
            </a:solidFill>
            <a:prstDash val="solid"/>
          </a:ln>
        </p:spPr>
        <p:txBody>
          <a:bodyPr/>
          <a:lstStyle/>
          <a:p>
            <a:endParaRPr lang="en-US"/>
          </a:p>
        </p:txBody>
      </p:sp>
      <p:sp>
        <p:nvSpPr>
          <p:cNvPr id="4" name="Text 2"/>
          <p:cNvSpPr/>
          <p:nvPr/>
        </p:nvSpPr>
        <p:spPr>
          <a:xfrm>
            <a:off x="457200" y="0"/>
            <a:ext cx="2743200" cy="320040"/>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CATAWBA COLLEGE</a:t>
            </a:r>
            <a:endParaRPr lang="en-US" sz="900" dirty="0"/>
          </a:p>
        </p:txBody>
      </p:sp>
      <p:sp>
        <p:nvSpPr>
          <p:cNvPr id="5" name="Text 3"/>
          <p:cNvSpPr/>
          <p:nvPr/>
        </p:nvSpPr>
        <p:spPr>
          <a:xfrm>
            <a:off x="8076895" y="0"/>
            <a:ext cx="3657600" cy="320040"/>
          </a:xfrm>
          <a:prstGeom prst="rect">
            <a:avLst/>
          </a:prstGeom>
          <a:noFill/>
          <a:ln/>
        </p:spPr>
        <p:txBody>
          <a:bodyPr wrap="square" lIns="0" tIns="0" rIns="0" bIns="0"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04 · PREPARATION</a:t>
            </a:r>
            <a:endParaRPr lang="en-US" sz="900" dirty="0"/>
          </a:p>
        </p:txBody>
      </p:sp>
      <p:sp>
        <p:nvSpPr>
          <p:cNvPr id="6" name="Shape 4"/>
          <p:cNvSpPr/>
          <p:nvPr/>
        </p:nvSpPr>
        <p:spPr>
          <a:xfrm>
            <a:off x="457200" y="6492240"/>
            <a:ext cx="11277295" cy="0"/>
          </a:xfrm>
          <a:prstGeom prst="line">
            <a:avLst/>
          </a:prstGeom>
          <a:noFill/>
          <a:ln w="9525">
            <a:solidFill>
              <a:srgbClr val="E5E7EB"/>
            </a:solidFill>
            <a:prstDash val="solid"/>
          </a:ln>
        </p:spPr>
        <p:txBody>
          <a:bodyPr/>
          <a:lstStyle/>
          <a:p>
            <a:endParaRPr lang="en-US"/>
          </a:p>
        </p:txBody>
      </p:sp>
      <p:sp>
        <p:nvSpPr>
          <p:cNvPr id="7" name="Text 5"/>
          <p:cNvSpPr/>
          <p:nvPr/>
        </p:nvSpPr>
        <p:spPr>
          <a:xfrm>
            <a:off x="457200" y="6537960"/>
            <a:ext cx="457200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Data Mining · Final Project</a:t>
            </a:r>
            <a:endParaRPr lang="en-US" sz="900" dirty="0"/>
          </a:p>
        </p:txBody>
      </p:sp>
      <p:sp>
        <p:nvSpPr>
          <p:cNvPr id="8" name="Text 6"/>
          <p:cNvSpPr/>
          <p:nvPr/>
        </p:nvSpPr>
        <p:spPr>
          <a:xfrm>
            <a:off x="10362895" y="6537960"/>
            <a:ext cx="13716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  /  10</a:t>
            </a:r>
            <a:endParaRPr lang="en-US" sz="900" dirty="0"/>
          </a:p>
        </p:txBody>
      </p:sp>
      <p:sp>
        <p:nvSpPr>
          <p:cNvPr id="9" name="Shape 7"/>
          <p:cNvSpPr/>
          <p:nvPr/>
        </p:nvSpPr>
        <p:spPr>
          <a:xfrm>
            <a:off x="11643055" y="6400800"/>
            <a:ext cx="228600" cy="36576"/>
          </a:xfrm>
          <a:prstGeom prst="rect">
            <a:avLst/>
          </a:prstGeom>
          <a:solidFill>
            <a:srgbClr val="C8102E"/>
          </a:solidFill>
          <a:ln w="12700">
            <a:solidFill>
              <a:srgbClr val="C8102E"/>
            </a:solidFill>
            <a:prstDash val="solid"/>
          </a:ln>
        </p:spPr>
        <p:txBody>
          <a:bodyPr/>
          <a:lstStyle/>
          <a:p>
            <a:endParaRPr lang="en-US"/>
          </a:p>
        </p:txBody>
      </p:sp>
      <p:sp>
        <p:nvSpPr>
          <p:cNvPr id="10" name="Shape 8"/>
          <p:cNvSpPr/>
          <p:nvPr/>
        </p:nvSpPr>
        <p:spPr>
          <a:xfrm>
            <a:off x="457200" y="685800"/>
            <a:ext cx="73152" cy="822960"/>
          </a:xfrm>
          <a:prstGeom prst="rect">
            <a:avLst/>
          </a:prstGeom>
          <a:solidFill>
            <a:srgbClr val="C8102E"/>
          </a:solidFill>
          <a:ln w="12700">
            <a:solidFill>
              <a:srgbClr val="C8102E"/>
            </a:solidFill>
            <a:prstDash val="solid"/>
          </a:ln>
        </p:spPr>
        <p:txBody>
          <a:bodyPr/>
          <a:lstStyle/>
          <a:p>
            <a:endParaRPr lang="en-US"/>
          </a:p>
        </p:txBody>
      </p:sp>
      <p:sp>
        <p:nvSpPr>
          <p:cNvPr id="11" name="Shape 9"/>
          <p:cNvSpPr/>
          <p:nvPr/>
        </p:nvSpPr>
        <p:spPr>
          <a:xfrm>
            <a:off x="731520" y="731520"/>
            <a:ext cx="731520" cy="731520"/>
          </a:xfrm>
          <a:prstGeom prst="ellipse">
            <a:avLst/>
          </a:prstGeom>
          <a:solidFill>
            <a:srgbClr val="001F5B"/>
          </a:solidFill>
          <a:ln w="12700">
            <a:solidFill>
              <a:srgbClr val="001F5B"/>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896112" y="896112"/>
            <a:ext cx="402336" cy="402336"/>
          </a:xfrm>
          <a:prstGeom prst="rect">
            <a:avLst/>
          </a:prstGeom>
        </p:spPr>
      </p:pic>
      <p:sp>
        <p:nvSpPr>
          <p:cNvPr id="13" name="Text 10"/>
          <p:cNvSpPr/>
          <p:nvPr/>
        </p:nvSpPr>
        <p:spPr>
          <a:xfrm>
            <a:off x="1645920" y="658368"/>
            <a:ext cx="9601200" cy="548640"/>
          </a:xfrm>
          <a:prstGeom prst="rect">
            <a:avLst/>
          </a:prstGeom>
          <a:noFill/>
          <a:ln/>
        </p:spPr>
        <p:txBody>
          <a:bodyPr wrap="square" lIns="0" tIns="0" rIns="0" bIns="0" rtlCol="0" anchor="ctr"/>
          <a:lstStyle/>
          <a:p>
            <a:pPr marL="0" indent="0">
              <a:buNone/>
            </a:pPr>
            <a:r>
              <a:rPr lang="en-US" sz="3000" b="1" dirty="0">
                <a:solidFill>
                  <a:srgbClr val="001F5B"/>
                </a:solidFill>
                <a:latin typeface="Georgia" pitchFamily="34" charset="0"/>
                <a:ea typeface="Georgia" pitchFamily="34" charset="-122"/>
                <a:cs typeface="Georgia" pitchFamily="34" charset="-120"/>
              </a:rPr>
              <a:t>Data Cleaning &amp; Feature Engineering</a:t>
            </a:r>
            <a:endParaRPr lang="en-US" sz="3000" dirty="0"/>
          </a:p>
        </p:txBody>
      </p:sp>
      <p:sp>
        <p:nvSpPr>
          <p:cNvPr id="14" name="Text 11"/>
          <p:cNvSpPr/>
          <p:nvPr/>
        </p:nvSpPr>
        <p:spPr>
          <a:xfrm>
            <a:off x="1645920" y="1170432"/>
            <a:ext cx="960120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From raw dataframe to model-ready matrix</a:t>
            </a:r>
            <a:endParaRPr lang="en-US" sz="1200" dirty="0"/>
          </a:p>
        </p:txBody>
      </p:sp>
      <p:sp>
        <p:nvSpPr>
          <p:cNvPr id="15" name="Shape 12"/>
          <p:cNvSpPr/>
          <p:nvPr/>
        </p:nvSpPr>
        <p:spPr>
          <a:xfrm>
            <a:off x="457200" y="1920240"/>
            <a:ext cx="3703320" cy="4297680"/>
          </a:xfrm>
          <a:prstGeom prst="rect">
            <a:avLst/>
          </a:prstGeom>
          <a:solidFill>
            <a:srgbClr val="FFFFFF"/>
          </a:solidFill>
          <a:ln w="12700">
            <a:solidFill>
              <a:srgbClr val="E5E7EB"/>
            </a:solidFill>
            <a:prstDash val="solid"/>
          </a:ln>
          <a:effectLst>
            <a:outerShdw blurRad="127000" dist="38100" dir="5400000" algn="bl" rotWithShape="0">
              <a:srgbClr val="000000">
                <a:alpha val="10000"/>
              </a:srgbClr>
            </a:outerShdw>
          </a:effectLst>
        </p:spPr>
        <p:txBody>
          <a:bodyPr/>
          <a:lstStyle/>
          <a:p>
            <a:endParaRPr lang="en-US"/>
          </a:p>
        </p:txBody>
      </p:sp>
      <p:sp>
        <p:nvSpPr>
          <p:cNvPr id="16" name="Shape 13"/>
          <p:cNvSpPr/>
          <p:nvPr/>
        </p:nvSpPr>
        <p:spPr>
          <a:xfrm>
            <a:off x="457200" y="1920240"/>
            <a:ext cx="3703320" cy="960120"/>
          </a:xfrm>
          <a:prstGeom prst="rect">
            <a:avLst/>
          </a:prstGeom>
          <a:solidFill>
            <a:srgbClr val="001F5B"/>
          </a:solidFill>
          <a:ln w="12700">
            <a:solidFill>
              <a:srgbClr val="001F5B"/>
            </a:solidFill>
            <a:prstDash val="solid"/>
          </a:ln>
        </p:spPr>
        <p:txBody>
          <a:bodyPr/>
          <a:lstStyle/>
          <a:p>
            <a:endParaRPr lang="en-US"/>
          </a:p>
        </p:txBody>
      </p:sp>
      <p:sp>
        <p:nvSpPr>
          <p:cNvPr id="17" name="Text 14"/>
          <p:cNvSpPr/>
          <p:nvPr/>
        </p:nvSpPr>
        <p:spPr>
          <a:xfrm>
            <a:off x="731520" y="2029968"/>
            <a:ext cx="1097280" cy="731520"/>
          </a:xfrm>
          <a:prstGeom prst="rect">
            <a:avLst/>
          </a:prstGeom>
          <a:noFill/>
          <a:ln/>
        </p:spPr>
        <p:txBody>
          <a:bodyPr wrap="square" lIns="0" tIns="0" rIns="0" bIns="0" rtlCol="0" anchor="ctr"/>
          <a:lstStyle/>
          <a:p>
            <a:pPr marL="0" indent="0">
              <a:buNone/>
            </a:pPr>
            <a:r>
              <a:rPr lang="en-US" sz="4400" b="1" dirty="0">
                <a:solidFill>
                  <a:srgbClr val="C8102E"/>
                </a:solidFill>
                <a:latin typeface="Georgia" pitchFamily="34" charset="0"/>
                <a:ea typeface="Georgia" pitchFamily="34" charset="-122"/>
                <a:cs typeface="Georgia" pitchFamily="34" charset="-120"/>
              </a:rPr>
              <a:t>01</a:t>
            </a:r>
            <a:endParaRPr lang="en-US" sz="4400" dirty="0"/>
          </a:p>
        </p:txBody>
      </p:sp>
      <p:sp>
        <p:nvSpPr>
          <p:cNvPr id="18" name="Text 15"/>
          <p:cNvSpPr/>
          <p:nvPr/>
        </p:nvSpPr>
        <p:spPr>
          <a:xfrm>
            <a:off x="1828800" y="2029968"/>
            <a:ext cx="2148840" cy="7315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Handle Missing Data</a:t>
            </a:r>
            <a:endParaRPr lang="en-US" sz="1600" dirty="0"/>
          </a:p>
        </p:txBody>
      </p:sp>
      <p:sp>
        <p:nvSpPr>
          <p:cNvPr id="19" name="Text 16"/>
          <p:cNvSpPr/>
          <p:nvPr/>
        </p:nvSpPr>
        <p:spPr>
          <a:xfrm>
            <a:off x="731520" y="3108960"/>
            <a:ext cx="3154680" cy="1828800"/>
          </a:xfrm>
          <a:prstGeom prst="rect">
            <a:avLst/>
          </a:prstGeom>
          <a:noFill/>
          <a:ln/>
        </p:spPr>
        <p:txBody>
          <a:bodyPr wrap="square" lIns="0" tIns="0" rIns="0" bIns="0" rtlCol="0" anchor="t"/>
          <a:lstStyle/>
          <a:p>
            <a:pPr marL="0" indent="0">
              <a:buNone/>
            </a:pPr>
            <a:r>
              <a:rPr lang="en-US" sz="1300" dirty="0"/>
              <a:t>-There was no missing data, but several columns were dropped throughout the analysis. </a:t>
            </a:r>
          </a:p>
          <a:p>
            <a:pPr marL="285750" indent="-285750">
              <a:buFontTx/>
              <a:buChar char="-"/>
            </a:pPr>
            <a:r>
              <a:rPr lang="en-US" sz="1300" b="1" dirty="0" err="1"/>
              <a:t>loan_id</a:t>
            </a:r>
            <a:r>
              <a:rPr lang="en-US" sz="1300" b="1" dirty="0"/>
              <a:t> </a:t>
            </a:r>
            <a:r>
              <a:rPr lang="en-US" sz="1300" dirty="0">
                <a:sym typeface="Wingdings" panose="05000000000000000000" pitchFamily="2" charset="2"/>
              </a:rPr>
              <a:t> uniqueness </a:t>
            </a:r>
          </a:p>
          <a:p>
            <a:pPr marL="285750" indent="-285750">
              <a:buFontTx/>
              <a:buChar char="-"/>
            </a:pPr>
            <a:r>
              <a:rPr lang="en-US" sz="1300" b="1" dirty="0" err="1">
                <a:sym typeface="Wingdings" panose="05000000000000000000" pitchFamily="2" charset="2"/>
              </a:rPr>
              <a:t>self_employed</a:t>
            </a:r>
            <a:r>
              <a:rPr lang="en-US" sz="1300" b="1" dirty="0">
                <a:sym typeface="Wingdings" panose="05000000000000000000" pitchFamily="2" charset="2"/>
              </a:rPr>
              <a:t> </a:t>
            </a:r>
            <a:r>
              <a:rPr lang="en-US" sz="1300" dirty="0">
                <a:sym typeface="Wingdings" panose="05000000000000000000" pitchFamily="2" charset="2"/>
              </a:rPr>
              <a:t> lack of correlation</a:t>
            </a:r>
          </a:p>
          <a:p>
            <a:pPr marL="285750" indent="-285750">
              <a:buFontTx/>
              <a:buChar char="-"/>
            </a:pPr>
            <a:r>
              <a:rPr lang="en-US" sz="1300" b="1" dirty="0" err="1">
                <a:sym typeface="Wingdings" panose="05000000000000000000" pitchFamily="2" charset="2"/>
              </a:rPr>
              <a:t>no_of_dependents</a:t>
            </a:r>
            <a:r>
              <a:rPr lang="en-US" sz="1300" b="1" dirty="0">
                <a:sym typeface="Wingdings" panose="05000000000000000000" pitchFamily="2" charset="2"/>
              </a:rPr>
              <a:t> </a:t>
            </a:r>
            <a:r>
              <a:rPr lang="en-US" sz="1300" dirty="0">
                <a:sym typeface="Wingdings" panose="05000000000000000000" pitchFamily="2" charset="2"/>
              </a:rPr>
              <a:t> lack of correlation</a:t>
            </a:r>
          </a:p>
        </p:txBody>
      </p:sp>
      <p:sp>
        <p:nvSpPr>
          <p:cNvPr id="20" name="Text 17"/>
          <p:cNvSpPr/>
          <p:nvPr/>
        </p:nvSpPr>
        <p:spPr>
          <a:xfrm>
            <a:off x="731520" y="4937760"/>
            <a:ext cx="3154680" cy="228600"/>
          </a:xfrm>
          <a:prstGeom prst="rect">
            <a:avLst/>
          </a:prstGeom>
          <a:noFill/>
          <a:ln/>
        </p:spPr>
        <p:txBody>
          <a:bodyPr wrap="square" lIns="0" tIns="0" rIns="0" bIns="0" rtlCol="0" anchor="ctr"/>
          <a:lstStyle/>
          <a:p>
            <a:pPr marL="0" indent="0">
              <a:buNone/>
            </a:pPr>
            <a:r>
              <a:rPr lang="en-US" sz="900" b="1" kern="0" spc="300" dirty="0">
                <a:solidFill>
                  <a:srgbClr val="6B7280"/>
                </a:solidFill>
                <a:latin typeface="Calibri" pitchFamily="34" charset="0"/>
                <a:ea typeface="Calibri" pitchFamily="34" charset="-122"/>
                <a:cs typeface="Calibri" pitchFamily="34" charset="-120"/>
              </a:rPr>
              <a:t>COMMON TOOLS</a:t>
            </a:r>
            <a:endParaRPr lang="en-US" sz="900" dirty="0"/>
          </a:p>
        </p:txBody>
      </p:sp>
      <p:sp>
        <p:nvSpPr>
          <p:cNvPr id="21" name="Shape 18"/>
          <p:cNvSpPr/>
          <p:nvPr/>
        </p:nvSpPr>
        <p:spPr>
          <a:xfrm>
            <a:off x="731520" y="5212080"/>
            <a:ext cx="740664" cy="320040"/>
          </a:xfrm>
          <a:prstGeom prst="roundRect">
            <a:avLst>
              <a:gd name="adj" fmla="val 22857"/>
            </a:avLst>
          </a:prstGeom>
          <a:solidFill>
            <a:srgbClr val="F7F8FB"/>
          </a:solidFill>
          <a:ln w="9525">
            <a:solidFill>
              <a:srgbClr val="001F5B"/>
            </a:solidFill>
            <a:prstDash val="solid"/>
          </a:ln>
        </p:spPr>
        <p:txBody>
          <a:bodyPr/>
          <a:lstStyle/>
          <a:p>
            <a:endParaRPr lang="en-US"/>
          </a:p>
        </p:txBody>
      </p:sp>
      <p:sp>
        <p:nvSpPr>
          <p:cNvPr id="22" name="Text 19"/>
          <p:cNvSpPr/>
          <p:nvPr/>
        </p:nvSpPr>
        <p:spPr>
          <a:xfrm>
            <a:off x="731520" y="5212080"/>
            <a:ext cx="740664" cy="320040"/>
          </a:xfrm>
          <a:prstGeom prst="rect">
            <a:avLst/>
          </a:prstGeom>
          <a:noFill/>
          <a:ln/>
        </p:spPr>
        <p:txBody>
          <a:bodyPr wrap="square" lIns="0" tIns="0" rIns="0" bIns="0" rtlCol="0" anchor="ctr"/>
          <a:lstStyle/>
          <a:p>
            <a:pPr marL="0" indent="0" algn="ctr">
              <a:buNone/>
            </a:pPr>
            <a:r>
              <a:rPr lang="en-US" sz="1000" dirty="0">
                <a:solidFill>
                  <a:srgbClr val="001F5B"/>
                </a:solidFill>
                <a:latin typeface="Consolas" pitchFamily="34" charset="0"/>
                <a:ea typeface="Consolas" pitchFamily="34" charset="-122"/>
                <a:cs typeface="Consolas" pitchFamily="34" charset="-120"/>
              </a:rPr>
              <a:t>dropna</a:t>
            </a:r>
            <a:endParaRPr lang="en-US" sz="1000" dirty="0"/>
          </a:p>
        </p:txBody>
      </p:sp>
      <p:sp>
        <p:nvSpPr>
          <p:cNvPr id="23" name="Shape 20"/>
          <p:cNvSpPr/>
          <p:nvPr/>
        </p:nvSpPr>
        <p:spPr>
          <a:xfrm>
            <a:off x="1563624" y="5212080"/>
            <a:ext cx="740664" cy="320040"/>
          </a:xfrm>
          <a:prstGeom prst="roundRect">
            <a:avLst>
              <a:gd name="adj" fmla="val 22857"/>
            </a:avLst>
          </a:prstGeom>
          <a:solidFill>
            <a:srgbClr val="F7F8FB"/>
          </a:solidFill>
          <a:ln w="9525">
            <a:solidFill>
              <a:srgbClr val="001F5B"/>
            </a:solidFill>
            <a:prstDash val="solid"/>
          </a:ln>
        </p:spPr>
        <p:txBody>
          <a:bodyPr/>
          <a:lstStyle/>
          <a:p>
            <a:endParaRPr lang="en-US"/>
          </a:p>
        </p:txBody>
      </p:sp>
      <p:sp>
        <p:nvSpPr>
          <p:cNvPr id="24" name="Text 21"/>
          <p:cNvSpPr/>
          <p:nvPr/>
        </p:nvSpPr>
        <p:spPr>
          <a:xfrm>
            <a:off x="1563624" y="5212080"/>
            <a:ext cx="740664" cy="320040"/>
          </a:xfrm>
          <a:prstGeom prst="rect">
            <a:avLst/>
          </a:prstGeom>
          <a:noFill/>
          <a:ln/>
        </p:spPr>
        <p:txBody>
          <a:bodyPr wrap="square" lIns="0" tIns="0" rIns="0" bIns="0" rtlCol="0" anchor="ctr"/>
          <a:lstStyle/>
          <a:p>
            <a:pPr marL="0" indent="0" algn="ctr">
              <a:buNone/>
            </a:pPr>
            <a:r>
              <a:rPr lang="en-US" sz="1000" dirty="0">
                <a:solidFill>
                  <a:srgbClr val="001F5B"/>
                </a:solidFill>
                <a:latin typeface="Consolas" pitchFamily="34" charset="0"/>
                <a:ea typeface="Consolas" pitchFamily="34" charset="-122"/>
                <a:cs typeface="Consolas" pitchFamily="34" charset="-120"/>
              </a:rPr>
              <a:t>fillna</a:t>
            </a:r>
            <a:endParaRPr lang="en-US" sz="1000" dirty="0"/>
          </a:p>
        </p:txBody>
      </p:sp>
      <p:sp>
        <p:nvSpPr>
          <p:cNvPr id="25" name="Shape 22"/>
          <p:cNvSpPr/>
          <p:nvPr/>
        </p:nvSpPr>
        <p:spPr>
          <a:xfrm>
            <a:off x="2395728" y="5212080"/>
            <a:ext cx="1143000" cy="320040"/>
          </a:xfrm>
          <a:prstGeom prst="roundRect">
            <a:avLst>
              <a:gd name="adj" fmla="val 22857"/>
            </a:avLst>
          </a:prstGeom>
          <a:solidFill>
            <a:srgbClr val="F7F8FB"/>
          </a:solidFill>
          <a:ln w="9525">
            <a:solidFill>
              <a:srgbClr val="001F5B"/>
            </a:solidFill>
            <a:prstDash val="solid"/>
          </a:ln>
        </p:spPr>
        <p:txBody>
          <a:bodyPr/>
          <a:lstStyle/>
          <a:p>
            <a:endParaRPr lang="en-US"/>
          </a:p>
        </p:txBody>
      </p:sp>
      <p:sp>
        <p:nvSpPr>
          <p:cNvPr id="26" name="Text 23"/>
          <p:cNvSpPr/>
          <p:nvPr/>
        </p:nvSpPr>
        <p:spPr>
          <a:xfrm>
            <a:off x="2395728" y="5212080"/>
            <a:ext cx="1143000" cy="320040"/>
          </a:xfrm>
          <a:prstGeom prst="rect">
            <a:avLst/>
          </a:prstGeom>
          <a:noFill/>
          <a:ln/>
        </p:spPr>
        <p:txBody>
          <a:bodyPr wrap="square" lIns="0" tIns="0" rIns="0" bIns="0" rtlCol="0" anchor="ctr"/>
          <a:lstStyle/>
          <a:p>
            <a:pPr marL="0" indent="0" algn="ctr">
              <a:buNone/>
            </a:pPr>
            <a:r>
              <a:rPr lang="en-US" sz="1000" dirty="0">
                <a:solidFill>
                  <a:srgbClr val="001F5B"/>
                </a:solidFill>
                <a:latin typeface="Consolas" pitchFamily="34" charset="0"/>
                <a:ea typeface="Consolas" pitchFamily="34" charset="-122"/>
                <a:cs typeface="Consolas" pitchFamily="34" charset="-120"/>
              </a:rPr>
              <a:t>KNNImputer</a:t>
            </a:r>
            <a:endParaRPr lang="en-US" sz="1000" dirty="0"/>
          </a:p>
        </p:txBody>
      </p:sp>
      <p:sp>
        <p:nvSpPr>
          <p:cNvPr id="27" name="Shape 24"/>
          <p:cNvSpPr/>
          <p:nvPr/>
        </p:nvSpPr>
        <p:spPr>
          <a:xfrm>
            <a:off x="4297680" y="1920240"/>
            <a:ext cx="3703320" cy="4297680"/>
          </a:xfrm>
          <a:prstGeom prst="rect">
            <a:avLst/>
          </a:prstGeom>
          <a:solidFill>
            <a:srgbClr val="FFFFFF"/>
          </a:solidFill>
          <a:ln w="12700">
            <a:solidFill>
              <a:srgbClr val="E5E7EB"/>
            </a:solidFill>
            <a:prstDash val="solid"/>
          </a:ln>
          <a:effectLst>
            <a:outerShdw blurRad="127000" dist="38100" dir="5400000" algn="bl" rotWithShape="0">
              <a:srgbClr val="000000">
                <a:alpha val="10000"/>
              </a:srgbClr>
            </a:outerShdw>
          </a:effectLst>
        </p:spPr>
        <p:txBody>
          <a:bodyPr/>
          <a:lstStyle/>
          <a:p>
            <a:endParaRPr lang="en-US" dirty="0"/>
          </a:p>
        </p:txBody>
      </p:sp>
      <p:sp>
        <p:nvSpPr>
          <p:cNvPr id="28" name="Shape 25"/>
          <p:cNvSpPr/>
          <p:nvPr/>
        </p:nvSpPr>
        <p:spPr>
          <a:xfrm>
            <a:off x="4297680" y="1920240"/>
            <a:ext cx="3703320" cy="960120"/>
          </a:xfrm>
          <a:prstGeom prst="rect">
            <a:avLst/>
          </a:prstGeom>
          <a:solidFill>
            <a:srgbClr val="001F5B"/>
          </a:solidFill>
          <a:ln w="12700">
            <a:solidFill>
              <a:srgbClr val="001F5B"/>
            </a:solidFill>
            <a:prstDash val="solid"/>
          </a:ln>
        </p:spPr>
        <p:txBody>
          <a:bodyPr/>
          <a:lstStyle/>
          <a:p>
            <a:endParaRPr lang="en-US"/>
          </a:p>
        </p:txBody>
      </p:sp>
      <p:sp>
        <p:nvSpPr>
          <p:cNvPr id="29" name="Text 26"/>
          <p:cNvSpPr/>
          <p:nvPr/>
        </p:nvSpPr>
        <p:spPr>
          <a:xfrm>
            <a:off x="4572000" y="2029968"/>
            <a:ext cx="1097280" cy="731520"/>
          </a:xfrm>
          <a:prstGeom prst="rect">
            <a:avLst/>
          </a:prstGeom>
          <a:noFill/>
          <a:ln/>
        </p:spPr>
        <p:txBody>
          <a:bodyPr wrap="square" lIns="0" tIns="0" rIns="0" bIns="0" rtlCol="0" anchor="ctr"/>
          <a:lstStyle/>
          <a:p>
            <a:pPr marL="0" indent="0">
              <a:buNone/>
            </a:pPr>
            <a:r>
              <a:rPr lang="en-US" sz="4400" b="1" dirty="0">
                <a:solidFill>
                  <a:srgbClr val="C8102E"/>
                </a:solidFill>
                <a:latin typeface="Georgia" pitchFamily="34" charset="0"/>
                <a:ea typeface="Georgia" pitchFamily="34" charset="-122"/>
                <a:cs typeface="Georgia" pitchFamily="34" charset="-120"/>
              </a:rPr>
              <a:t>02</a:t>
            </a:r>
            <a:endParaRPr lang="en-US" sz="4400" dirty="0"/>
          </a:p>
        </p:txBody>
      </p:sp>
      <p:sp>
        <p:nvSpPr>
          <p:cNvPr id="30" name="Text 27"/>
          <p:cNvSpPr/>
          <p:nvPr/>
        </p:nvSpPr>
        <p:spPr>
          <a:xfrm>
            <a:off x="5669280" y="2029968"/>
            <a:ext cx="2148840" cy="7315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Encoding &amp; Discretization</a:t>
            </a:r>
            <a:endParaRPr lang="en-US" sz="1600" dirty="0"/>
          </a:p>
        </p:txBody>
      </p:sp>
      <p:sp>
        <p:nvSpPr>
          <p:cNvPr id="31" name="Text 28"/>
          <p:cNvSpPr/>
          <p:nvPr/>
        </p:nvSpPr>
        <p:spPr>
          <a:xfrm>
            <a:off x="4572000" y="3108960"/>
            <a:ext cx="3154680" cy="1828800"/>
          </a:xfrm>
          <a:prstGeom prst="rect">
            <a:avLst/>
          </a:prstGeom>
          <a:noFill/>
          <a:ln/>
        </p:spPr>
        <p:txBody>
          <a:bodyPr wrap="square" lIns="0" tIns="0" rIns="0" bIns="0" rtlCol="0" anchor="t"/>
          <a:lstStyle/>
          <a:p>
            <a:pPr marL="285750" indent="-285750">
              <a:buFontTx/>
              <a:buChar char="-"/>
            </a:pPr>
            <a:r>
              <a:rPr lang="en-US" sz="1300" dirty="0"/>
              <a:t>Binary encoding was used to encode </a:t>
            </a:r>
            <a:r>
              <a:rPr lang="en-US" sz="1300" b="1" dirty="0"/>
              <a:t>education</a:t>
            </a:r>
            <a:r>
              <a:rPr lang="en-US" sz="1300" dirty="0"/>
              <a:t>, </a:t>
            </a:r>
            <a:r>
              <a:rPr lang="en-US" sz="1300" b="1" dirty="0" err="1"/>
              <a:t>self_employed</a:t>
            </a:r>
            <a:r>
              <a:rPr lang="en-US" sz="1300" b="1" dirty="0"/>
              <a:t> </a:t>
            </a:r>
            <a:r>
              <a:rPr lang="en-US" sz="1300" dirty="0"/>
              <a:t>and </a:t>
            </a:r>
            <a:r>
              <a:rPr lang="en-US" sz="1300" b="1" dirty="0" err="1"/>
              <a:t>loan_status</a:t>
            </a:r>
            <a:r>
              <a:rPr lang="en-US" sz="1300" dirty="0"/>
              <a:t>. </a:t>
            </a:r>
          </a:p>
          <a:p>
            <a:pPr marL="285750" indent="-285750">
              <a:buFontTx/>
              <a:buChar char="-"/>
            </a:pPr>
            <a:r>
              <a:rPr lang="en-US" sz="1300" dirty="0" err="1"/>
              <a:t>MinMax</a:t>
            </a:r>
            <a:r>
              <a:rPr lang="en-US" sz="1300" dirty="0"/>
              <a:t> scaling was used to scale </a:t>
            </a:r>
            <a:r>
              <a:rPr lang="en-US" sz="1300" b="1" dirty="0" err="1"/>
              <a:t>income_annum</a:t>
            </a:r>
            <a:r>
              <a:rPr lang="en-US" sz="1300" b="1" dirty="0"/>
              <a:t> </a:t>
            </a:r>
            <a:r>
              <a:rPr lang="en-US" sz="1300" dirty="0"/>
              <a:t>and </a:t>
            </a:r>
            <a:r>
              <a:rPr lang="en-US" sz="1300" b="1" dirty="0" err="1"/>
              <a:t>total_assets</a:t>
            </a:r>
            <a:endParaRPr lang="en-US" sz="1300" b="1" dirty="0"/>
          </a:p>
        </p:txBody>
      </p:sp>
      <p:sp>
        <p:nvSpPr>
          <p:cNvPr id="32" name="Text 29"/>
          <p:cNvSpPr/>
          <p:nvPr/>
        </p:nvSpPr>
        <p:spPr>
          <a:xfrm>
            <a:off x="4572000" y="4937760"/>
            <a:ext cx="3154680" cy="228600"/>
          </a:xfrm>
          <a:prstGeom prst="rect">
            <a:avLst/>
          </a:prstGeom>
          <a:noFill/>
          <a:ln/>
        </p:spPr>
        <p:txBody>
          <a:bodyPr wrap="square" lIns="0" tIns="0" rIns="0" bIns="0" rtlCol="0" anchor="ctr"/>
          <a:lstStyle/>
          <a:p>
            <a:pPr marL="0" indent="0">
              <a:buNone/>
            </a:pPr>
            <a:r>
              <a:rPr lang="en-US" sz="900" b="1" kern="0" spc="300" dirty="0">
                <a:solidFill>
                  <a:srgbClr val="6B7280"/>
                </a:solidFill>
                <a:latin typeface="Calibri" pitchFamily="34" charset="0"/>
                <a:ea typeface="Calibri" pitchFamily="34" charset="-122"/>
                <a:cs typeface="Calibri" pitchFamily="34" charset="-120"/>
              </a:rPr>
              <a:t>COMMON TOOLS</a:t>
            </a:r>
            <a:endParaRPr lang="en-US" sz="900" dirty="0"/>
          </a:p>
        </p:txBody>
      </p:sp>
      <p:sp>
        <p:nvSpPr>
          <p:cNvPr id="33" name="Shape 30"/>
          <p:cNvSpPr/>
          <p:nvPr/>
        </p:nvSpPr>
        <p:spPr>
          <a:xfrm>
            <a:off x="4572000" y="5212080"/>
            <a:ext cx="1243584" cy="320040"/>
          </a:xfrm>
          <a:prstGeom prst="roundRect">
            <a:avLst>
              <a:gd name="adj" fmla="val 22857"/>
            </a:avLst>
          </a:prstGeom>
          <a:solidFill>
            <a:srgbClr val="F7F8FB"/>
          </a:solidFill>
          <a:ln w="9525">
            <a:solidFill>
              <a:srgbClr val="001F5B"/>
            </a:solidFill>
            <a:prstDash val="solid"/>
          </a:ln>
        </p:spPr>
        <p:txBody>
          <a:bodyPr/>
          <a:lstStyle/>
          <a:p>
            <a:endParaRPr lang="en-US"/>
          </a:p>
        </p:txBody>
      </p:sp>
      <p:sp>
        <p:nvSpPr>
          <p:cNvPr id="34" name="Text 31"/>
          <p:cNvSpPr/>
          <p:nvPr/>
        </p:nvSpPr>
        <p:spPr>
          <a:xfrm>
            <a:off x="4572000" y="5212080"/>
            <a:ext cx="1243584" cy="320040"/>
          </a:xfrm>
          <a:prstGeom prst="rect">
            <a:avLst/>
          </a:prstGeom>
          <a:noFill/>
          <a:ln/>
        </p:spPr>
        <p:txBody>
          <a:bodyPr wrap="square" lIns="0" tIns="0" rIns="0" bIns="0" rtlCol="0" anchor="ctr"/>
          <a:lstStyle/>
          <a:p>
            <a:pPr marL="0" indent="0" algn="ctr">
              <a:buNone/>
            </a:pPr>
            <a:r>
              <a:rPr lang="en-US" sz="1000" dirty="0">
                <a:solidFill>
                  <a:srgbClr val="001F5B"/>
                </a:solidFill>
                <a:latin typeface="Consolas" pitchFamily="34" charset="0"/>
                <a:ea typeface="Consolas" pitchFamily="34" charset="-122"/>
                <a:cs typeface="Consolas" pitchFamily="34" charset="-120"/>
              </a:rPr>
              <a:t>get_dummies</a:t>
            </a:r>
            <a:endParaRPr lang="en-US" sz="1000" dirty="0"/>
          </a:p>
        </p:txBody>
      </p:sp>
      <p:sp>
        <p:nvSpPr>
          <p:cNvPr id="35" name="Shape 32"/>
          <p:cNvSpPr/>
          <p:nvPr/>
        </p:nvSpPr>
        <p:spPr>
          <a:xfrm>
            <a:off x="5907024" y="5212080"/>
            <a:ext cx="1344168" cy="320040"/>
          </a:xfrm>
          <a:prstGeom prst="roundRect">
            <a:avLst>
              <a:gd name="adj" fmla="val 22857"/>
            </a:avLst>
          </a:prstGeom>
          <a:solidFill>
            <a:srgbClr val="F7F8FB"/>
          </a:solidFill>
          <a:ln w="9525">
            <a:solidFill>
              <a:srgbClr val="001F5B"/>
            </a:solidFill>
            <a:prstDash val="solid"/>
          </a:ln>
        </p:spPr>
        <p:txBody>
          <a:bodyPr/>
          <a:lstStyle/>
          <a:p>
            <a:endParaRPr lang="en-US"/>
          </a:p>
        </p:txBody>
      </p:sp>
      <p:sp>
        <p:nvSpPr>
          <p:cNvPr id="36" name="Text 33"/>
          <p:cNvSpPr/>
          <p:nvPr/>
        </p:nvSpPr>
        <p:spPr>
          <a:xfrm>
            <a:off x="5907024" y="5212080"/>
            <a:ext cx="1344168" cy="320040"/>
          </a:xfrm>
          <a:prstGeom prst="rect">
            <a:avLst/>
          </a:prstGeom>
          <a:noFill/>
          <a:ln/>
        </p:spPr>
        <p:txBody>
          <a:bodyPr wrap="square" lIns="0" tIns="0" rIns="0" bIns="0" rtlCol="0" anchor="ctr"/>
          <a:lstStyle/>
          <a:p>
            <a:pPr marL="0" indent="0" algn="ctr">
              <a:buNone/>
            </a:pPr>
            <a:r>
              <a:rPr lang="en-US" sz="1000" dirty="0">
                <a:solidFill>
                  <a:srgbClr val="001F5B"/>
                </a:solidFill>
                <a:latin typeface="Consolas" pitchFamily="34" charset="0"/>
                <a:ea typeface="Consolas" pitchFamily="34" charset="-122"/>
                <a:cs typeface="Consolas" pitchFamily="34" charset="-120"/>
              </a:rPr>
              <a:t>LabelEncoder</a:t>
            </a:r>
            <a:endParaRPr lang="en-US" sz="1000" dirty="0"/>
          </a:p>
        </p:txBody>
      </p:sp>
      <p:sp>
        <p:nvSpPr>
          <p:cNvPr id="37" name="Shape 34"/>
          <p:cNvSpPr/>
          <p:nvPr/>
        </p:nvSpPr>
        <p:spPr>
          <a:xfrm>
            <a:off x="7342632" y="5212080"/>
            <a:ext cx="740664" cy="320040"/>
          </a:xfrm>
          <a:prstGeom prst="roundRect">
            <a:avLst>
              <a:gd name="adj" fmla="val 22857"/>
            </a:avLst>
          </a:prstGeom>
          <a:solidFill>
            <a:srgbClr val="F7F8FB"/>
          </a:solidFill>
          <a:ln w="9525">
            <a:solidFill>
              <a:srgbClr val="001F5B"/>
            </a:solidFill>
            <a:prstDash val="solid"/>
          </a:ln>
        </p:spPr>
        <p:txBody>
          <a:bodyPr/>
          <a:lstStyle/>
          <a:p>
            <a:endParaRPr lang="en-US"/>
          </a:p>
        </p:txBody>
      </p:sp>
      <p:sp>
        <p:nvSpPr>
          <p:cNvPr id="38" name="Text 35"/>
          <p:cNvSpPr/>
          <p:nvPr/>
        </p:nvSpPr>
        <p:spPr>
          <a:xfrm>
            <a:off x="7342632" y="5212080"/>
            <a:ext cx="740664" cy="320040"/>
          </a:xfrm>
          <a:prstGeom prst="rect">
            <a:avLst/>
          </a:prstGeom>
          <a:noFill/>
          <a:ln/>
        </p:spPr>
        <p:txBody>
          <a:bodyPr wrap="square" lIns="0" tIns="0" rIns="0" bIns="0" rtlCol="0" anchor="ctr"/>
          <a:lstStyle/>
          <a:p>
            <a:pPr marL="0" indent="0" algn="ctr">
              <a:buNone/>
            </a:pPr>
            <a:r>
              <a:rPr lang="en-US" sz="1000" dirty="0">
                <a:solidFill>
                  <a:srgbClr val="001F5B"/>
                </a:solidFill>
                <a:latin typeface="Consolas" pitchFamily="34" charset="0"/>
                <a:ea typeface="Consolas" pitchFamily="34" charset="-122"/>
                <a:cs typeface="Consolas" pitchFamily="34" charset="-120"/>
              </a:rPr>
              <a:t>pd.cut</a:t>
            </a:r>
            <a:endParaRPr lang="en-US" sz="1000" dirty="0"/>
          </a:p>
        </p:txBody>
      </p:sp>
      <p:sp>
        <p:nvSpPr>
          <p:cNvPr id="39" name="Shape 36"/>
          <p:cNvSpPr/>
          <p:nvPr/>
        </p:nvSpPr>
        <p:spPr>
          <a:xfrm>
            <a:off x="8138160" y="1920240"/>
            <a:ext cx="3703320" cy="4297680"/>
          </a:xfrm>
          <a:prstGeom prst="rect">
            <a:avLst/>
          </a:prstGeom>
          <a:solidFill>
            <a:srgbClr val="FFFFFF"/>
          </a:solidFill>
          <a:ln w="12700">
            <a:solidFill>
              <a:srgbClr val="E5E7EB"/>
            </a:solidFill>
            <a:prstDash val="solid"/>
          </a:ln>
          <a:effectLst>
            <a:outerShdw blurRad="127000" dist="38100" dir="5400000" algn="bl" rotWithShape="0">
              <a:srgbClr val="000000">
                <a:alpha val="10000"/>
              </a:srgbClr>
            </a:outerShdw>
          </a:effectLst>
        </p:spPr>
        <p:txBody>
          <a:bodyPr/>
          <a:lstStyle/>
          <a:p>
            <a:endParaRPr lang="en-US"/>
          </a:p>
        </p:txBody>
      </p:sp>
      <p:sp>
        <p:nvSpPr>
          <p:cNvPr id="40" name="Shape 37"/>
          <p:cNvSpPr/>
          <p:nvPr/>
        </p:nvSpPr>
        <p:spPr>
          <a:xfrm>
            <a:off x="8138160" y="1920240"/>
            <a:ext cx="3703320" cy="960120"/>
          </a:xfrm>
          <a:prstGeom prst="rect">
            <a:avLst/>
          </a:prstGeom>
          <a:solidFill>
            <a:srgbClr val="001F5B"/>
          </a:solidFill>
          <a:ln w="12700">
            <a:solidFill>
              <a:srgbClr val="001F5B"/>
            </a:solidFill>
            <a:prstDash val="solid"/>
          </a:ln>
        </p:spPr>
        <p:txBody>
          <a:bodyPr/>
          <a:lstStyle/>
          <a:p>
            <a:endParaRPr lang="en-US"/>
          </a:p>
        </p:txBody>
      </p:sp>
      <p:sp>
        <p:nvSpPr>
          <p:cNvPr id="41" name="Text 38"/>
          <p:cNvSpPr/>
          <p:nvPr/>
        </p:nvSpPr>
        <p:spPr>
          <a:xfrm>
            <a:off x="8412480" y="2029968"/>
            <a:ext cx="1097280" cy="731520"/>
          </a:xfrm>
          <a:prstGeom prst="rect">
            <a:avLst/>
          </a:prstGeom>
          <a:noFill/>
          <a:ln/>
        </p:spPr>
        <p:txBody>
          <a:bodyPr wrap="square" lIns="0" tIns="0" rIns="0" bIns="0" rtlCol="0" anchor="ctr"/>
          <a:lstStyle/>
          <a:p>
            <a:pPr marL="0" indent="0">
              <a:buNone/>
            </a:pPr>
            <a:r>
              <a:rPr lang="en-US" sz="4400" b="1" dirty="0">
                <a:solidFill>
                  <a:srgbClr val="C8102E"/>
                </a:solidFill>
                <a:latin typeface="Georgia" pitchFamily="34" charset="0"/>
                <a:ea typeface="Georgia" pitchFamily="34" charset="-122"/>
                <a:cs typeface="Georgia" pitchFamily="34" charset="-120"/>
              </a:rPr>
              <a:t>03</a:t>
            </a:r>
            <a:endParaRPr lang="en-US" sz="4400" dirty="0"/>
          </a:p>
        </p:txBody>
      </p:sp>
      <p:sp>
        <p:nvSpPr>
          <p:cNvPr id="42" name="Text 39"/>
          <p:cNvSpPr/>
          <p:nvPr/>
        </p:nvSpPr>
        <p:spPr>
          <a:xfrm>
            <a:off x="9509760" y="2029968"/>
            <a:ext cx="2148840" cy="7315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New Feature Creation</a:t>
            </a:r>
            <a:endParaRPr lang="en-US" sz="1600" dirty="0"/>
          </a:p>
        </p:txBody>
      </p:sp>
      <p:sp>
        <p:nvSpPr>
          <p:cNvPr id="43" name="Text 40"/>
          <p:cNvSpPr/>
          <p:nvPr/>
        </p:nvSpPr>
        <p:spPr>
          <a:xfrm>
            <a:off x="8412480" y="3108960"/>
            <a:ext cx="3154680" cy="18288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A feature called </a:t>
            </a:r>
            <a:r>
              <a:rPr lang="en-US" sz="1300" b="1" dirty="0" err="1">
                <a:solidFill>
                  <a:srgbClr val="1F2937"/>
                </a:solidFill>
                <a:latin typeface="Calibri" pitchFamily="34" charset="0"/>
                <a:ea typeface="Calibri" pitchFamily="34" charset="-122"/>
                <a:cs typeface="Calibri" pitchFamily="34" charset="-120"/>
              </a:rPr>
              <a:t>total_assets</a:t>
            </a:r>
            <a:r>
              <a:rPr lang="en-US" sz="1300" b="1" dirty="0">
                <a:solidFill>
                  <a:srgbClr val="1F2937"/>
                </a:solidFill>
                <a:latin typeface="Calibri" pitchFamily="34" charset="0"/>
                <a:ea typeface="Calibri" pitchFamily="34" charset="-122"/>
                <a:cs typeface="Calibri" pitchFamily="34" charset="-120"/>
              </a:rPr>
              <a:t> </a:t>
            </a:r>
            <a:r>
              <a:rPr lang="en-US" sz="1300" dirty="0">
                <a:solidFill>
                  <a:srgbClr val="1F2937"/>
                </a:solidFill>
                <a:latin typeface="Calibri" pitchFamily="34" charset="0"/>
                <a:ea typeface="Calibri" pitchFamily="34" charset="-122"/>
                <a:cs typeface="Calibri" pitchFamily="34" charset="-120"/>
              </a:rPr>
              <a:t>was created using the sum of </a:t>
            </a:r>
            <a:r>
              <a:rPr lang="en-US" sz="1300" b="1" dirty="0" err="1">
                <a:solidFill>
                  <a:srgbClr val="1F2937"/>
                </a:solidFill>
                <a:latin typeface="Calibri" pitchFamily="34" charset="0"/>
                <a:ea typeface="Calibri" pitchFamily="34" charset="-122"/>
                <a:cs typeface="Calibri" pitchFamily="34" charset="-120"/>
              </a:rPr>
              <a:t>residential_assets_value</a:t>
            </a:r>
            <a:r>
              <a:rPr lang="en-US" sz="1300" dirty="0">
                <a:solidFill>
                  <a:srgbClr val="1F2937"/>
                </a:solidFill>
                <a:latin typeface="Calibri" pitchFamily="34" charset="0"/>
                <a:ea typeface="Calibri" pitchFamily="34" charset="-122"/>
                <a:cs typeface="Calibri" pitchFamily="34" charset="-120"/>
              </a:rPr>
              <a:t>, </a:t>
            </a:r>
            <a:r>
              <a:rPr lang="en-US" sz="1300" b="1" dirty="0" err="1">
                <a:solidFill>
                  <a:srgbClr val="1F2937"/>
                </a:solidFill>
                <a:latin typeface="Calibri" pitchFamily="34" charset="0"/>
                <a:ea typeface="Calibri" pitchFamily="34" charset="-122"/>
                <a:cs typeface="Calibri" pitchFamily="34" charset="-120"/>
              </a:rPr>
              <a:t>commercial_asset_value</a:t>
            </a:r>
            <a:r>
              <a:rPr lang="en-US" sz="1300" dirty="0">
                <a:solidFill>
                  <a:srgbClr val="1F2937"/>
                </a:solidFill>
                <a:latin typeface="Calibri" pitchFamily="34" charset="0"/>
                <a:ea typeface="Calibri" pitchFamily="34" charset="-122"/>
                <a:cs typeface="Calibri" pitchFamily="34" charset="-120"/>
              </a:rPr>
              <a:t>, </a:t>
            </a:r>
            <a:r>
              <a:rPr lang="en-US" sz="1300" b="1" dirty="0" err="1">
                <a:solidFill>
                  <a:srgbClr val="1F2937"/>
                </a:solidFill>
                <a:latin typeface="Calibri" pitchFamily="34" charset="0"/>
                <a:ea typeface="Calibri" pitchFamily="34" charset="-122"/>
                <a:cs typeface="Calibri" pitchFamily="34" charset="-120"/>
              </a:rPr>
              <a:t>luxury_assets_value</a:t>
            </a:r>
            <a:r>
              <a:rPr lang="en-US" sz="1300" dirty="0">
                <a:solidFill>
                  <a:srgbClr val="1F2937"/>
                </a:solidFill>
                <a:latin typeface="Calibri" pitchFamily="34" charset="0"/>
                <a:ea typeface="Calibri" pitchFamily="34" charset="-122"/>
                <a:cs typeface="Calibri" pitchFamily="34" charset="-120"/>
              </a:rPr>
              <a:t>, and </a:t>
            </a:r>
            <a:r>
              <a:rPr lang="en-US" sz="1300" b="1" dirty="0" err="1">
                <a:solidFill>
                  <a:srgbClr val="1F2937"/>
                </a:solidFill>
                <a:latin typeface="Calibri" pitchFamily="34" charset="0"/>
                <a:ea typeface="Calibri" pitchFamily="34" charset="-122"/>
                <a:cs typeface="Calibri" pitchFamily="34" charset="-120"/>
              </a:rPr>
              <a:t>bank_assets_value</a:t>
            </a:r>
            <a:r>
              <a:rPr lang="en-US" sz="1300" dirty="0">
                <a:solidFill>
                  <a:srgbClr val="1F2937"/>
                </a:solidFill>
                <a:latin typeface="Calibri" pitchFamily="34" charset="0"/>
                <a:ea typeface="Calibri" pitchFamily="34" charset="-122"/>
                <a:cs typeface="Calibri" pitchFamily="34" charset="-120"/>
              </a:rPr>
              <a:t>. </a:t>
            </a:r>
          </a:p>
          <a:p>
            <a:pPr marL="0" indent="0">
              <a:buNone/>
            </a:pPr>
            <a:r>
              <a:rPr lang="en-US" sz="1300" dirty="0">
                <a:solidFill>
                  <a:srgbClr val="1F2937"/>
                </a:solidFill>
                <a:latin typeface="Calibri" pitchFamily="34" charset="0"/>
                <a:ea typeface="Calibri" pitchFamily="34" charset="-122"/>
                <a:cs typeface="Calibri" pitchFamily="34" charset="-120"/>
              </a:rPr>
              <a:t>After creating a total assets columns, the other assets columns were dropped.</a:t>
            </a:r>
            <a:endParaRPr lang="en-US" sz="1300" dirty="0"/>
          </a:p>
        </p:txBody>
      </p:sp>
      <p:sp>
        <p:nvSpPr>
          <p:cNvPr id="44" name="Text 41"/>
          <p:cNvSpPr/>
          <p:nvPr/>
        </p:nvSpPr>
        <p:spPr>
          <a:xfrm>
            <a:off x="8412480" y="4937760"/>
            <a:ext cx="3154680" cy="228600"/>
          </a:xfrm>
          <a:prstGeom prst="rect">
            <a:avLst/>
          </a:prstGeom>
          <a:noFill/>
          <a:ln/>
        </p:spPr>
        <p:txBody>
          <a:bodyPr wrap="square" lIns="0" tIns="0" rIns="0" bIns="0" rtlCol="0" anchor="ctr"/>
          <a:lstStyle/>
          <a:p>
            <a:pPr marL="0" indent="0">
              <a:buNone/>
            </a:pPr>
            <a:r>
              <a:rPr lang="en-US" sz="900" b="1" kern="0" spc="300" dirty="0">
                <a:solidFill>
                  <a:srgbClr val="6B7280"/>
                </a:solidFill>
                <a:latin typeface="Calibri" pitchFamily="34" charset="0"/>
                <a:ea typeface="Calibri" pitchFamily="34" charset="-122"/>
                <a:cs typeface="Calibri" pitchFamily="34" charset="-120"/>
              </a:rPr>
              <a:t>COMMON TOOLS</a:t>
            </a:r>
            <a:endParaRPr lang="en-US" sz="900" dirty="0"/>
          </a:p>
        </p:txBody>
      </p:sp>
      <p:sp>
        <p:nvSpPr>
          <p:cNvPr id="45" name="Shape 42"/>
          <p:cNvSpPr/>
          <p:nvPr/>
        </p:nvSpPr>
        <p:spPr>
          <a:xfrm>
            <a:off x="8412480" y="5212080"/>
            <a:ext cx="640080" cy="320040"/>
          </a:xfrm>
          <a:prstGeom prst="roundRect">
            <a:avLst>
              <a:gd name="adj" fmla="val 22857"/>
            </a:avLst>
          </a:prstGeom>
          <a:solidFill>
            <a:srgbClr val="F7F8FB"/>
          </a:solidFill>
          <a:ln w="9525">
            <a:solidFill>
              <a:srgbClr val="001F5B"/>
            </a:solidFill>
            <a:prstDash val="solid"/>
          </a:ln>
        </p:spPr>
        <p:txBody>
          <a:bodyPr/>
          <a:lstStyle/>
          <a:p>
            <a:endParaRPr lang="en-US"/>
          </a:p>
        </p:txBody>
      </p:sp>
      <p:sp>
        <p:nvSpPr>
          <p:cNvPr id="46" name="Text 43"/>
          <p:cNvSpPr/>
          <p:nvPr/>
        </p:nvSpPr>
        <p:spPr>
          <a:xfrm>
            <a:off x="8412480" y="5212080"/>
            <a:ext cx="640080" cy="320040"/>
          </a:xfrm>
          <a:prstGeom prst="rect">
            <a:avLst/>
          </a:prstGeom>
          <a:noFill/>
          <a:ln/>
        </p:spPr>
        <p:txBody>
          <a:bodyPr wrap="square" lIns="0" tIns="0" rIns="0" bIns="0" rtlCol="0" anchor="ctr"/>
          <a:lstStyle/>
          <a:p>
            <a:pPr marL="0" indent="0" algn="ctr">
              <a:buNone/>
            </a:pPr>
            <a:r>
              <a:rPr lang="en-US" sz="1000" dirty="0">
                <a:solidFill>
                  <a:srgbClr val="001F5B"/>
                </a:solidFill>
                <a:latin typeface="Consolas" pitchFamily="34" charset="0"/>
                <a:ea typeface="Consolas" pitchFamily="34" charset="-122"/>
                <a:cs typeface="Consolas" pitchFamily="34" charset="-120"/>
              </a:rPr>
              <a:t>ratio</a:t>
            </a:r>
            <a:endParaRPr lang="en-US" sz="1000" dirty="0"/>
          </a:p>
        </p:txBody>
      </p:sp>
      <p:sp>
        <p:nvSpPr>
          <p:cNvPr id="47" name="Shape 44"/>
          <p:cNvSpPr/>
          <p:nvPr/>
        </p:nvSpPr>
        <p:spPr>
          <a:xfrm>
            <a:off x="9144000" y="5212080"/>
            <a:ext cx="941832" cy="320040"/>
          </a:xfrm>
          <a:prstGeom prst="roundRect">
            <a:avLst>
              <a:gd name="adj" fmla="val 22857"/>
            </a:avLst>
          </a:prstGeom>
          <a:solidFill>
            <a:srgbClr val="F7F8FB"/>
          </a:solidFill>
          <a:ln w="9525">
            <a:solidFill>
              <a:srgbClr val="001F5B"/>
            </a:solidFill>
            <a:prstDash val="solid"/>
          </a:ln>
        </p:spPr>
        <p:txBody>
          <a:bodyPr/>
          <a:lstStyle/>
          <a:p>
            <a:endParaRPr lang="en-US"/>
          </a:p>
        </p:txBody>
      </p:sp>
      <p:sp>
        <p:nvSpPr>
          <p:cNvPr id="48" name="Text 45"/>
          <p:cNvSpPr/>
          <p:nvPr/>
        </p:nvSpPr>
        <p:spPr>
          <a:xfrm>
            <a:off x="9144000" y="5212080"/>
            <a:ext cx="941832" cy="320040"/>
          </a:xfrm>
          <a:prstGeom prst="rect">
            <a:avLst/>
          </a:prstGeom>
          <a:noFill/>
          <a:ln/>
        </p:spPr>
        <p:txBody>
          <a:bodyPr wrap="square" lIns="0" tIns="0" rIns="0" bIns="0" rtlCol="0" anchor="ctr"/>
          <a:lstStyle/>
          <a:p>
            <a:pPr marL="0" indent="0" algn="ctr">
              <a:buNone/>
            </a:pPr>
            <a:r>
              <a:rPr lang="en-US" sz="1000" dirty="0">
                <a:solidFill>
                  <a:srgbClr val="001F5B"/>
                </a:solidFill>
                <a:latin typeface="Consolas" pitchFamily="34" charset="0"/>
                <a:ea typeface="Consolas" pitchFamily="34" charset="-122"/>
                <a:cs typeface="Consolas" pitchFamily="34" charset="-120"/>
              </a:rPr>
              <a:t>datetime</a:t>
            </a:r>
            <a:endParaRPr lang="en-US" sz="1000" dirty="0"/>
          </a:p>
        </p:txBody>
      </p:sp>
      <p:sp>
        <p:nvSpPr>
          <p:cNvPr id="49" name="Shape 46"/>
          <p:cNvSpPr/>
          <p:nvPr/>
        </p:nvSpPr>
        <p:spPr>
          <a:xfrm>
            <a:off x="10177272" y="5212080"/>
            <a:ext cx="1243584" cy="320040"/>
          </a:xfrm>
          <a:prstGeom prst="roundRect">
            <a:avLst>
              <a:gd name="adj" fmla="val 22857"/>
            </a:avLst>
          </a:prstGeom>
          <a:solidFill>
            <a:srgbClr val="F7F8FB"/>
          </a:solidFill>
          <a:ln w="9525">
            <a:solidFill>
              <a:srgbClr val="001F5B"/>
            </a:solidFill>
            <a:prstDash val="solid"/>
          </a:ln>
        </p:spPr>
        <p:txBody>
          <a:bodyPr/>
          <a:lstStyle/>
          <a:p>
            <a:endParaRPr lang="en-US"/>
          </a:p>
        </p:txBody>
      </p:sp>
      <p:sp>
        <p:nvSpPr>
          <p:cNvPr id="50" name="Text 47"/>
          <p:cNvSpPr/>
          <p:nvPr/>
        </p:nvSpPr>
        <p:spPr>
          <a:xfrm>
            <a:off x="10177272" y="5212080"/>
            <a:ext cx="1243584" cy="320040"/>
          </a:xfrm>
          <a:prstGeom prst="rect">
            <a:avLst/>
          </a:prstGeom>
          <a:noFill/>
          <a:ln/>
        </p:spPr>
        <p:txBody>
          <a:bodyPr wrap="square" lIns="0" tIns="0" rIns="0" bIns="0" rtlCol="0" anchor="ctr"/>
          <a:lstStyle/>
          <a:p>
            <a:pPr marL="0" indent="0" algn="ctr">
              <a:buNone/>
            </a:pPr>
            <a:r>
              <a:rPr lang="en-US" sz="1000" dirty="0">
                <a:solidFill>
                  <a:srgbClr val="001F5B"/>
                </a:solidFill>
                <a:latin typeface="Consolas" pitchFamily="34" charset="0"/>
                <a:ea typeface="Consolas" pitchFamily="34" charset="-122"/>
                <a:cs typeface="Consolas" pitchFamily="34" charset="-120"/>
              </a:rPr>
              <a:t>interaction</a:t>
            </a:r>
            <a:endParaRPr lang="en-US" sz="1000" dirty="0"/>
          </a:p>
        </p:txBody>
      </p:sp>
      <p:pic>
        <p:nvPicPr>
          <p:cNvPr id="51" name="Image 1" descr="preencoded.png"/>
          <p:cNvPicPr>
            <a:picLocks noChangeAspect="1"/>
          </p:cNvPicPr>
          <p:nvPr/>
        </p:nvPicPr>
        <p:blipFill>
          <a:blip r:embed="rId4"/>
          <a:stretch>
            <a:fillRect/>
          </a:stretch>
        </p:blipFill>
        <p:spPr>
          <a:xfrm>
            <a:off x="4169664" y="3931920"/>
            <a:ext cx="274320" cy="274320"/>
          </a:xfrm>
          <a:prstGeom prst="rect">
            <a:avLst/>
          </a:prstGeom>
        </p:spPr>
      </p:pic>
      <p:pic>
        <p:nvPicPr>
          <p:cNvPr id="52" name="Image 2" descr="preencoded.png"/>
          <p:cNvPicPr>
            <a:picLocks noChangeAspect="1"/>
          </p:cNvPicPr>
          <p:nvPr/>
        </p:nvPicPr>
        <p:blipFill>
          <a:blip r:embed="rId4"/>
          <a:stretch>
            <a:fillRect/>
          </a:stretch>
        </p:blipFill>
        <p:spPr>
          <a:xfrm>
            <a:off x="8010144" y="3931920"/>
            <a:ext cx="274320" cy="2743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01F5B"/>
          </a:solidFill>
          <a:ln w="12700">
            <a:solidFill>
              <a:srgbClr val="001F5B"/>
            </a:solidFill>
            <a:prstDash val="solid"/>
          </a:ln>
        </p:spPr>
        <p:txBody>
          <a:bodyPr/>
          <a:lstStyle/>
          <a:p>
            <a:endParaRPr lang="en-US"/>
          </a:p>
        </p:txBody>
      </p:sp>
      <p:sp>
        <p:nvSpPr>
          <p:cNvPr id="3" name="Shape 1"/>
          <p:cNvSpPr/>
          <p:nvPr/>
        </p:nvSpPr>
        <p:spPr>
          <a:xfrm>
            <a:off x="0" y="0"/>
            <a:ext cx="320040" cy="320040"/>
          </a:xfrm>
          <a:prstGeom prst="rect">
            <a:avLst/>
          </a:prstGeom>
          <a:solidFill>
            <a:srgbClr val="C8102E"/>
          </a:solidFill>
          <a:ln w="12700">
            <a:solidFill>
              <a:srgbClr val="C8102E"/>
            </a:solidFill>
            <a:prstDash val="solid"/>
          </a:ln>
        </p:spPr>
        <p:txBody>
          <a:bodyPr/>
          <a:lstStyle/>
          <a:p>
            <a:endParaRPr lang="en-US"/>
          </a:p>
        </p:txBody>
      </p:sp>
      <p:sp>
        <p:nvSpPr>
          <p:cNvPr id="4" name="Text 2"/>
          <p:cNvSpPr/>
          <p:nvPr/>
        </p:nvSpPr>
        <p:spPr>
          <a:xfrm>
            <a:off x="457200" y="0"/>
            <a:ext cx="2743200" cy="320040"/>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CATAWBA COLLEGE</a:t>
            </a:r>
            <a:endParaRPr lang="en-US" sz="900" dirty="0"/>
          </a:p>
        </p:txBody>
      </p:sp>
      <p:sp>
        <p:nvSpPr>
          <p:cNvPr id="5" name="Text 3"/>
          <p:cNvSpPr/>
          <p:nvPr/>
        </p:nvSpPr>
        <p:spPr>
          <a:xfrm>
            <a:off x="8076895" y="0"/>
            <a:ext cx="3657600" cy="320040"/>
          </a:xfrm>
          <a:prstGeom prst="rect">
            <a:avLst/>
          </a:prstGeom>
          <a:noFill/>
          <a:ln/>
        </p:spPr>
        <p:txBody>
          <a:bodyPr wrap="square" lIns="0" tIns="0" rIns="0" bIns="0"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05 · METHOD</a:t>
            </a:r>
            <a:endParaRPr lang="en-US" sz="900" dirty="0"/>
          </a:p>
        </p:txBody>
      </p:sp>
      <p:sp>
        <p:nvSpPr>
          <p:cNvPr id="6" name="Shape 4"/>
          <p:cNvSpPr/>
          <p:nvPr/>
        </p:nvSpPr>
        <p:spPr>
          <a:xfrm>
            <a:off x="457200" y="6492240"/>
            <a:ext cx="11277295" cy="0"/>
          </a:xfrm>
          <a:prstGeom prst="line">
            <a:avLst/>
          </a:prstGeom>
          <a:noFill/>
          <a:ln w="9525">
            <a:solidFill>
              <a:srgbClr val="E5E7EB"/>
            </a:solidFill>
            <a:prstDash val="solid"/>
          </a:ln>
        </p:spPr>
        <p:txBody>
          <a:bodyPr/>
          <a:lstStyle/>
          <a:p>
            <a:endParaRPr lang="en-US"/>
          </a:p>
        </p:txBody>
      </p:sp>
      <p:sp>
        <p:nvSpPr>
          <p:cNvPr id="7" name="Text 5"/>
          <p:cNvSpPr/>
          <p:nvPr/>
        </p:nvSpPr>
        <p:spPr>
          <a:xfrm>
            <a:off x="457200" y="6537960"/>
            <a:ext cx="457200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Data Mining · Final Project</a:t>
            </a:r>
            <a:endParaRPr lang="en-US" sz="900" dirty="0"/>
          </a:p>
        </p:txBody>
      </p:sp>
      <p:sp>
        <p:nvSpPr>
          <p:cNvPr id="8" name="Text 6"/>
          <p:cNvSpPr/>
          <p:nvPr/>
        </p:nvSpPr>
        <p:spPr>
          <a:xfrm>
            <a:off x="10362895" y="6537960"/>
            <a:ext cx="13716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  /  10</a:t>
            </a:r>
            <a:endParaRPr lang="en-US" sz="900" dirty="0"/>
          </a:p>
        </p:txBody>
      </p:sp>
      <p:sp>
        <p:nvSpPr>
          <p:cNvPr id="9" name="Shape 7"/>
          <p:cNvSpPr/>
          <p:nvPr/>
        </p:nvSpPr>
        <p:spPr>
          <a:xfrm>
            <a:off x="11643055" y="6400800"/>
            <a:ext cx="228600" cy="36576"/>
          </a:xfrm>
          <a:prstGeom prst="rect">
            <a:avLst/>
          </a:prstGeom>
          <a:solidFill>
            <a:srgbClr val="C8102E"/>
          </a:solidFill>
          <a:ln w="12700">
            <a:solidFill>
              <a:srgbClr val="C8102E"/>
            </a:solidFill>
            <a:prstDash val="solid"/>
          </a:ln>
        </p:spPr>
        <p:txBody>
          <a:bodyPr/>
          <a:lstStyle/>
          <a:p>
            <a:endParaRPr lang="en-US"/>
          </a:p>
        </p:txBody>
      </p:sp>
      <p:sp>
        <p:nvSpPr>
          <p:cNvPr id="10" name="Shape 8"/>
          <p:cNvSpPr/>
          <p:nvPr/>
        </p:nvSpPr>
        <p:spPr>
          <a:xfrm>
            <a:off x="457200" y="685800"/>
            <a:ext cx="73152" cy="822960"/>
          </a:xfrm>
          <a:prstGeom prst="rect">
            <a:avLst/>
          </a:prstGeom>
          <a:solidFill>
            <a:srgbClr val="C8102E"/>
          </a:solidFill>
          <a:ln w="12700">
            <a:solidFill>
              <a:srgbClr val="C8102E"/>
            </a:solidFill>
            <a:prstDash val="solid"/>
          </a:ln>
        </p:spPr>
        <p:txBody>
          <a:bodyPr/>
          <a:lstStyle/>
          <a:p>
            <a:endParaRPr lang="en-US"/>
          </a:p>
        </p:txBody>
      </p:sp>
      <p:sp>
        <p:nvSpPr>
          <p:cNvPr id="11" name="Shape 9"/>
          <p:cNvSpPr/>
          <p:nvPr/>
        </p:nvSpPr>
        <p:spPr>
          <a:xfrm>
            <a:off x="731520" y="731520"/>
            <a:ext cx="731520" cy="731520"/>
          </a:xfrm>
          <a:prstGeom prst="ellipse">
            <a:avLst/>
          </a:prstGeom>
          <a:solidFill>
            <a:srgbClr val="001F5B"/>
          </a:solidFill>
          <a:ln w="12700">
            <a:solidFill>
              <a:srgbClr val="001F5B"/>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896112" y="896112"/>
            <a:ext cx="402336" cy="402336"/>
          </a:xfrm>
          <a:prstGeom prst="rect">
            <a:avLst/>
          </a:prstGeom>
        </p:spPr>
      </p:pic>
      <p:sp>
        <p:nvSpPr>
          <p:cNvPr id="13" name="Text 10"/>
          <p:cNvSpPr/>
          <p:nvPr/>
        </p:nvSpPr>
        <p:spPr>
          <a:xfrm>
            <a:off x="1645920" y="658368"/>
            <a:ext cx="9601200" cy="548640"/>
          </a:xfrm>
          <a:prstGeom prst="rect">
            <a:avLst/>
          </a:prstGeom>
          <a:noFill/>
          <a:ln/>
        </p:spPr>
        <p:txBody>
          <a:bodyPr wrap="square" lIns="0" tIns="0" rIns="0" bIns="0" rtlCol="0" anchor="ctr"/>
          <a:lstStyle/>
          <a:p>
            <a:pPr marL="0" indent="0">
              <a:buNone/>
            </a:pPr>
            <a:r>
              <a:rPr lang="en-US" sz="3000" b="1" dirty="0">
                <a:solidFill>
                  <a:srgbClr val="001F5B"/>
                </a:solidFill>
                <a:latin typeface="Georgia" pitchFamily="34" charset="0"/>
                <a:ea typeface="Georgia" pitchFamily="34" charset="-122"/>
                <a:cs typeface="Georgia" pitchFamily="34" charset="-120"/>
              </a:rPr>
              <a:t>Model Selection &amp; Method</a:t>
            </a:r>
            <a:endParaRPr lang="en-US" sz="3000" dirty="0"/>
          </a:p>
        </p:txBody>
      </p:sp>
      <p:sp>
        <p:nvSpPr>
          <p:cNvPr id="14" name="Text 11"/>
          <p:cNvSpPr/>
          <p:nvPr/>
        </p:nvSpPr>
        <p:spPr>
          <a:xfrm>
            <a:off x="1645920" y="1170432"/>
            <a:ext cx="960120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The algorithm, the reasoning, the tooling</a:t>
            </a:r>
            <a:endParaRPr lang="en-US" sz="1200" dirty="0"/>
          </a:p>
        </p:txBody>
      </p:sp>
      <p:sp>
        <p:nvSpPr>
          <p:cNvPr id="15" name="Shape 12"/>
          <p:cNvSpPr/>
          <p:nvPr/>
        </p:nvSpPr>
        <p:spPr>
          <a:xfrm>
            <a:off x="457200" y="1828800"/>
            <a:ext cx="4754880" cy="4389120"/>
          </a:xfrm>
          <a:prstGeom prst="rect">
            <a:avLst/>
          </a:prstGeom>
          <a:solidFill>
            <a:srgbClr val="001F5B"/>
          </a:solidFill>
          <a:ln w="12700">
            <a:solidFill>
              <a:srgbClr val="001F5B"/>
            </a:solidFill>
            <a:prstDash val="solid"/>
          </a:ln>
          <a:effectLst>
            <a:outerShdw blurRad="177800" dist="50800" dir="5400000" algn="bl" rotWithShape="0">
              <a:srgbClr val="000000">
                <a:alpha val="15000"/>
              </a:srgbClr>
            </a:outerShdw>
          </a:effectLst>
        </p:spPr>
        <p:txBody>
          <a:bodyPr/>
          <a:lstStyle/>
          <a:p>
            <a:endParaRPr lang="en-US"/>
          </a:p>
        </p:txBody>
      </p:sp>
      <p:sp>
        <p:nvSpPr>
          <p:cNvPr id="16" name="Shape 13"/>
          <p:cNvSpPr/>
          <p:nvPr/>
        </p:nvSpPr>
        <p:spPr>
          <a:xfrm>
            <a:off x="457200" y="1828800"/>
            <a:ext cx="731520" cy="73152"/>
          </a:xfrm>
          <a:prstGeom prst="rect">
            <a:avLst/>
          </a:prstGeom>
          <a:solidFill>
            <a:srgbClr val="C8102E"/>
          </a:solidFill>
          <a:ln w="12700">
            <a:solidFill>
              <a:srgbClr val="C8102E"/>
            </a:solidFill>
            <a:prstDash val="solid"/>
          </a:ln>
        </p:spPr>
        <p:txBody>
          <a:bodyPr/>
          <a:lstStyle/>
          <a:p>
            <a:endParaRPr lang="en-US"/>
          </a:p>
        </p:txBody>
      </p:sp>
      <p:sp>
        <p:nvSpPr>
          <p:cNvPr id="17" name="Text 14"/>
          <p:cNvSpPr/>
          <p:nvPr/>
        </p:nvSpPr>
        <p:spPr>
          <a:xfrm>
            <a:off x="731520" y="2011680"/>
            <a:ext cx="4297680" cy="320040"/>
          </a:xfrm>
          <a:prstGeom prst="rect">
            <a:avLst/>
          </a:prstGeom>
          <a:noFill/>
          <a:ln/>
        </p:spPr>
        <p:txBody>
          <a:bodyPr wrap="square" lIns="0" tIns="0" rIns="0" bIns="0" rtlCol="0" anchor="ctr"/>
          <a:lstStyle/>
          <a:p>
            <a:pPr marL="0" indent="0">
              <a:buNone/>
            </a:pPr>
            <a:r>
              <a:rPr lang="en-US" sz="1100" b="1" kern="0" spc="400" dirty="0">
                <a:solidFill>
                  <a:srgbClr val="A9B8D4"/>
                </a:solidFill>
                <a:latin typeface="Calibri" pitchFamily="34" charset="0"/>
                <a:ea typeface="Calibri" pitchFamily="34" charset="-122"/>
                <a:cs typeface="Calibri" pitchFamily="34" charset="-120"/>
              </a:rPr>
              <a:t>ALGORITHM</a:t>
            </a:r>
            <a:endParaRPr lang="en-US" sz="1100" dirty="0"/>
          </a:p>
        </p:txBody>
      </p:sp>
      <p:sp>
        <p:nvSpPr>
          <p:cNvPr id="18" name="Text 15"/>
          <p:cNvSpPr/>
          <p:nvPr/>
        </p:nvSpPr>
        <p:spPr>
          <a:xfrm>
            <a:off x="731520" y="2423160"/>
            <a:ext cx="4297680" cy="822960"/>
          </a:xfrm>
          <a:prstGeom prst="rect">
            <a:avLst/>
          </a:prstGeom>
          <a:noFill/>
          <a:ln/>
        </p:spPr>
        <p:txBody>
          <a:bodyPr wrap="square" lIns="0" tIns="0" rIns="0" bIns="0"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Random Forest</a:t>
            </a:r>
            <a:endParaRPr lang="en-US" sz="3400" dirty="0"/>
          </a:p>
        </p:txBody>
      </p:sp>
      <p:sp>
        <p:nvSpPr>
          <p:cNvPr id="19" name="Text 16"/>
          <p:cNvSpPr/>
          <p:nvPr/>
        </p:nvSpPr>
        <p:spPr>
          <a:xfrm>
            <a:off x="731520" y="3246120"/>
            <a:ext cx="4297680" cy="320040"/>
          </a:xfrm>
          <a:prstGeom prst="rect">
            <a:avLst/>
          </a:prstGeom>
          <a:noFill/>
          <a:ln/>
        </p:spPr>
        <p:txBody>
          <a:bodyPr wrap="square" lIns="0" tIns="0" rIns="0" bIns="0" rtlCol="0" anchor="ctr"/>
          <a:lstStyle/>
          <a:p>
            <a:pPr marL="0" indent="0">
              <a:buNone/>
            </a:pPr>
            <a:r>
              <a:rPr lang="en-US" sz="1200" i="1" dirty="0">
                <a:solidFill>
                  <a:srgbClr val="A9B8D4"/>
                </a:solidFill>
                <a:latin typeface="Calibri" pitchFamily="34" charset="0"/>
                <a:ea typeface="Calibri" pitchFamily="34" charset="-122"/>
                <a:cs typeface="Calibri" pitchFamily="34" charset="-120"/>
              </a:rPr>
              <a:t>In comparison, this model had the best performance.</a:t>
            </a:r>
            <a:endParaRPr lang="en-US" sz="1200" dirty="0"/>
          </a:p>
        </p:txBody>
      </p:sp>
      <p:sp>
        <p:nvSpPr>
          <p:cNvPr id="20" name="Shape 17"/>
          <p:cNvSpPr/>
          <p:nvPr/>
        </p:nvSpPr>
        <p:spPr>
          <a:xfrm>
            <a:off x="731520" y="3749040"/>
            <a:ext cx="4297680" cy="0"/>
          </a:xfrm>
          <a:prstGeom prst="line">
            <a:avLst/>
          </a:prstGeom>
          <a:noFill/>
          <a:ln w="25400">
            <a:solidFill>
              <a:srgbClr val="C8102E"/>
            </a:solidFill>
            <a:prstDash val="solid"/>
          </a:ln>
        </p:spPr>
        <p:txBody>
          <a:bodyPr/>
          <a:lstStyle/>
          <a:p>
            <a:endParaRPr lang="en-US"/>
          </a:p>
        </p:txBody>
      </p:sp>
      <p:sp>
        <p:nvSpPr>
          <p:cNvPr id="21" name="Text 18"/>
          <p:cNvSpPr/>
          <p:nvPr/>
        </p:nvSpPr>
        <p:spPr>
          <a:xfrm>
            <a:off x="731520" y="3931920"/>
            <a:ext cx="4297680" cy="274320"/>
          </a:xfrm>
          <a:prstGeom prst="rect">
            <a:avLst/>
          </a:prstGeom>
          <a:noFill/>
          <a:ln/>
        </p:spPr>
        <p:txBody>
          <a:bodyPr wrap="square" lIns="0" tIns="0" rIns="0" bIns="0" rtlCol="0" anchor="ctr"/>
          <a:lstStyle/>
          <a:p>
            <a:pPr marL="0" indent="0">
              <a:buNone/>
            </a:pPr>
            <a:r>
              <a:rPr lang="en-US" sz="1000" b="1" kern="0" spc="300" dirty="0">
                <a:solidFill>
                  <a:srgbClr val="A9B8D4"/>
                </a:solidFill>
                <a:latin typeface="Calibri" pitchFamily="34" charset="0"/>
                <a:ea typeface="Calibri" pitchFamily="34" charset="-122"/>
                <a:cs typeface="Calibri" pitchFamily="34" charset="-120"/>
              </a:rPr>
              <a:t>FAMILY</a:t>
            </a:r>
            <a:endParaRPr lang="en-US" sz="1000" dirty="0"/>
          </a:p>
        </p:txBody>
      </p:sp>
      <p:sp>
        <p:nvSpPr>
          <p:cNvPr id="22" name="Text 19"/>
          <p:cNvSpPr/>
          <p:nvPr/>
        </p:nvSpPr>
        <p:spPr>
          <a:xfrm>
            <a:off x="731520" y="4206240"/>
            <a:ext cx="4297680" cy="3657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Supervised · Ensemble · Tree-based</a:t>
            </a:r>
            <a:endParaRPr lang="en-US" sz="1400" dirty="0"/>
          </a:p>
        </p:txBody>
      </p:sp>
      <p:sp>
        <p:nvSpPr>
          <p:cNvPr id="23" name="Text 20"/>
          <p:cNvSpPr/>
          <p:nvPr/>
        </p:nvSpPr>
        <p:spPr>
          <a:xfrm>
            <a:off x="731520" y="4754880"/>
            <a:ext cx="4297680" cy="274320"/>
          </a:xfrm>
          <a:prstGeom prst="rect">
            <a:avLst/>
          </a:prstGeom>
          <a:noFill/>
          <a:ln/>
        </p:spPr>
        <p:txBody>
          <a:bodyPr wrap="square" lIns="0" tIns="0" rIns="0" bIns="0" rtlCol="0" anchor="ctr"/>
          <a:lstStyle/>
          <a:p>
            <a:pPr marL="0" indent="0">
              <a:buNone/>
            </a:pPr>
            <a:r>
              <a:rPr lang="en-US" sz="1000" b="1" kern="0" spc="300" dirty="0">
                <a:solidFill>
                  <a:srgbClr val="A9B8D4"/>
                </a:solidFill>
                <a:latin typeface="Calibri" pitchFamily="34" charset="0"/>
                <a:ea typeface="Calibri" pitchFamily="34" charset="-122"/>
                <a:cs typeface="Calibri" pitchFamily="34" charset="-120"/>
              </a:rPr>
              <a:t>ALTERNATIVES CONSIDERED</a:t>
            </a:r>
            <a:endParaRPr lang="en-US" sz="1000" dirty="0"/>
          </a:p>
        </p:txBody>
      </p:sp>
      <p:sp>
        <p:nvSpPr>
          <p:cNvPr id="24" name="Text 21"/>
          <p:cNvSpPr/>
          <p:nvPr/>
        </p:nvSpPr>
        <p:spPr>
          <a:xfrm>
            <a:off x="731520" y="5029200"/>
            <a:ext cx="4297680" cy="365760"/>
          </a:xfrm>
          <a:prstGeom prst="rect">
            <a:avLst/>
          </a:prstGeom>
          <a:noFill/>
          <a:ln/>
        </p:spPr>
        <p:txBody>
          <a:bodyPr wrap="square" lIns="0" tIns="0" rIns="0" bIns="0"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Logistic Regression · XGBoost · SVM </a:t>
            </a:r>
            <a:endParaRPr lang="en-US" sz="1400" dirty="0"/>
          </a:p>
        </p:txBody>
      </p:sp>
      <p:sp>
        <p:nvSpPr>
          <p:cNvPr id="25" name="Shape 22"/>
          <p:cNvSpPr/>
          <p:nvPr/>
        </p:nvSpPr>
        <p:spPr>
          <a:xfrm>
            <a:off x="5577840" y="1828800"/>
            <a:ext cx="6126480" cy="2103120"/>
          </a:xfrm>
          <a:prstGeom prst="rect">
            <a:avLst/>
          </a:prstGeom>
          <a:solidFill>
            <a:srgbClr val="F7F8FB"/>
          </a:solidFill>
          <a:ln w="9525">
            <a:solidFill>
              <a:srgbClr val="E5E7EB"/>
            </a:solidFill>
            <a:prstDash val="solid"/>
          </a:ln>
        </p:spPr>
        <p:txBody>
          <a:bodyPr/>
          <a:lstStyle/>
          <a:p>
            <a:endParaRPr lang="en-US"/>
          </a:p>
        </p:txBody>
      </p:sp>
      <p:sp>
        <p:nvSpPr>
          <p:cNvPr id="26" name="Shape 23"/>
          <p:cNvSpPr/>
          <p:nvPr/>
        </p:nvSpPr>
        <p:spPr>
          <a:xfrm>
            <a:off x="5577840" y="1828800"/>
            <a:ext cx="91440" cy="2103120"/>
          </a:xfrm>
          <a:prstGeom prst="rect">
            <a:avLst/>
          </a:prstGeom>
          <a:solidFill>
            <a:srgbClr val="C8102E"/>
          </a:solidFill>
          <a:ln w="12700">
            <a:solidFill>
              <a:srgbClr val="C8102E"/>
            </a:solidFill>
            <a:prstDash val="solid"/>
          </a:ln>
        </p:spPr>
        <p:txBody>
          <a:bodyPr/>
          <a:lstStyle/>
          <a:p>
            <a:endParaRPr lang="en-US"/>
          </a:p>
        </p:txBody>
      </p:sp>
      <p:sp>
        <p:nvSpPr>
          <p:cNvPr id="28" name="Text 24"/>
          <p:cNvSpPr/>
          <p:nvPr/>
        </p:nvSpPr>
        <p:spPr>
          <a:xfrm>
            <a:off x="6629400" y="2103120"/>
            <a:ext cx="4937760" cy="457200"/>
          </a:xfrm>
          <a:prstGeom prst="rect">
            <a:avLst/>
          </a:prstGeom>
          <a:noFill/>
          <a:ln/>
        </p:spPr>
        <p:txBody>
          <a:bodyPr wrap="square" lIns="0" tIns="0" rIns="0" bIns="0" rtlCol="0" anchor="ctr"/>
          <a:lstStyle/>
          <a:p>
            <a:pPr marL="0" indent="0">
              <a:buNone/>
            </a:pPr>
            <a:r>
              <a:rPr lang="en-US" sz="1800" b="1" dirty="0">
                <a:solidFill>
                  <a:srgbClr val="001F5B"/>
                </a:solidFill>
                <a:latin typeface="Calibri" pitchFamily="34" charset="0"/>
                <a:ea typeface="Calibri" pitchFamily="34" charset="-122"/>
                <a:cs typeface="Calibri" pitchFamily="34" charset="-120"/>
              </a:rPr>
              <a:t>Why This Choice?</a:t>
            </a:r>
            <a:endParaRPr lang="en-US" sz="1800" dirty="0"/>
          </a:p>
        </p:txBody>
      </p:sp>
      <p:sp>
        <p:nvSpPr>
          <p:cNvPr id="29" name="Text 25"/>
          <p:cNvSpPr/>
          <p:nvPr/>
        </p:nvSpPr>
        <p:spPr>
          <a:xfrm>
            <a:off x="5897880" y="2834640"/>
            <a:ext cx="5486400" cy="100584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Strong baseline · handles mixed feature types · captures non-linearities · good for explainable AI (feature importance, SHAP).</a:t>
            </a:r>
            <a:endParaRPr lang="en-US" sz="1300" dirty="0"/>
          </a:p>
        </p:txBody>
      </p:sp>
      <p:sp>
        <p:nvSpPr>
          <p:cNvPr id="30" name="Shape 26"/>
          <p:cNvSpPr/>
          <p:nvPr/>
        </p:nvSpPr>
        <p:spPr>
          <a:xfrm>
            <a:off x="5577840" y="4114800"/>
            <a:ext cx="6126480" cy="2103120"/>
          </a:xfrm>
          <a:prstGeom prst="rect">
            <a:avLst/>
          </a:prstGeom>
          <a:solidFill>
            <a:srgbClr val="F7F8FB"/>
          </a:solidFill>
          <a:ln w="9525">
            <a:solidFill>
              <a:srgbClr val="E5E7EB"/>
            </a:solidFill>
            <a:prstDash val="solid"/>
          </a:ln>
        </p:spPr>
        <p:txBody>
          <a:bodyPr/>
          <a:lstStyle/>
          <a:p>
            <a:endParaRPr lang="en-US"/>
          </a:p>
        </p:txBody>
      </p:sp>
      <p:sp>
        <p:nvSpPr>
          <p:cNvPr id="31" name="Shape 27"/>
          <p:cNvSpPr/>
          <p:nvPr/>
        </p:nvSpPr>
        <p:spPr>
          <a:xfrm>
            <a:off x="5577840" y="4114800"/>
            <a:ext cx="91440" cy="2103120"/>
          </a:xfrm>
          <a:prstGeom prst="rect">
            <a:avLst/>
          </a:prstGeom>
          <a:solidFill>
            <a:srgbClr val="C8102E"/>
          </a:solidFill>
          <a:ln w="12700">
            <a:solidFill>
              <a:srgbClr val="C8102E"/>
            </a:solidFill>
            <a:prstDash val="solid"/>
          </a:ln>
        </p:spPr>
        <p:txBody>
          <a:bodyPr/>
          <a:lstStyle/>
          <a:p>
            <a:endParaRPr lang="en-US"/>
          </a:p>
        </p:txBody>
      </p:sp>
      <p:pic>
        <p:nvPicPr>
          <p:cNvPr id="32" name="Image 2" descr="preencoded.png"/>
          <p:cNvPicPr>
            <a:picLocks noChangeAspect="1"/>
          </p:cNvPicPr>
          <p:nvPr/>
        </p:nvPicPr>
        <p:blipFill>
          <a:blip r:embed="rId4"/>
          <a:stretch>
            <a:fillRect/>
          </a:stretch>
        </p:blipFill>
        <p:spPr>
          <a:xfrm>
            <a:off x="5897880" y="4434840"/>
            <a:ext cx="548640" cy="548640"/>
          </a:xfrm>
          <a:prstGeom prst="rect">
            <a:avLst/>
          </a:prstGeom>
        </p:spPr>
      </p:pic>
      <p:sp>
        <p:nvSpPr>
          <p:cNvPr id="33" name="Text 28"/>
          <p:cNvSpPr/>
          <p:nvPr/>
        </p:nvSpPr>
        <p:spPr>
          <a:xfrm>
            <a:off x="6629400" y="4389120"/>
            <a:ext cx="4937760" cy="457200"/>
          </a:xfrm>
          <a:prstGeom prst="rect">
            <a:avLst/>
          </a:prstGeom>
          <a:noFill/>
          <a:ln/>
        </p:spPr>
        <p:txBody>
          <a:bodyPr wrap="square" lIns="0" tIns="0" rIns="0" bIns="0" rtlCol="0" anchor="ctr"/>
          <a:lstStyle/>
          <a:p>
            <a:pPr marL="0" indent="0">
              <a:buNone/>
            </a:pPr>
            <a:r>
              <a:rPr lang="en-US" sz="1800" b="1" dirty="0">
                <a:solidFill>
                  <a:srgbClr val="001F5B"/>
                </a:solidFill>
                <a:latin typeface="Calibri" pitchFamily="34" charset="0"/>
                <a:ea typeface="Calibri" pitchFamily="34" charset="-122"/>
                <a:cs typeface="Calibri" pitchFamily="34" charset="-120"/>
              </a:rPr>
              <a:t>Tools &amp; Libraries</a:t>
            </a:r>
            <a:endParaRPr lang="en-US" sz="1800" dirty="0"/>
          </a:p>
        </p:txBody>
      </p:sp>
      <p:sp>
        <p:nvSpPr>
          <p:cNvPr id="34" name="Shape 29"/>
          <p:cNvSpPr/>
          <p:nvPr/>
        </p:nvSpPr>
        <p:spPr>
          <a:xfrm>
            <a:off x="5897880" y="5257800"/>
            <a:ext cx="1060704" cy="411480"/>
          </a:xfrm>
          <a:prstGeom prst="roundRect">
            <a:avLst>
              <a:gd name="adj" fmla="val 22222"/>
            </a:avLst>
          </a:prstGeom>
          <a:solidFill>
            <a:srgbClr val="FFFFFF"/>
          </a:solidFill>
          <a:ln w="12700">
            <a:solidFill>
              <a:srgbClr val="001F5B"/>
            </a:solidFill>
            <a:prstDash val="solid"/>
          </a:ln>
        </p:spPr>
        <p:txBody>
          <a:bodyPr/>
          <a:lstStyle/>
          <a:p>
            <a:endParaRPr lang="en-US"/>
          </a:p>
        </p:txBody>
      </p:sp>
      <p:sp>
        <p:nvSpPr>
          <p:cNvPr id="35" name="Text 30"/>
          <p:cNvSpPr/>
          <p:nvPr/>
        </p:nvSpPr>
        <p:spPr>
          <a:xfrm>
            <a:off x="5897880" y="5257800"/>
            <a:ext cx="1060704" cy="411480"/>
          </a:xfrm>
          <a:prstGeom prst="rect">
            <a:avLst/>
          </a:prstGeom>
          <a:noFill/>
          <a:ln/>
        </p:spPr>
        <p:txBody>
          <a:bodyPr wrap="square" lIns="0" tIns="0" rIns="0" bIns="0" rtlCol="0" anchor="ctr"/>
          <a:lstStyle/>
          <a:p>
            <a:pPr marL="0" indent="0" algn="ctr">
              <a:buNone/>
            </a:pPr>
            <a:r>
              <a:rPr lang="en-US" sz="1100" b="1" dirty="0">
                <a:solidFill>
                  <a:srgbClr val="001F5B"/>
                </a:solidFill>
                <a:latin typeface="Consolas" pitchFamily="34" charset="0"/>
                <a:ea typeface="Consolas" pitchFamily="34" charset="-122"/>
                <a:cs typeface="Consolas" pitchFamily="34" charset="-120"/>
              </a:rPr>
              <a:t>PyCaret</a:t>
            </a:r>
            <a:endParaRPr lang="en-US" sz="1100" dirty="0"/>
          </a:p>
        </p:txBody>
      </p:sp>
      <p:sp>
        <p:nvSpPr>
          <p:cNvPr id="36" name="Shape 31"/>
          <p:cNvSpPr/>
          <p:nvPr/>
        </p:nvSpPr>
        <p:spPr>
          <a:xfrm>
            <a:off x="7068312" y="5257800"/>
            <a:ext cx="1655064" cy="411480"/>
          </a:xfrm>
          <a:prstGeom prst="roundRect">
            <a:avLst>
              <a:gd name="adj" fmla="val 22222"/>
            </a:avLst>
          </a:prstGeom>
          <a:solidFill>
            <a:srgbClr val="FFFFFF"/>
          </a:solidFill>
          <a:ln w="12700">
            <a:solidFill>
              <a:srgbClr val="001F5B"/>
            </a:solidFill>
            <a:prstDash val="solid"/>
          </a:ln>
        </p:spPr>
        <p:txBody>
          <a:bodyPr/>
          <a:lstStyle/>
          <a:p>
            <a:endParaRPr lang="en-US"/>
          </a:p>
        </p:txBody>
      </p:sp>
      <p:sp>
        <p:nvSpPr>
          <p:cNvPr id="37" name="Text 32"/>
          <p:cNvSpPr/>
          <p:nvPr/>
        </p:nvSpPr>
        <p:spPr>
          <a:xfrm>
            <a:off x="7068312" y="5257800"/>
            <a:ext cx="1655064" cy="411480"/>
          </a:xfrm>
          <a:prstGeom prst="rect">
            <a:avLst/>
          </a:prstGeom>
          <a:noFill/>
          <a:ln/>
        </p:spPr>
        <p:txBody>
          <a:bodyPr wrap="square" lIns="0" tIns="0" rIns="0" bIns="0" rtlCol="0" anchor="ctr"/>
          <a:lstStyle/>
          <a:p>
            <a:pPr marL="0" indent="0" algn="ctr">
              <a:buNone/>
            </a:pPr>
            <a:r>
              <a:rPr lang="en-US" sz="1100" b="1" dirty="0">
                <a:solidFill>
                  <a:srgbClr val="001F5B"/>
                </a:solidFill>
                <a:latin typeface="Consolas" pitchFamily="34" charset="0"/>
                <a:ea typeface="Consolas" pitchFamily="34" charset="-122"/>
                <a:cs typeface="Consolas" pitchFamily="34" charset="-120"/>
              </a:rPr>
              <a:t>scikit-learn</a:t>
            </a:r>
            <a:endParaRPr lang="en-US" sz="1100" dirty="0"/>
          </a:p>
        </p:txBody>
      </p:sp>
      <p:sp>
        <p:nvSpPr>
          <p:cNvPr id="38" name="Shape 33"/>
          <p:cNvSpPr/>
          <p:nvPr/>
        </p:nvSpPr>
        <p:spPr>
          <a:xfrm>
            <a:off x="8833104" y="5257800"/>
            <a:ext cx="941832" cy="411480"/>
          </a:xfrm>
          <a:prstGeom prst="roundRect">
            <a:avLst>
              <a:gd name="adj" fmla="val 22222"/>
            </a:avLst>
          </a:prstGeom>
          <a:solidFill>
            <a:srgbClr val="FFFFFF"/>
          </a:solidFill>
          <a:ln w="12700">
            <a:solidFill>
              <a:srgbClr val="001F5B"/>
            </a:solidFill>
            <a:prstDash val="solid"/>
          </a:ln>
        </p:spPr>
        <p:txBody>
          <a:bodyPr/>
          <a:lstStyle/>
          <a:p>
            <a:endParaRPr lang="en-US"/>
          </a:p>
        </p:txBody>
      </p:sp>
      <p:sp>
        <p:nvSpPr>
          <p:cNvPr id="39" name="Text 34"/>
          <p:cNvSpPr/>
          <p:nvPr/>
        </p:nvSpPr>
        <p:spPr>
          <a:xfrm>
            <a:off x="8833104" y="5257800"/>
            <a:ext cx="941832" cy="411480"/>
          </a:xfrm>
          <a:prstGeom prst="rect">
            <a:avLst/>
          </a:prstGeom>
          <a:noFill/>
          <a:ln/>
        </p:spPr>
        <p:txBody>
          <a:bodyPr wrap="square" lIns="0" tIns="0" rIns="0" bIns="0" rtlCol="0" anchor="ctr"/>
          <a:lstStyle/>
          <a:p>
            <a:pPr marL="0" indent="0" algn="ctr">
              <a:buNone/>
            </a:pPr>
            <a:r>
              <a:rPr lang="en-US" sz="1100" b="1" dirty="0">
                <a:solidFill>
                  <a:srgbClr val="001F5B"/>
                </a:solidFill>
                <a:latin typeface="Consolas" pitchFamily="34" charset="0"/>
                <a:ea typeface="Consolas" pitchFamily="34" charset="-122"/>
                <a:cs typeface="Consolas" pitchFamily="34" charset="-120"/>
              </a:rPr>
              <a:t>pandas</a:t>
            </a:r>
            <a:endParaRPr lang="en-US" sz="1100" dirty="0"/>
          </a:p>
        </p:txBody>
      </p:sp>
      <p:sp>
        <p:nvSpPr>
          <p:cNvPr id="40" name="Shape 35"/>
          <p:cNvSpPr/>
          <p:nvPr/>
        </p:nvSpPr>
        <p:spPr>
          <a:xfrm>
            <a:off x="9884664" y="5257800"/>
            <a:ext cx="1417320" cy="411480"/>
          </a:xfrm>
          <a:prstGeom prst="roundRect">
            <a:avLst>
              <a:gd name="adj" fmla="val 22222"/>
            </a:avLst>
          </a:prstGeom>
          <a:solidFill>
            <a:srgbClr val="FFFFFF"/>
          </a:solidFill>
          <a:ln w="12700">
            <a:solidFill>
              <a:srgbClr val="001F5B"/>
            </a:solidFill>
            <a:prstDash val="solid"/>
          </a:ln>
        </p:spPr>
        <p:txBody>
          <a:bodyPr/>
          <a:lstStyle/>
          <a:p>
            <a:endParaRPr lang="en-US"/>
          </a:p>
        </p:txBody>
      </p:sp>
      <p:sp>
        <p:nvSpPr>
          <p:cNvPr id="41" name="Text 36"/>
          <p:cNvSpPr/>
          <p:nvPr/>
        </p:nvSpPr>
        <p:spPr>
          <a:xfrm>
            <a:off x="9884664" y="5257800"/>
            <a:ext cx="1417320" cy="411480"/>
          </a:xfrm>
          <a:prstGeom prst="rect">
            <a:avLst/>
          </a:prstGeom>
          <a:noFill/>
          <a:ln/>
        </p:spPr>
        <p:txBody>
          <a:bodyPr wrap="square" lIns="0" tIns="0" rIns="0" bIns="0" rtlCol="0" anchor="ctr"/>
          <a:lstStyle/>
          <a:p>
            <a:pPr marL="0" indent="0" algn="ctr">
              <a:buNone/>
            </a:pPr>
            <a:r>
              <a:rPr lang="en-US" sz="1100" b="1" dirty="0">
                <a:solidFill>
                  <a:srgbClr val="001F5B"/>
                </a:solidFill>
                <a:latin typeface="Consolas" pitchFamily="34" charset="0"/>
                <a:ea typeface="Consolas" pitchFamily="34" charset="-122"/>
                <a:cs typeface="Consolas" pitchFamily="34" charset="-120"/>
              </a:rPr>
              <a:t>matplotlib</a:t>
            </a:r>
            <a:endParaRPr lang="en-US" sz="1100" dirty="0"/>
          </a:p>
        </p:txBody>
      </p:sp>
      <p:sp>
        <p:nvSpPr>
          <p:cNvPr id="42" name="Shape 37"/>
          <p:cNvSpPr/>
          <p:nvPr/>
        </p:nvSpPr>
        <p:spPr>
          <a:xfrm>
            <a:off x="11411712" y="5257800"/>
            <a:ext cx="704088" cy="411480"/>
          </a:xfrm>
          <a:prstGeom prst="roundRect">
            <a:avLst>
              <a:gd name="adj" fmla="val 22222"/>
            </a:avLst>
          </a:prstGeom>
          <a:solidFill>
            <a:srgbClr val="FFFFFF"/>
          </a:solidFill>
          <a:ln w="12700">
            <a:solidFill>
              <a:srgbClr val="001F5B"/>
            </a:solidFill>
            <a:prstDash val="solid"/>
          </a:ln>
        </p:spPr>
        <p:txBody>
          <a:bodyPr/>
          <a:lstStyle/>
          <a:p>
            <a:endParaRPr lang="en-US"/>
          </a:p>
        </p:txBody>
      </p:sp>
      <p:sp>
        <p:nvSpPr>
          <p:cNvPr id="43" name="Text 38"/>
          <p:cNvSpPr/>
          <p:nvPr/>
        </p:nvSpPr>
        <p:spPr>
          <a:xfrm>
            <a:off x="11411712" y="5257800"/>
            <a:ext cx="704088" cy="411480"/>
          </a:xfrm>
          <a:prstGeom prst="rect">
            <a:avLst/>
          </a:prstGeom>
          <a:noFill/>
          <a:ln/>
        </p:spPr>
        <p:txBody>
          <a:bodyPr wrap="square" lIns="0" tIns="0" rIns="0" bIns="0" rtlCol="0" anchor="ctr"/>
          <a:lstStyle/>
          <a:p>
            <a:pPr marL="0" indent="0" algn="ctr">
              <a:buNone/>
            </a:pPr>
            <a:r>
              <a:rPr lang="en-US" sz="1100" b="1" dirty="0">
                <a:solidFill>
                  <a:srgbClr val="001F5B"/>
                </a:solidFill>
                <a:latin typeface="Consolas" pitchFamily="34" charset="0"/>
                <a:ea typeface="Consolas" pitchFamily="34" charset="-122"/>
                <a:cs typeface="Consolas" pitchFamily="34" charset="-120"/>
              </a:rPr>
              <a:t>SHAP</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01F5B"/>
          </a:solidFill>
          <a:ln w="12700">
            <a:solidFill>
              <a:srgbClr val="001F5B"/>
            </a:solidFill>
            <a:prstDash val="solid"/>
          </a:ln>
        </p:spPr>
        <p:txBody>
          <a:bodyPr/>
          <a:lstStyle/>
          <a:p>
            <a:endParaRPr lang="en-US"/>
          </a:p>
        </p:txBody>
      </p:sp>
      <p:sp>
        <p:nvSpPr>
          <p:cNvPr id="3" name="Shape 1"/>
          <p:cNvSpPr/>
          <p:nvPr/>
        </p:nvSpPr>
        <p:spPr>
          <a:xfrm>
            <a:off x="0" y="0"/>
            <a:ext cx="320040" cy="320040"/>
          </a:xfrm>
          <a:prstGeom prst="rect">
            <a:avLst/>
          </a:prstGeom>
          <a:solidFill>
            <a:srgbClr val="C8102E"/>
          </a:solidFill>
          <a:ln w="12700">
            <a:solidFill>
              <a:srgbClr val="C8102E"/>
            </a:solidFill>
            <a:prstDash val="solid"/>
          </a:ln>
        </p:spPr>
        <p:txBody>
          <a:bodyPr/>
          <a:lstStyle/>
          <a:p>
            <a:endParaRPr lang="en-US"/>
          </a:p>
        </p:txBody>
      </p:sp>
      <p:sp>
        <p:nvSpPr>
          <p:cNvPr id="4" name="Text 2"/>
          <p:cNvSpPr/>
          <p:nvPr/>
        </p:nvSpPr>
        <p:spPr>
          <a:xfrm>
            <a:off x="457200" y="0"/>
            <a:ext cx="2743200" cy="320040"/>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CATAWBA COLLEGE</a:t>
            </a:r>
            <a:endParaRPr lang="en-US" sz="900" dirty="0"/>
          </a:p>
        </p:txBody>
      </p:sp>
      <p:sp>
        <p:nvSpPr>
          <p:cNvPr id="5" name="Text 3"/>
          <p:cNvSpPr/>
          <p:nvPr/>
        </p:nvSpPr>
        <p:spPr>
          <a:xfrm>
            <a:off x="8076895" y="0"/>
            <a:ext cx="3657600" cy="320040"/>
          </a:xfrm>
          <a:prstGeom prst="rect">
            <a:avLst/>
          </a:prstGeom>
          <a:noFill/>
          <a:ln/>
        </p:spPr>
        <p:txBody>
          <a:bodyPr wrap="square" lIns="0" tIns="0" rIns="0" bIns="0"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06 · EVALUATION</a:t>
            </a:r>
            <a:endParaRPr lang="en-US" sz="900" dirty="0"/>
          </a:p>
        </p:txBody>
      </p:sp>
      <p:sp>
        <p:nvSpPr>
          <p:cNvPr id="6" name="Shape 4"/>
          <p:cNvSpPr/>
          <p:nvPr/>
        </p:nvSpPr>
        <p:spPr>
          <a:xfrm>
            <a:off x="457200" y="6492240"/>
            <a:ext cx="11277295" cy="0"/>
          </a:xfrm>
          <a:prstGeom prst="line">
            <a:avLst/>
          </a:prstGeom>
          <a:noFill/>
          <a:ln w="9525">
            <a:solidFill>
              <a:srgbClr val="E5E7EB"/>
            </a:solidFill>
            <a:prstDash val="solid"/>
          </a:ln>
        </p:spPr>
        <p:txBody>
          <a:bodyPr/>
          <a:lstStyle/>
          <a:p>
            <a:endParaRPr lang="en-US"/>
          </a:p>
        </p:txBody>
      </p:sp>
      <p:sp>
        <p:nvSpPr>
          <p:cNvPr id="7" name="Text 5"/>
          <p:cNvSpPr/>
          <p:nvPr/>
        </p:nvSpPr>
        <p:spPr>
          <a:xfrm>
            <a:off x="457200" y="6537960"/>
            <a:ext cx="457200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Data Mining · Final Project</a:t>
            </a:r>
            <a:endParaRPr lang="en-US" sz="900" dirty="0"/>
          </a:p>
        </p:txBody>
      </p:sp>
      <p:sp>
        <p:nvSpPr>
          <p:cNvPr id="8" name="Text 6"/>
          <p:cNvSpPr/>
          <p:nvPr/>
        </p:nvSpPr>
        <p:spPr>
          <a:xfrm>
            <a:off x="10362895" y="6537960"/>
            <a:ext cx="13716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  /  10</a:t>
            </a:r>
            <a:endParaRPr lang="en-US" sz="900" dirty="0"/>
          </a:p>
        </p:txBody>
      </p:sp>
      <p:sp>
        <p:nvSpPr>
          <p:cNvPr id="9" name="Shape 7"/>
          <p:cNvSpPr/>
          <p:nvPr/>
        </p:nvSpPr>
        <p:spPr>
          <a:xfrm>
            <a:off x="10042849" y="6400800"/>
            <a:ext cx="228600" cy="36576"/>
          </a:xfrm>
          <a:prstGeom prst="rect">
            <a:avLst/>
          </a:prstGeom>
          <a:solidFill>
            <a:srgbClr val="C8102E"/>
          </a:solidFill>
          <a:ln w="12700">
            <a:solidFill>
              <a:srgbClr val="C8102E"/>
            </a:solidFill>
            <a:prstDash val="solid"/>
          </a:ln>
        </p:spPr>
        <p:txBody>
          <a:bodyPr/>
          <a:lstStyle/>
          <a:p>
            <a:endParaRPr lang="en-US"/>
          </a:p>
        </p:txBody>
      </p:sp>
      <p:sp>
        <p:nvSpPr>
          <p:cNvPr id="10" name="Shape 8"/>
          <p:cNvSpPr/>
          <p:nvPr/>
        </p:nvSpPr>
        <p:spPr>
          <a:xfrm>
            <a:off x="457200" y="685800"/>
            <a:ext cx="73152" cy="822960"/>
          </a:xfrm>
          <a:prstGeom prst="rect">
            <a:avLst/>
          </a:prstGeom>
          <a:solidFill>
            <a:srgbClr val="C8102E"/>
          </a:solidFill>
          <a:ln w="12700">
            <a:solidFill>
              <a:srgbClr val="C8102E"/>
            </a:solidFill>
            <a:prstDash val="solid"/>
          </a:ln>
        </p:spPr>
        <p:txBody>
          <a:bodyPr/>
          <a:lstStyle/>
          <a:p>
            <a:endParaRPr lang="en-US"/>
          </a:p>
        </p:txBody>
      </p:sp>
      <p:sp>
        <p:nvSpPr>
          <p:cNvPr id="11" name="Shape 9"/>
          <p:cNvSpPr/>
          <p:nvPr/>
        </p:nvSpPr>
        <p:spPr>
          <a:xfrm>
            <a:off x="731520" y="731520"/>
            <a:ext cx="731520" cy="731520"/>
          </a:xfrm>
          <a:prstGeom prst="ellipse">
            <a:avLst/>
          </a:prstGeom>
          <a:solidFill>
            <a:srgbClr val="001F5B"/>
          </a:solidFill>
          <a:ln w="12700">
            <a:solidFill>
              <a:srgbClr val="001F5B"/>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896112" y="896112"/>
            <a:ext cx="402336" cy="402336"/>
          </a:xfrm>
          <a:prstGeom prst="rect">
            <a:avLst/>
          </a:prstGeom>
        </p:spPr>
      </p:pic>
      <p:sp>
        <p:nvSpPr>
          <p:cNvPr id="13" name="Text 10"/>
          <p:cNvSpPr/>
          <p:nvPr/>
        </p:nvSpPr>
        <p:spPr>
          <a:xfrm>
            <a:off x="1645920" y="658368"/>
            <a:ext cx="9601200" cy="548640"/>
          </a:xfrm>
          <a:prstGeom prst="rect">
            <a:avLst/>
          </a:prstGeom>
          <a:noFill/>
          <a:ln/>
        </p:spPr>
        <p:txBody>
          <a:bodyPr wrap="square" lIns="0" tIns="0" rIns="0" bIns="0" rtlCol="0" anchor="ctr"/>
          <a:lstStyle/>
          <a:p>
            <a:pPr marL="0" indent="0">
              <a:buNone/>
            </a:pPr>
            <a:r>
              <a:rPr lang="en-US" sz="3000" b="1" dirty="0">
                <a:solidFill>
                  <a:srgbClr val="001F5B"/>
                </a:solidFill>
                <a:latin typeface="Georgia" pitchFamily="34" charset="0"/>
                <a:ea typeface="Georgia" pitchFamily="34" charset="-122"/>
                <a:cs typeface="Georgia" pitchFamily="34" charset="-120"/>
              </a:rPr>
              <a:t>Model Evaluation &amp; Tuning</a:t>
            </a:r>
            <a:endParaRPr lang="en-US" sz="3000" dirty="0"/>
          </a:p>
        </p:txBody>
      </p:sp>
      <p:sp>
        <p:nvSpPr>
          <p:cNvPr id="14" name="Text 11"/>
          <p:cNvSpPr/>
          <p:nvPr/>
        </p:nvSpPr>
        <p:spPr>
          <a:xfrm>
            <a:off x="1645920" y="1170432"/>
            <a:ext cx="960120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How well it works — and how you made it better</a:t>
            </a:r>
            <a:endParaRPr lang="en-US" sz="1200" dirty="0"/>
          </a:p>
        </p:txBody>
      </p:sp>
      <p:sp>
        <p:nvSpPr>
          <p:cNvPr id="15" name="Shape 12"/>
          <p:cNvSpPr/>
          <p:nvPr/>
        </p:nvSpPr>
        <p:spPr>
          <a:xfrm>
            <a:off x="457200" y="1828800"/>
            <a:ext cx="2377440" cy="1828800"/>
          </a:xfrm>
          <a:prstGeom prst="rect">
            <a:avLst/>
          </a:prstGeom>
          <a:solidFill>
            <a:srgbClr val="F7F8FB"/>
          </a:solidFill>
          <a:ln w="9525">
            <a:solidFill>
              <a:srgbClr val="E5E7EB"/>
            </a:solidFill>
            <a:prstDash val="solid"/>
          </a:ln>
          <a:effectLst>
            <a:outerShdw blurRad="127000" dist="38100" dir="5400000" algn="bl" rotWithShape="0">
              <a:srgbClr val="000000">
                <a:alpha val="10000"/>
              </a:srgbClr>
            </a:outerShdw>
          </a:effectLst>
        </p:spPr>
        <p:txBody>
          <a:bodyPr/>
          <a:lstStyle/>
          <a:p>
            <a:endParaRPr lang="en-US"/>
          </a:p>
        </p:txBody>
      </p:sp>
      <p:sp>
        <p:nvSpPr>
          <p:cNvPr id="16" name="Shape 13"/>
          <p:cNvSpPr/>
          <p:nvPr/>
        </p:nvSpPr>
        <p:spPr>
          <a:xfrm>
            <a:off x="457200" y="1828800"/>
            <a:ext cx="2377440" cy="91440"/>
          </a:xfrm>
          <a:prstGeom prst="rect">
            <a:avLst/>
          </a:prstGeom>
          <a:solidFill>
            <a:srgbClr val="C8102E"/>
          </a:solidFill>
          <a:ln w="12700">
            <a:solidFill>
              <a:srgbClr val="C8102E"/>
            </a:solidFill>
            <a:prstDash val="solid"/>
          </a:ln>
        </p:spPr>
        <p:txBody>
          <a:bodyPr/>
          <a:lstStyle/>
          <a:p>
            <a:endParaRPr lang="en-US"/>
          </a:p>
        </p:txBody>
      </p:sp>
      <p:sp>
        <p:nvSpPr>
          <p:cNvPr id="17" name="Text 14"/>
          <p:cNvSpPr/>
          <p:nvPr/>
        </p:nvSpPr>
        <p:spPr>
          <a:xfrm>
            <a:off x="457200" y="2011680"/>
            <a:ext cx="2377440" cy="914400"/>
          </a:xfrm>
          <a:prstGeom prst="rect">
            <a:avLst/>
          </a:prstGeom>
          <a:noFill/>
          <a:ln/>
        </p:spPr>
        <p:txBody>
          <a:bodyPr wrap="square" lIns="0" tIns="0" rIns="0" bIns="0" rtlCol="0" anchor="ctr"/>
          <a:lstStyle/>
          <a:p>
            <a:pPr marL="0" indent="0" algn="ctr">
              <a:buNone/>
            </a:pPr>
            <a:r>
              <a:rPr lang="en-US" sz="4400" b="1" dirty="0">
                <a:solidFill>
                  <a:srgbClr val="001F5B"/>
                </a:solidFill>
                <a:latin typeface="Georgia" pitchFamily="34" charset="0"/>
                <a:ea typeface="Georgia" pitchFamily="34" charset="-122"/>
                <a:cs typeface="Georgia" pitchFamily="34" charset="-120"/>
              </a:rPr>
              <a:t>0.99</a:t>
            </a:r>
            <a:endParaRPr lang="en-US" sz="4400" dirty="0"/>
          </a:p>
        </p:txBody>
      </p:sp>
      <p:sp>
        <p:nvSpPr>
          <p:cNvPr id="18" name="Text 15"/>
          <p:cNvSpPr/>
          <p:nvPr/>
        </p:nvSpPr>
        <p:spPr>
          <a:xfrm>
            <a:off x="457200" y="2926080"/>
            <a:ext cx="2377440" cy="292608"/>
          </a:xfrm>
          <a:prstGeom prst="rect">
            <a:avLst/>
          </a:prstGeom>
          <a:noFill/>
          <a:ln/>
        </p:spPr>
        <p:txBody>
          <a:bodyPr wrap="square" lIns="0" tIns="0" rIns="0" bIns="0" rtlCol="0" anchor="ctr"/>
          <a:lstStyle/>
          <a:p>
            <a:pPr marL="0" indent="0" algn="ctr">
              <a:buNone/>
            </a:pPr>
            <a:r>
              <a:rPr lang="en-US" sz="1200" b="1" kern="0" spc="300" dirty="0">
                <a:solidFill>
                  <a:srgbClr val="001F5B"/>
                </a:solidFill>
                <a:latin typeface="Calibri" pitchFamily="34" charset="0"/>
                <a:ea typeface="Calibri" pitchFamily="34" charset="-122"/>
                <a:cs typeface="Calibri" pitchFamily="34" charset="-120"/>
              </a:rPr>
              <a:t>ACCURACY</a:t>
            </a:r>
            <a:endParaRPr lang="en-US" sz="1200" dirty="0"/>
          </a:p>
        </p:txBody>
      </p:sp>
      <p:sp>
        <p:nvSpPr>
          <p:cNvPr id="19" name="Text 16"/>
          <p:cNvSpPr/>
          <p:nvPr/>
        </p:nvSpPr>
        <p:spPr>
          <a:xfrm>
            <a:off x="594360" y="3246120"/>
            <a:ext cx="2103120" cy="365760"/>
          </a:xfrm>
          <a:prstGeom prst="rect">
            <a:avLst/>
          </a:prstGeom>
          <a:noFill/>
          <a:ln/>
        </p:spPr>
        <p:txBody>
          <a:bodyPr wrap="square" lIns="0" tIns="0" rIns="0" bIns="0" rtlCol="0" anchor="ctr"/>
          <a:lstStyle/>
          <a:p>
            <a:pPr marL="0" indent="0" algn="ctr">
              <a:buNone/>
            </a:pPr>
            <a:r>
              <a:rPr lang="en-US" sz="1000" i="1" dirty="0">
                <a:solidFill>
                  <a:srgbClr val="6B7280"/>
                </a:solidFill>
                <a:latin typeface="Calibri" pitchFamily="34" charset="0"/>
                <a:ea typeface="Calibri" pitchFamily="34" charset="-122"/>
                <a:cs typeface="Calibri" pitchFamily="34" charset="-120"/>
              </a:rPr>
              <a:t>Overall correctness</a:t>
            </a:r>
            <a:endParaRPr lang="en-US" sz="1000" dirty="0"/>
          </a:p>
        </p:txBody>
      </p:sp>
      <p:sp>
        <p:nvSpPr>
          <p:cNvPr id="20" name="Shape 17"/>
          <p:cNvSpPr/>
          <p:nvPr/>
        </p:nvSpPr>
        <p:spPr>
          <a:xfrm>
            <a:off x="2971800" y="1828800"/>
            <a:ext cx="2377440" cy="1828800"/>
          </a:xfrm>
          <a:prstGeom prst="rect">
            <a:avLst/>
          </a:prstGeom>
          <a:solidFill>
            <a:srgbClr val="F7F8FB"/>
          </a:solidFill>
          <a:ln w="9525">
            <a:solidFill>
              <a:srgbClr val="E5E7EB"/>
            </a:solidFill>
            <a:prstDash val="solid"/>
          </a:ln>
          <a:effectLst>
            <a:outerShdw blurRad="127000" dist="38100" dir="5400000" algn="bl" rotWithShape="0">
              <a:srgbClr val="000000">
                <a:alpha val="10000"/>
              </a:srgbClr>
            </a:outerShdw>
          </a:effectLst>
        </p:spPr>
        <p:txBody>
          <a:bodyPr/>
          <a:lstStyle/>
          <a:p>
            <a:endParaRPr lang="en-US"/>
          </a:p>
        </p:txBody>
      </p:sp>
      <p:sp>
        <p:nvSpPr>
          <p:cNvPr id="21" name="Shape 18"/>
          <p:cNvSpPr/>
          <p:nvPr/>
        </p:nvSpPr>
        <p:spPr>
          <a:xfrm>
            <a:off x="2971800" y="1828800"/>
            <a:ext cx="2377440" cy="91440"/>
          </a:xfrm>
          <a:prstGeom prst="rect">
            <a:avLst/>
          </a:prstGeom>
          <a:solidFill>
            <a:srgbClr val="C8102E"/>
          </a:solidFill>
          <a:ln w="12700">
            <a:solidFill>
              <a:srgbClr val="C8102E"/>
            </a:solidFill>
            <a:prstDash val="solid"/>
          </a:ln>
        </p:spPr>
        <p:txBody>
          <a:bodyPr/>
          <a:lstStyle/>
          <a:p>
            <a:endParaRPr lang="en-US"/>
          </a:p>
        </p:txBody>
      </p:sp>
      <p:sp>
        <p:nvSpPr>
          <p:cNvPr id="22" name="Text 19"/>
          <p:cNvSpPr/>
          <p:nvPr/>
        </p:nvSpPr>
        <p:spPr>
          <a:xfrm>
            <a:off x="2971800" y="2011680"/>
            <a:ext cx="2377440" cy="914400"/>
          </a:xfrm>
          <a:prstGeom prst="rect">
            <a:avLst/>
          </a:prstGeom>
          <a:noFill/>
          <a:ln/>
        </p:spPr>
        <p:txBody>
          <a:bodyPr wrap="square" lIns="0" tIns="0" rIns="0" bIns="0" rtlCol="0" anchor="ctr"/>
          <a:lstStyle/>
          <a:p>
            <a:pPr marL="0" indent="0" algn="ctr">
              <a:buNone/>
            </a:pPr>
            <a:r>
              <a:rPr lang="en-US" sz="4400" b="1" dirty="0">
                <a:solidFill>
                  <a:srgbClr val="001F5B"/>
                </a:solidFill>
                <a:latin typeface="Georgia" pitchFamily="34" charset="0"/>
                <a:ea typeface="Georgia" pitchFamily="34" charset="-122"/>
                <a:cs typeface="Georgia" pitchFamily="34" charset="-120"/>
              </a:rPr>
              <a:t>0.99</a:t>
            </a:r>
            <a:endParaRPr lang="en-US" sz="4400" dirty="0"/>
          </a:p>
        </p:txBody>
      </p:sp>
      <p:sp>
        <p:nvSpPr>
          <p:cNvPr id="23" name="Text 20"/>
          <p:cNvSpPr/>
          <p:nvPr/>
        </p:nvSpPr>
        <p:spPr>
          <a:xfrm>
            <a:off x="2971800" y="2926080"/>
            <a:ext cx="2377440" cy="292608"/>
          </a:xfrm>
          <a:prstGeom prst="rect">
            <a:avLst/>
          </a:prstGeom>
          <a:noFill/>
          <a:ln/>
        </p:spPr>
        <p:txBody>
          <a:bodyPr wrap="square" lIns="0" tIns="0" rIns="0" bIns="0" rtlCol="0" anchor="ctr"/>
          <a:lstStyle/>
          <a:p>
            <a:pPr marL="0" indent="0" algn="ctr">
              <a:buNone/>
            </a:pPr>
            <a:r>
              <a:rPr lang="en-US" sz="1200" b="1" kern="0" spc="300" dirty="0">
                <a:solidFill>
                  <a:srgbClr val="001F5B"/>
                </a:solidFill>
                <a:latin typeface="Calibri" pitchFamily="34" charset="0"/>
                <a:ea typeface="Calibri" pitchFamily="34" charset="-122"/>
                <a:cs typeface="Calibri" pitchFamily="34" charset="-120"/>
              </a:rPr>
              <a:t>AUC</a:t>
            </a:r>
            <a:endParaRPr lang="en-US" sz="1200" dirty="0"/>
          </a:p>
        </p:txBody>
      </p:sp>
      <p:sp>
        <p:nvSpPr>
          <p:cNvPr id="24" name="Text 21"/>
          <p:cNvSpPr/>
          <p:nvPr/>
        </p:nvSpPr>
        <p:spPr>
          <a:xfrm>
            <a:off x="3108960" y="3246120"/>
            <a:ext cx="2103120" cy="365760"/>
          </a:xfrm>
          <a:prstGeom prst="rect">
            <a:avLst/>
          </a:prstGeom>
          <a:noFill/>
          <a:ln/>
        </p:spPr>
        <p:txBody>
          <a:bodyPr wrap="square" lIns="0" tIns="0" rIns="0" bIns="0" rtlCol="0" anchor="ctr"/>
          <a:lstStyle/>
          <a:p>
            <a:pPr marL="0" indent="0" algn="ctr">
              <a:buNone/>
            </a:pPr>
            <a:r>
              <a:rPr lang="en-US" sz="1000" i="1" dirty="0">
                <a:solidFill>
                  <a:srgbClr val="6B7280"/>
                </a:solidFill>
                <a:latin typeface="Calibri" pitchFamily="34" charset="0"/>
                <a:ea typeface="Calibri" pitchFamily="34" charset="-122"/>
                <a:cs typeface="Calibri" pitchFamily="34" charset="-120"/>
              </a:rPr>
              <a:t>Ranking quality</a:t>
            </a:r>
            <a:endParaRPr lang="en-US" sz="1000" dirty="0"/>
          </a:p>
        </p:txBody>
      </p:sp>
      <p:sp>
        <p:nvSpPr>
          <p:cNvPr id="25" name="Shape 22"/>
          <p:cNvSpPr/>
          <p:nvPr/>
        </p:nvSpPr>
        <p:spPr>
          <a:xfrm>
            <a:off x="457200" y="3794760"/>
            <a:ext cx="2377440" cy="1828800"/>
          </a:xfrm>
          <a:prstGeom prst="rect">
            <a:avLst/>
          </a:prstGeom>
          <a:solidFill>
            <a:srgbClr val="F7F8FB"/>
          </a:solidFill>
          <a:ln w="9525">
            <a:solidFill>
              <a:srgbClr val="E5E7EB"/>
            </a:solidFill>
            <a:prstDash val="solid"/>
          </a:ln>
          <a:effectLst>
            <a:outerShdw blurRad="127000" dist="38100" dir="5400000" algn="bl" rotWithShape="0">
              <a:srgbClr val="000000">
                <a:alpha val="10000"/>
              </a:srgbClr>
            </a:outerShdw>
          </a:effectLst>
        </p:spPr>
        <p:txBody>
          <a:bodyPr/>
          <a:lstStyle/>
          <a:p>
            <a:endParaRPr lang="en-US"/>
          </a:p>
        </p:txBody>
      </p:sp>
      <p:sp>
        <p:nvSpPr>
          <p:cNvPr id="26" name="Shape 23"/>
          <p:cNvSpPr/>
          <p:nvPr/>
        </p:nvSpPr>
        <p:spPr>
          <a:xfrm>
            <a:off x="457200" y="3794760"/>
            <a:ext cx="2377440" cy="91440"/>
          </a:xfrm>
          <a:prstGeom prst="rect">
            <a:avLst/>
          </a:prstGeom>
          <a:solidFill>
            <a:srgbClr val="C8102E"/>
          </a:solidFill>
          <a:ln w="12700">
            <a:solidFill>
              <a:srgbClr val="C8102E"/>
            </a:solidFill>
            <a:prstDash val="solid"/>
          </a:ln>
        </p:spPr>
        <p:txBody>
          <a:bodyPr/>
          <a:lstStyle/>
          <a:p>
            <a:endParaRPr lang="en-US"/>
          </a:p>
        </p:txBody>
      </p:sp>
      <p:sp>
        <p:nvSpPr>
          <p:cNvPr id="27" name="Text 24"/>
          <p:cNvSpPr/>
          <p:nvPr/>
        </p:nvSpPr>
        <p:spPr>
          <a:xfrm>
            <a:off x="457200" y="3977640"/>
            <a:ext cx="2377440" cy="914400"/>
          </a:xfrm>
          <a:prstGeom prst="rect">
            <a:avLst/>
          </a:prstGeom>
          <a:noFill/>
          <a:ln/>
        </p:spPr>
        <p:txBody>
          <a:bodyPr wrap="square" lIns="0" tIns="0" rIns="0" bIns="0" rtlCol="0" anchor="ctr"/>
          <a:lstStyle/>
          <a:p>
            <a:pPr marL="0" indent="0" algn="ctr">
              <a:buNone/>
            </a:pPr>
            <a:r>
              <a:rPr lang="en-US" sz="4400" b="1" dirty="0">
                <a:solidFill>
                  <a:srgbClr val="001F5B"/>
                </a:solidFill>
                <a:latin typeface="Georgia" pitchFamily="34" charset="0"/>
                <a:ea typeface="Georgia" pitchFamily="34" charset="-122"/>
                <a:cs typeface="Georgia" pitchFamily="34" charset="-120"/>
              </a:rPr>
              <a:t>0.98</a:t>
            </a:r>
            <a:endParaRPr lang="en-US" sz="4400" dirty="0"/>
          </a:p>
        </p:txBody>
      </p:sp>
      <p:sp>
        <p:nvSpPr>
          <p:cNvPr id="28" name="Text 25"/>
          <p:cNvSpPr/>
          <p:nvPr/>
        </p:nvSpPr>
        <p:spPr>
          <a:xfrm>
            <a:off x="457200" y="4892040"/>
            <a:ext cx="2377440" cy="292608"/>
          </a:xfrm>
          <a:prstGeom prst="rect">
            <a:avLst/>
          </a:prstGeom>
          <a:noFill/>
          <a:ln/>
        </p:spPr>
        <p:txBody>
          <a:bodyPr wrap="square" lIns="0" tIns="0" rIns="0" bIns="0" rtlCol="0" anchor="ctr"/>
          <a:lstStyle/>
          <a:p>
            <a:pPr marL="0" indent="0" algn="ctr">
              <a:buNone/>
            </a:pPr>
            <a:r>
              <a:rPr lang="en-US" sz="1200" b="1" kern="0" spc="300" dirty="0">
                <a:solidFill>
                  <a:srgbClr val="001F5B"/>
                </a:solidFill>
                <a:latin typeface="Calibri" pitchFamily="34" charset="0"/>
                <a:ea typeface="Calibri" pitchFamily="34" charset="-122"/>
                <a:cs typeface="Calibri" pitchFamily="34" charset="-120"/>
              </a:rPr>
              <a:t>PRECISION</a:t>
            </a:r>
            <a:endParaRPr lang="en-US" sz="1200" dirty="0"/>
          </a:p>
        </p:txBody>
      </p:sp>
      <p:sp>
        <p:nvSpPr>
          <p:cNvPr id="29" name="Text 26"/>
          <p:cNvSpPr/>
          <p:nvPr/>
        </p:nvSpPr>
        <p:spPr>
          <a:xfrm>
            <a:off x="594360" y="5212080"/>
            <a:ext cx="2103120" cy="365760"/>
          </a:xfrm>
          <a:prstGeom prst="rect">
            <a:avLst/>
          </a:prstGeom>
          <a:noFill/>
          <a:ln/>
        </p:spPr>
        <p:txBody>
          <a:bodyPr wrap="square" lIns="0" tIns="0" rIns="0" bIns="0" rtlCol="0" anchor="ctr"/>
          <a:lstStyle/>
          <a:p>
            <a:pPr marL="0" indent="0" algn="ctr">
              <a:buNone/>
            </a:pPr>
            <a:r>
              <a:rPr lang="en-US" sz="1000" i="1" dirty="0">
                <a:solidFill>
                  <a:srgbClr val="6B7280"/>
                </a:solidFill>
                <a:latin typeface="Calibri" pitchFamily="34" charset="0"/>
                <a:ea typeface="Calibri" pitchFamily="34" charset="-122"/>
                <a:cs typeface="Calibri" pitchFamily="34" charset="-120"/>
              </a:rPr>
              <a:t>Of predicted positives</a:t>
            </a:r>
            <a:endParaRPr lang="en-US" sz="1000" dirty="0"/>
          </a:p>
        </p:txBody>
      </p:sp>
      <p:sp>
        <p:nvSpPr>
          <p:cNvPr id="30" name="Shape 27"/>
          <p:cNvSpPr/>
          <p:nvPr/>
        </p:nvSpPr>
        <p:spPr>
          <a:xfrm>
            <a:off x="2971800" y="3794760"/>
            <a:ext cx="2377440" cy="1828800"/>
          </a:xfrm>
          <a:prstGeom prst="rect">
            <a:avLst/>
          </a:prstGeom>
          <a:solidFill>
            <a:srgbClr val="F7F8FB"/>
          </a:solidFill>
          <a:ln w="9525">
            <a:solidFill>
              <a:srgbClr val="E5E7EB"/>
            </a:solidFill>
            <a:prstDash val="solid"/>
          </a:ln>
          <a:effectLst>
            <a:outerShdw blurRad="127000" dist="38100" dir="5400000" algn="bl" rotWithShape="0">
              <a:srgbClr val="000000">
                <a:alpha val="10000"/>
              </a:srgbClr>
            </a:outerShdw>
          </a:effectLst>
        </p:spPr>
        <p:txBody>
          <a:bodyPr/>
          <a:lstStyle/>
          <a:p>
            <a:endParaRPr lang="en-US"/>
          </a:p>
        </p:txBody>
      </p:sp>
      <p:sp>
        <p:nvSpPr>
          <p:cNvPr id="31" name="Shape 28"/>
          <p:cNvSpPr/>
          <p:nvPr/>
        </p:nvSpPr>
        <p:spPr>
          <a:xfrm>
            <a:off x="2971800" y="3794760"/>
            <a:ext cx="2377440" cy="91440"/>
          </a:xfrm>
          <a:prstGeom prst="rect">
            <a:avLst/>
          </a:prstGeom>
          <a:solidFill>
            <a:srgbClr val="C8102E"/>
          </a:solidFill>
          <a:ln w="12700">
            <a:solidFill>
              <a:srgbClr val="C8102E"/>
            </a:solidFill>
            <a:prstDash val="solid"/>
          </a:ln>
        </p:spPr>
        <p:txBody>
          <a:bodyPr/>
          <a:lstStyle/>
          <a:p>
            <a:endParaRPr lang="en-US"/>
          </a:p>
        </p:txBody>
      </p:sp>
      <p:sp>
        <p:nvSpPr>
          <p:cNvPr id="32" name="Text 29"/>
          <p:cNvSpPr/>
          <p:nvPr/>
        </p:nvSpPr>
        <p:spPr>
          <a:xfrm>
            <a:off x="2971800" y="3977640"/>
            <a:ext cx="2377440" cy="914400"/>
          </a:xfrm>
          <a:prstGeom prst="rect">
            <a:avLst/>
          </a:prstGeom>
          <a:noFill/>
          <a:ln/>
        </p:spPr>
        <p:txBody>
          <a:bodyPr wrap="square" lIns="0" tIns="0" rIns="0" bIns="0" rtlCol="0" anchor="ctr"/>
          <a:lstStyle/>
          <a:p>
            <a:pPr marL="0" indent="0" algn="ctr">
              <a:buNone/>
            </a:pPr>
            <a:r>
              <a:rPr lang="en-US" sz="4400" b="1" dirty="0">
                <a:solidFill>
                  <a:srgbClr val="001F5B"/>
                </a:solidFill>
                <a:latin typeface="Georgia" pitchFamily="34" charset="0"/>
                <a:ea typeface="Georgia" pitchFamily="34" charset="-122"/>
                <a:cs typeface="Georgia" pitchFamily="34" charset="-120"/>
              </a:rPr>
              <a:t>1.00</a:t>
            </a:r>
            <a:endParaRPr lang="en-US" sz="4400" dirty="0"/>
          </a:p>
        </p:txBody>
      </p:sp>
      <p:sp>
        <p:nvSpPr>
          <p:cNvPr id="33" name="Text 30"/>
          <p:cNvSpPr/>
          <p:nvPr/>
        </p:nvSpPr>
        <p:spPr>
          <a:xfrm>
            <a:off x="2971800" y="4892040"/>
            <a:ext cx="2377440" cy="292608"/>
          </a:xfrm>
          <a:prstGeom prst="rect">
            <a:avLst/>
          </a:prstGeom>
          <a:noFill/>
          <a:ln/>
        </p:spPr>
        <p:txBody>
          <a:bodyPr wrap="square" lIns="0" tIns="0" rIns="0" bIns="0" rtlCol="0" anchor="ctr"/>
          <a:lstStyle/>
          <a:p>
            <a:pPr marL="0" indent="0" algn="ctr">
              <a:buNone/>
            </a:pPr>
            <a:r>
              <a:rPr lang="en-US" sz="1200" b="1" kern="0" spc="300" dirty="0">
                <a:solidFill>
                  <a:srgbClr val="001F5B"/>
                </a:solidFill>
                <a:latin typeface="Calibri" pitchFamily="34" charset="0"/>
                <a:ea typeface="Calibri" pitchFamily="34" charset="-122"/>
                <a:cs typeface="Calibri" pitchFamily="34" charset="-120"/>
              </a:rPr>
              <a:t>RECALL</a:t>
            </a:r>
            <a:endParaRPr lang="en-US" sz="1200" dirty="0"/>
          </a:p>
        </p:txBody>
      </p:sp>
      <p:sp>
        <p:nvSpPr>
          <p:cNvPr id="34" name="Text 31"/>
          <p:cNvSpPr/>
          <p:nvPr/>
        </p:nvSpPr>
        <p:spPr>
          <a:xfrm>
            <a:off x="3108960" y="5212080"/>
            <a:ext cx="2103120" cy="365760"/>
          </a:xfrm>
          <a:prstGeom prst="rect">
            <a:avLst/>
          </a:prstGeom>
          <a:noFill/>
          <a:ln/>
        </p:spPr>
        <p:txBody>
          <a:bodyPr wrap="square" lIns="0" tIns="0" rIns="0" bIns="0" rtlCol="0" anchor="ctr"/>
          <a:lstStyle/>
          <a:p>
            <a:pPr marL="0" indent="0" algn="ctr">
              <a:buNone/>
            </a:pPr>
            <a:r>
              <a:rPr lang="en-US" sz="1000" i="1" dirty="0">
                <a:solidFill>
                  <a:srgbClr val="6B7280"/>
                </a:solidFill>
                <a:latin typeface="Calibri" pitchFamily="34" charset="0"/>
                <a:ea typeface="Calibri" pitchFamily="34" charset="-122"/>
                <a:cs typeface="Calibri" pitchFamily="34" charset="-120"/>
              </a:rPr>
              <a:t>Of actual positives</a:t>
            </a:r>
            <a:endParaRPr lang="en-US" sz="1000" dirty="0"/>
          </a:p>
        </p:txBody>
      </p:sp>
      <p:sp>
        <p:nvSpPr>
          <p:cNvPr id="35" name="Shape 32"/>
          <p:cNvSpPr/>
          <p:nvPr/>
        </p:nvSpPr>
        <p:spPr>
          <a:xfrm>
            <a:off x="457200" y="5715000"/>
            <a:ext cx="4892040" cy="777240"/>
          </a:xfrm>
          <a:prstGeom prst="rect">
            <a:avLst/>
          </a:prstGeom>
          <a:solidFill>
            <a:srgbClr val="001F5B"/>
          </a:solidFill>
          <a:ln w="12700">
            <a:solidFill>
              <a:srgbClr val="001F5B"/>
            </a:solidFill>
            <a:prstDash val="solid"/>
          </a:ln>
        </p:spPr>
        <p:txBody>
          <a:bodyPr/>
          <a:lstStyle/>
          <a:p>
            <a:endParaRPr lang="en-US" dirty="0"/>
          </a:p>
        </p:txBody>
      </p:sp>
      <p:sp>
        <p:nvSpPr>
          <p:cNvPr id="36" name="Shape 33"/>
          <p:cNvSpPr/>
          <p:nvPr/>
        </p:nvSpPr>
        <p:spPr>
          <a:xfrm>
            <a:off x="457200" y="5715000"/>
            <a:ext cx="91440" cy="777240"/>
          </a:xfrm>
          <a:prstGeom prst="rect">
            <a:avLst/>
          </a:prstGeom>
          <a:solidFill>
            <a:srgbClr val="C8102E"/>
          </a:solidFill>
          <a:ln w="12700">
            <a:solidFill>
              <a:srgbClr val="C8102E"/>
            </a:solidFill>
            <a:prstDash val="solid"/>
          </a:ln>
        </p:spPr>
        <p:txBody>
          <a:bodyPr/>
          <a:lstStyle/>
          <a:p>
            <a:endParaRPr lang="en-US"/>
          </a:p>
        </p:txBody>
      </p:sp>
      <p:sp>
        <p:nvSpPr>
          <p:cNvPr id="37" name="Text 34"/>
          <p:cNvSpPr/>
          <p:nvPr/>
        </p:nvSpPr>
        <p:spPr>
          <a:xfrm>
            <a:off x="685800" y="5806440"/>
            <a:ext cx="4617720" cy="274320"/>
          </a:xfrm>
          <a:prstGeom prst="rect">
            <a:avLst/>
          </a:prstGeom>
          <a:noFill/>
          <a:ln/>
        </p:spPr>
        <p:txBody>
          <a:bodyPr wrap="square" lIns="0" tIns="0" rIns="0" bIns="0" rtlCol="0" anchor="ctr"/>
          <a:lstStyle/>
          <a:p>
            <a:pPr marL="0" indent="0">
              <a:buNone/>
            </a:pPr>
            <a:r>
              <a:rPr lang="en-US" sz="1000" b="1" kern="0" spc="300" dirty="0">
                <a:solidFill>
                  <a:srgbClr val="A9B8D4"/>
                </a:solidFill>
                <a:latin typeface="Calibri" pitchFamily="34" charset="0"/>
                <a:ea typeface="Calibri" pitchFamily="34" charset="-122"/>
                <a:cs typeface="Calibri" pitchFamily="34" charset="-120"/>
              </a:rPr>
              <a:t>HYPERPARAMETER TUNING</a:t>
            </a:r>
            <a:endParaRPr lang="en-US" sz="1000" dirty="0"/>
          </a:p>
        </p:txBody>
      </p:sp>
      <p:sp>
        <p:nvSpPr>
          <p:cNvPr id="38" name="Text 35"/>
          <p:cNvSpPr/>
          <p:nvPr/>
        </p:nvSpPr>
        <p:spPr>
          <a:xfrm>
            <a:off x="685800" y="6062472"/>
            <a:ext cx="4617720" cy="411480"/>
          </a:xfrm>
          <a:prstGeom prst="rect">
            <a:avLst/>
          </a:prstGeom>
          <a:noFill/>
          <a:ln/>
        </p:spPr>
        <p:txBody>
          <a:bodyPr wrap="square" lIns="0" tIns="0" rIns="0" bIns="0" rtlCol="0" anchor="ctr"/>
          <a:lstStyle/>
          <a:p>
            <a:pPr marL="0" indent="0">
              <a:buNone/>
            </a:pPr>
            <a:endParaRPr lang="en-US" sz="1200" dirty="0"/>
          </a:p>
        </p:txBody>
      </p:sp>
      <p:sp>
        <p:nvSpPr>
          <p:cNvPr id="42" name="Text 38"/>
          <p:cNvSpPr/>
          <p:nvPr/>
        </p:nvSpPr>
        <p:spPr>
          <a:xfrm>
            <a:off x="5577840" y="2857500"/>
            <a:ext cx="6126480" cy="365760"/>
          </a:xfrm>
          <a:prstGeom prst="rect">
            <a:avLst/>
          </a:prstGeom>
          <a:noFill/>
          <a:ln/>
        </p:spPr>
        <p:txBody>
          <a:bodyPr wrap="square" lIns="0" tIns="0" rIns="0" bIns="0" rtlCol="0" anchor="ctr"/>
          <a:lstStyle/>
          <a:p>
            <a:pPr marL="0" indent="0" algn="ctr">
              <a:buNone/>
            </a:pPr>
            <a:r>
              <a:rPr lang="en-US" sz="1400" b="1" dirty="0">
                <a:solidFill>
                  <a:srgbClr val="001F5B"/>
                </a:solidFill>
                <a:latin typeface="Calibri" pitchFamily="34" charset="0"/>
                <a:ea typeface="Calibri" pitchFamily="34" charset="-122"/>
                <a:cs typeface="Calibri" pitchFamily="34" charset="-120"/>
              </a:rPr>
              <a:t>[ Screenshot: Confusion Matrix ]</a:t>
            </a:r>
            <a:endParaRPr lang="en-US" sz="1400" dirty="0"/>
          </a:p>
        </p:txBody>
      </p:sp>
      <p:sp>
        <p:nvSpPr>
          <p:cNvPr id="43" name="Text 39"/>
          <p:cNvSpPr/>
          <p:nvPr/>
        </p:nvSpPr>
        <p:spPr>
          <a:xfrm>
            <a:off x="5577840" y="3520440"/>
            <a:ext cx="6126480" cy="320040"/>
          </a:xfrm>
          <a:prstGeom prst="rect">
            <a:avLst/>
          </a:prstGeom>
          <a:noFill/>
          <a:ln/>
        </p:spPr>
        <p:txBody>
          <a:bodyPr wrap="square" lIns="0" tIns="0" rIns="0" bIns="0" rtlCol="0" anchor="ctr"/>
          <a:lstStyle/>
          <a:p>
            <a:pPr marL="0" indent="0" algn="ctr">
              <a:buNone/>
            </a:pPr>
            <a:r>
              <a:rPr lang="en-US" sz="1100" i="1" dirty="0">
                <a:solidFill>
                  <a:srgbClr val="6B7280"/>
                </a:solidFill>
                <a:latin typeface="Calibri" pitchFamily="34" charset="0"/>
                <a:ea typeface="Calibri" pitchFamily="34" charset="-122"/>
                <a:cs typeface="Calibri" pitchFamily="34" charset="-120"/>
              </a:rPr>
              <a:t>Confusion Matrix</a:t>
            </a:r>
            <a:endParaRPr lang="en-US" sz="1100" dirty="0"/>
          </a:p>
        </p:txBody>
      </p:sp>
      <p:sp>
        <p:nvSpPr>
          <p:cNvPr id="48" name="Text 43"/>
          <p:cNvSpPr/>
          <p:nvPr/>
        </p:nvSpPr>
        <p:spPr>
          <a:xfrm>
            <a:off x="5577840" y="5806440"/>
            <a:ext cx="6126480" cy="320040"/>
          </a:xfrm>
          <a:prstGeom prst="rect">
            <a:avLst/>
          </a:prstGeom>
          <a:noFill/>
          <a:ln/>
        </p:spPr>
        <p:txBody>
          <a:bodyPr wrap="square" lIns="0" tIns="0" rIns="0" bIns="0" rtlCol="0" anchor="ctr"/>
          <a:lstStyle/>
          <a:p>
            <a:pPr marL="0" indent="0" algn="ctr">
              <a:buNone/>
            </a:pPr>
            <a:r>
              <a:rPr lang="en-US" sz="1100" i="1" dirty="0">
                <a:solidFill>
                  <a:srgbClr val="6B7280"/>
                </a:solidFill>
                <a:latin typeface="Calibri" pitchFamily="34" charset="0"/>
                <a:ea typeface="Calibri" pitchFamily="34" charset="-122"/>
                <a:cs typeface="Calibri" pitchFamily="34" charset="-120"/>
              </a:rPr>
              <a:t>ROC Curve</a:t>
            </a:r>
            <a:endParaRPr lang="en-US" sz="1100" dirty="0"/>
          </a:p>
        </p:txBody>
      </p:sp>
      <p:pic>
        <p:nvPicPr>
          <p:cNvPr id="49" name="Picture 48">
            <a:extLst>
              <a:ext uri="{FF2B5EF4-FFF2-40B4-BE49-F238E27FC236}">
                <a16:creationId xmlns:a16="http://schemas.microsoft.com/office/drawing/2014/main" id="{63F5CAF7-150A-CE28-DA3F-377799488EF6}"/>
              </a:ext>
            </a:extLst>
          </p:cNvPr>
          <p:cNvPicPr>
            <a:picLocks noChangeAspect="1"/>
          </p:cNvPicPr>
          <p:nvPr/>
        </p:nvPicPr>
        <p:blipFill>
          <a:blip r:embed="rId4"/>
          <a:stretch>
            <a:fillRect/>
          </a:stretch>
        </p:blipFill>
        <p:spPr>
          <a:xfrm>
            <a:off x="6537960" y="1790712"/>
            <a:ext cx="3638365" cy="2460806"/>
          </a:xfrm>
          <a:prstGeom prst="rect">
            <a:avLst/>
          </a:prstGeom>
        </p:spPr>
      </p:pic>
      <p:pic>
        <p:nvPicPr>
          <p:cNvPr id="50" name="Picture 49">
            <a:extLst>
              <a:ext uri="{FF2B5EF4-FFF2-40B4-BE49-F238E27FC236}">
                <a16:creationId xmlns:a16="http://schemas.microsoft.com/office/drawing/2014/main" id="{E1B4F636-6E09-6677-5815-26038919D310}"/>
              </a:ext>
            </a:extLst>
          </p:cNvPr>
          <p:cNvPicPr>
            <a:picLocks noChangeAspect="1"/>
          </p:cNvPicPr>
          <p:nvPr/>
        </p:nvPicPr>
        <p:blipFill>
          <a:blip r:embed="rId5"/>
          <a:stretch>
            <a:fillRect/>
          </a:stretch>
        </p:blipFill>
        <p:spPr>
          <a:xfrm>
            <a:off x="6530382" y="4324675"/>
            <a:ext cx="3468136" cy="2208205"/>
          </a:xfrm>
          <a:prstGeom prst="rect">
            <a:avLst/>
          </a:prstGeom>
        </p:spPr>
      </p:pic>
      <p:sp>
        <p:nvSpPr>
          <p:cNvPr id="51" name="TextBox 50">
            <a:extLst>
              <a:ext uri="{FF2B5EF4-FFF2-40B4-BE49-F238E27FC236}">
                <a16:creationId xmlns:a16="http://schemas.microsoft.com/office/drawing/2014/main" id="{22EC89DA-9013-3133-9FA4-0B0CCD8668F1}"/>
              </a:ext>
            </a:extLst>
          </p:cNvPr>
          <p:cNvSpPr txBox="1"/>
          <p:nvPr/>
        </p:nvSpPr>
        <p:spPr>
          <a:xfrm>
            <a:off x="685800" y="6080760"/>
            <a:ext cx="4526280" cy="292388"/>
          </a:xfrm>
          <a:prstGeom prst="rect">
            <a:avLst/>
          </a:prstGeom>
          <a:noFill/>
        </p:spPr>
        <p:txBody>
          <a:bodyPr wrap="square" rtlCol="0">
            <a:spAutoFit/>
          </a:bodyPr>
          <a:lstStyle/>
          <a:p>
            <a:r>
              <a:rPr lang="en-US" sz="1300" dirty="0">
                <a:solidFill>
                  <a:schemeClr val="bg1"/>
                </a:solidFill>
              </a:rPr>
              <a:t>Cross validation was used to ensure the model generalizes well.</a:t>
            </a:r>
          </a:p>
        </p:txBody>
      </p:sp>
      <p:sp>
        <p:nvSpPr>
          <p:cNvPr id="40" name="Shape 37"/>
          <p:cNvSpPr/>
          <p:nvPr/>
        </p:nvSpPr>
        <p:spPr>
          <a:xfrm>
            <a:off x="6500713" y="1828800"/>
            <a:ext cx="731520" cy="73152"/>
          </a:xfrm>
          <a:prstGeom prst="rect">
            <a:avLst/>
          </a:prstGeom>
          <a:solidFill>
            <a:srgbClr val="C8102E"/>
          </a:solidFill>
          <a:ln w="12700">
            <a:solidFill>
              <a:srgbClr val="C8102E"/>
            </a:solidFill>
            <a:prstDash val="solid"/>
          </a:ln>
        </p:spPr>
        <p:txBody>
          <a:bodyPr/>
          <a:lstStyle/>
          <a:p>
            <a:endParaRPr lang="en-US" dirty="0"/>
          </a:p>
        </p:txBody>
      </p:sp>
      <p:sp>
        <p:nvSpPr>
          <p:cNvPr id="45" name="Shape 41"/>
          <p:cNvSpPr/>
          <p:nvPr/>
        </p:nvSpPr>
        <p:spPr>
          <a:xfrm>
            <a:off x="6543048" y="4360338"/>
            <a:ext cx="731520" cy="73152"/>
          </a:xfrm>
          <a:prstGeom prst="rect">
            <a:avLst/>
          </a:prstGeom>
          <a:solidFill>
            <a:srgbClr val="C8102E"/>
          </a:solidFill>
          <a:ln w="12700">
            <a:solidFill>
              <a:srgbClr val="C8102E"/>
            </a:solidFill>
            <a:prstDash val="solid"/>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01F5B"/>
          </a:solidFill>
          <a:ln w="12700">
            <a:solidFill>
              <a:srgbClr val="001F5B"/>
            </a:solidFill>
            <a:prstDash val="solid"/>
          </a:ln>
        </p:spPr>
        <p:txBody>
          <a:bodyPr/>
          <a:lstStyle/>
          <a:p>
            <a:endParaRPr lang="en-US"/>
          </a:p>
        </p:txBody>
      </p:sp>
      <p:sp>
        <p:nvSpPr>
          <p:cNvPr id="3" name="Shape 1"/>
          <p:cNvSpPr/>
          <p:nvPr/>
        </p:nvSpPr>
        <p:spPr>
          <a:xfrm>
            <a:off x="0" y="0"/>
            <a:ext cx="320040" cy="320040"/>
          </a:xfrm>
          <a:prstGeom prst="rect">
            <a:avLst/>
          </a:prstGeom>
          <a:solidFill>
            <a:srgbClr val="C8102E"/>
          </a:solidFill>
          <a:ln w="12700">
            <a:solidFill>
              <a:srgbClr val="C8102E"/>
            </a:solidFill>
            <a:prstDash val="solid"/>
          </a:ln>
        </p:spPr>
        <p:txBody>
          <a:bodyPr/>
          <a:lstStyle/>
          <a:p>
            <a:endParaRPr lang="en-US"/>
          </a:p>
        </p:txBody>
      </p:sp>
      <p:sp>
        <p:nvSpPr>
          <p:cNvPr id="4" name="Text 2"/>
          <p:cNvSpPr/>
          <p:nvPr/>
        </p:nvSpPr>
        <p:spPr>
          <a:xfrm>
            <a:off x="457200" y="0"/>
            <a:ext cx="2743200" cy="320040"/>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CATAWBA COLLEGE</a:t>
            </a:r>
            <a:endParaRPr lang="en-US" sz="900" dirty="0"/>
          </a:p>
        </p:txBody>
      </p:sp>
      <p:sp>
        <p:nvSpPr>
          <p:cNvPr id="5" name="Text 3"/>
          <p:cNvSpPr/>
          <p:nvPr/>
        </p:nvSpPr>
        <p:spPr>
          <a:xfrm>
            <a:off x="8076895" y="0"/>
            <a:ext cx="3657600" cy="320040"/>
          </a:xfrm>
          <a:prstGeom prst="rect">
            <a:avLst/>
          </a:prstGeom>
          <a:noFill/>
          <a:ln/>
        </p:spPr>
        <p:txBody>
          <a:bodyPr wrap="square" lIns="0" tIns="0" rIns="0" bIns="0"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07 · INTERPRETATION</a:t>
            </a:r>
            <a:endParaRPr lang="en-US" sz="900" dirty="0"/>
          </a:p>
        </p:txBody>
      </p:sp>
      <p:sp>
        <p:nvSpPr>
          <p:cNvPr id="6" name="Shape 4"/>
          <p:cNvSpPr/>
          <p:nvPr/>
        </p:nvSpPr>
        <p:spPr>
          <a:xfrm>
            <a:off x="457200" y="6492240"/>
            <a:ext cx="11277295" cy="0"/>
          </a:xfrm>
          <a:prstGeom prst="line">
            <a:avLst/>
          </a:prstGeom>
          <a:noFill/>
          <a:ln w="9525">
            <a:solidFill>
              <a:srgbClr val="E5E7EB"/>
            </a:solidFill>
            <a:prstDash val="solid"/>
          </a:ln>
        </p:spPr>
        <p:txBody>
          <a:bodyPr/>
          <a:lstStyle/>
          <a:p>
            <a:endParaRPr lang="en-US"/>
          </a:p>
        </p:txBody>
      </p:sp>
      <p:sp>
        <p:nvSpPr>
          <p:cNvPr id="7" name="Text 5"/>
          <p:cNvSpPr/>
          <p:nvPr/>
        </p:nvSpPr>
        <p:spPr>
          <a:xfrm>
            <a:off x="457200" y="6537960"/>
            <a:ext cx="457200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Data Mining · Final Project</a:t>
            </a:r>
            <a:endParaRPr lang="en-US" sz="900" dirty="0"/>
          </a:p>
        </p:txBody>
      </p:sp>
      <p:sp>
        <p:nvSpPr>
          <p:cNvPr id="8" name="Text 6"/>
          <p:cNvSpPr/>
          <p:nvPr/>
        </p:nvSpPr>
        <p:spPr>
          <a:xfrm>
            <a:off x="10362895" y="6537960"/>
            <a:ext cx="13716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  /  10</a:t>
            </a:r>
            <a:endParaRPr lang="en-US" sz="900" dirty="0"/>
          </a:p>
        </p:txBody>
      </p:sp>
      <p:sp>
        <p:nvSpPr>
          <p:cNvPr id="9" name="Shape 7"/>
          <p:cNvSpPr/>
          <p:nvPr/>
        </p:nvSpPr>
        <p:spPr>
          <a:xfrm>
            <a:off x="11643055" y="6400800"/>
            <a:ext cx="228600" cy="36576"/>
          </a:xfrm>
          <a:prstGeom prst="rect">
            <a:avLst/>
          </a:prstGeom>
          <a:solidFill>
            <a:srgbClr val="C8102E"/>
          </a:solidFill>
          <a:ln w="12700">
            <a:solidFill>
              <a:srgbClr val="C8102E"/>
            </a:solidFill>
            <a:prstDash val="solid"/>
          </a:ln>
        </p:spPr>
        <p:txBody>
          <a:bodyPr/>
          <a:lstStyle/>
          <a:p>
            <a:endParaRPr lang="en-US"/>
          </a:p>
        </p:txBody>
      </p:sp>
      <p:sp>
        <p:nvSpPr>
          <p:cNvPr id="10" name="Shape 8"/>
          <p:cNvSpPr/>
          <p:nvPr/>
        </p:nvSpPr>
        <p:spPr>
          <a:xfrm>
            <a:off x="457200" y="685800"/>
            <a:ext cx="73152" cy="822960"/>
          </a:xfrm>
          <a:prstGeom prst="rect">
            <a:avLst/>
          </a:prstGeom>
          <a:solidFill>
            <a:srgbClr val="C8102E"/>
          </a:solidFill>
          <a:ln w="12700">
            <a:solidFill>
              <a:srgbClr val="C8102E"/>
            </a:solidFill>
            <a:prstDash val="solid"/>
          </a:ln>
        </p:spPr>
        <p:txBody>
          <a:bodyPr/>
          <a:lstStyle/>
          <a:p>
            <a:endParaRPr lang="en-US"/>
          </a:p>
        </p:txBody>
      </p:sp>
      <p:sp>
        <p:nvSpPr>
          <p:cNvPr id="11" name="Shape 9"/>
          <p:cNvSpPr/>
          <p:nvPr/>
        </p:nvSpPr>
        <p:spPr>
          <a:xfrm>
            <a:off x="731520" y="731520"/>
            <a:ext cx="731520" cy="731520"/>
          </a:xfrm>
          <a:prstGeom prst="ellipse">
            <a:avLst/>
          </a:prstGeom>
          <a:solidFill>
            <a:srgbClr val="001F5B"/>
          </a:solidFill>
          <a:ln w="12700">
            <a:solidFill>
              <a:srgbClr val="001F5B"/>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896112" y="896112"/>
            <a:ext cx="402336" cy="402336"/>
          </a:xfrm>
          <a:prstGeom prst="rect">
            <a:avLst/>
          </a:prstGeom>
        </p:spPr>
      </p:pic>
      <p:sp>
        <p:nvSpPr>
          <p:cNvPr id="13" name="Text 10"/>
          <p:cNvSpPr/>
          <p:nvPr/>
        </p:nvSpPr>
        <p:spPr>
          <a:xfrm>
            <a:off x="1645920" y="658368"/>
            <a:ext cx="9601200" cy="548640"/>
          </a:xfrm>
          <a:prstGeom prst="rect">
            <a:avLst/>
          </a:prstGeom>
          <a:noFill/>
          <a:ln/>
        </p:spPr>
        <p:txBody>
          <a:bodyPr wrap="square" lIns="0" tIns="0" rIns="0" bIns="0" rtlCol="0" anchor="ctr"/>
          <a:lstStyle/>
          <a:p>
            <a:pPr marL="0" indent="0">
              <a:buNone/>
            </a:pPr>
            <a:r>
              <a:rPr lang="en-US" sz="3000" b="1" dirty="0">
                <a:solidFill>
                  <a:srgbClr val="001F5B"/>
                </a:solidFill>
                <a:latin typeface="Georgia" pitchFamily="34" charset="0"/>
                <a:ea typeface="Georgia" pitchFamily="34" charset="-122"/>
                <a:cs typeface="Georgia" pitchFamily="34" charset="-120"/>
              </a:rPr>
              <a:t>Feature Importance &amp; Interpretation</a:t>
            </a:r>
            <a:endParaRPr lang="en-US" sz="3000" dirty="0"/>
          </a:p>
        </p:txBody>
      </p:sp>
      <p:sp>
        <p:nvSpPr>
          <p:cNvPr id="14" name="Text 11"/>
          <p:cNvSpPr/>
          <p:nvPr/>
        </p:nvSpPr>
        <p:spPr>
          <a:xfrm>
            <a:off x="1645920" y="1170432"/>
            <a:ext cx="960120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Which features drive the predictions, and what it means</a:t>
            </a:r>
            <a:endParaRPr lang="en-US" sz="1200" dirty="0"/>
          </a:p>
        </p:txBody>
      </p:sp>
      <p:sp>
        <p:nvSpPr>
          <p:cNvPr id="15" name="Text 12"/>
          <p:cNvSpPr/>
          <p:nvPr/>
        </p:nvSpPr>
        <p:spPr>
          <a:xfrm>
            <a:off x="457200" y="1828800"/>
            <a:ext cx="4572000" cy="320040"/>
          </a:xfrm>
          <a:prstGeom prst="rect">
            <a:avLst/>
          </a:prstGeom>
          <a:noFill/>
          <a:ln/>
        </p:spPr>
        <p:txBody>
          <a:bodyPr wrap="square" lIns="0" tIns="0" rIns="0" bIns="0" rtlCol="0" anchor="ctr"/>
          <a:lstStyle/>
          <a:p>
            <a:pPr marL="0" indent="0">
              <a:buNone/>
            </a:pPr>
            <a:r>
              <a:rPr lang="en-US" sz="1100" b="1" kern="0" spc="400" dirty="0">
                <a:solidFill>
                  <a:srgbClr val="C8102E"/>
                </a:solidFill>
                <a:latin typeface="Calibri" pitchFamily="34" charset="0"/>
                <a:ea typeface="Calibri" pitchFamily="34" charset="-122"/>
                <a:cs typeface="Calibri" pitchFamily="34" charset="-120"/>
              </a:rPr>
              <a:t>TOP FEATURES</a:t>
            </a:r>
            <a:endParaRPr lang="en-US" sz="1100" dirty="0"/>
          </a:p>
        </p:txBody>
      </p:sp>
      <p:sp>
        <p:nvSpPr>
          <p:cNvPr id="16" name="Shape 13"/>
          <p:cNvSpPr/>
          <p:nvPr/>
        </p:nvSpPr>
        <p:spPr>
          <a:xfrm>
            <a:off x="457200" y="2377440"/>
            <a:ext cx="457200" cy="457200"/>
          </a:xfrm>
          <a:prstGeom prst="ellipse">
            <a:avLst/>
          </a:prstGeom>
          <a:solidFill>
            <a:srgbClr val="001F5B"/>
          </a:solidFill>
          <a:ln w="12700">
            <a:solidFill>
              <a:srgbClr val="001F5B"/>
            </a:solidFill>
            <a:prstDash val="solid"/>
          </a:ln>
        </p:spPr>
        <p:txBody>
          <a:bodyPr/>
          <a:lstStyle/>
          <a:p>
            <a:endParaRPr lang="en-US"/>
          </a:p>
        </p:txBody>
      </p:sp>
      <p:sp>
        <p:nvSpPr>
          <p:cNvPr id="17" name="Text 14"/>
          <p:cNvSpPr/>
          <p:nvPr/>
        </p:nvSpPr>
        <p:spPr>
          <a:xfrm>
            <a:off x="457200" y="23774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8" name="Text 15"/>
          <p:cNvSpPr/>
          <p:nvPr/>
        </p:nvSpPr>
        <p:spPr>
          <a:xfrm>
            <a:off x="1097280" y="2286000"/>
            <a:ext cx="3931920" cy="320040"/>
          </a:xfrm>
          <a:prstGeom prst="rect">
            <a:avLst/>
          </a:prstGeom>
          <a:noFill/>
          <a:ln/>
        </p:spPr>
        <p:txBody>
          <a:bodyPr wrap="square" lIns="0" tIns="0" rIns="0" bIns="0" rtlCol="0" anchor="ctr"/>
          <a:lstStyle/>
          <a:p>
            <a:pPr marL="0" indent="0">
              <a:buNone/>
            </a:pPr>
            <a:r>
              <a:rPr lang="en-US" sz="1300" b="1" dirty="0" err="1">
                <a:solidFill>
                  <a:srgbClr val="001F5B"/>
                </a:solidFill>
                <a:latin typeface="Consolas" pitchFamily="34" charset="0"/>
              </a:rPr>
              <a:t>cibil_score</a:t>
            </a:r>
            <a:endParaRPr lang="en-US" sz="1300" dirty="0"/>
          </a:p>
        </p:txBody>
      </p:sp>
      <p:sp>
        <p:nvSpPr>
          <p:cNvPr id="19" name="Shape 16"/>
          <p:cNvSpPr/>
          <p:nvPr/>
        </p:nvSpPr>
        <p:spPr>
          <a:xfrm>
            <a:off x="1097280" y="2651760"/>
            <a:ext cx="3931920" cy="164592"/>
          </a:xfrm>
          <a:prstGeom prst="rect">
            <a:avLst/>
          </a:prstGeom>
          <a:solidFill>
            <a:srgbClr val="E5E7EB"/>
          </a:solidFill>
          <a:ln w="12700">
            <a:solidFill>
              <a:srgbClr val="E5E7EB"/>
            </a:solidFill>
            <a:prstDash val="solid"/>
          </a:ln>
        </p:spPr>
        <p:txBody>
          <a:bodyPr/>
          <a:lstStyle/>
          <a:p>
            <a:endParaRPr lang="en-US"/>
          </a:p>
        </p:txBody>
      </p:sp>
      <p:sp>
        <p:nvSpPr>
          <p:cNvPr id="20" name="Shape 17"/>
          <p:cNvSpPr/>
          <p:nvPr/>
        </p:nvSpPr>
        <p:spPr>
          <a:xfrm>
            <a:off x="1097280" y="2651760"/>
            <a:ext cx="3342132" cy="164592"/>
          </a:xfrm>
          <a:prstGeom prst="rect">
            <a:avLst/>
          </a:prstGeom>
          <a:solidFill>
            <a:srgbClr val="C8102E"/>
          </a:solidFill>
          <a:ln w="12700">
            <a:solidFill>
              <a:srgbClr val="C8102E"/>
            </a:solidFill>
            <a:prstDash val="solid"/>
          </a:ln>
        </p:spPr>
        <p:txBody>
          <a:bodyPr/>
          <a:lstStyle/>
          <a:p>
            <a:endParaRPr lang="en-US"/>
          </a:p>
        </p:txBody>
      </p:sp>
      <p:sp>
        <p:nvSpPr>
          <p:cNvPr id="21" name="Shape 18"/>
          <p:cNvSpPr/>
          <p:nvPr/>
        </p:nvSpPr>
        <p:spPr>
          <a:xfrm>
            <a:off x="457200" y="3108960"/>
            <a:ext cx="457200" cy="457200"/>
          </a:xfrm>
          <a:prstGeom prst="ellipse">
            <a:avLst/>
          </a:prstGeom>
          <a:solidFill>
            <a:srgbClr val="001F5B"/>
          </a:solidFill>
          <a:ln w="12700">
            <a:solidFill>
              <a:srgbClr val="001F5B"/>
            </a:solidFill>
            <a:prstDash val="solid"/>
          </a:ln>
        </p:spPr>
        <p:txBody>
          <a:bodyPr/>
          <a:lstStyle/>
          <a:p>
            <a:endParaRPr lang="en-US"/>
          </a:p>
        </p:txBody>
      </p:sp>
      <p:sp>
        <p:nvSpPr>
          <p:cNvPr id="22" name="Text 19"/>
          <p:cNvSpPr/>
          <p:nvPr/>
        </p:nvSpPr>
        <p:spPr>
          <a:xfrm>
            <a:off x="457200" y="31089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23" name="Text 20"/>
          <p:cNvSpPr/>
          <p:nvPr/>
        </p:nvSpPr>
        <p:spPr>
          <a:xfrm>
            <a:off x="1097280" y="3017520"/>
            <a:ext cx="3931920" cy="320040"/>
          </a:xfrm>
          <a:prstGeom prst="rect">
            <a:avLst/>
          </a:prstGeom>
          <a:noFill/>
          <a:ln/>
        </p:spPr>
        <p:txBody>
          <a:bodyPr wrap="square" lIns="0" tIns="0" rIns="0" bIns="0" rtlCol="0" anchor="ctr"/>
          <a:lstStyle/>
          <a:p>
            <a:pPr marL="0" indent="0">
              <a:buNone/>
            </a:pPr>
            <a:r>
              <a:rPr lang="en-US" sz="1300" b="1" dirty="0" err="1">
                <a:solidFill>
                  <a:srgbClr val="001F5B"/>
                </a:solidFill>
                <a:latin typeface="Consolas" pitchFamily="34" charset="0"/>
              </a:rPr>
              <a:t>loan_term</a:t>
            </a:r>
            <a:endParaRPr lang="en-US" sz="1300" dirty="0"/>
          </a:p>
        </p:txBody>
      </p:sp>
      <p:sp>
        <p:nvSpPr>
          <p:cNvPr id="24" name="Shape 21"/>
          <p:cNvSpPr/>
          <p:nvPr/>
        </p:nvSpPr>
        <p:spPr>
          <a:xfrm>
            <a:off x="1097280" y="3383280"/>
            <a:ext cx="3931920" cy="164592"/>
          </a:xfrm>
          <a:prstGeom prst="rect">
            <a:avLst/>
          </a:prstGeom>
          <a:solidFill>
            <a:srgbClr val="E5E7EB"/>
          </a:solidFill>
          <a:ln w="12700">
            <a:solidFill>
              <a:srgbClr val="E5E7EB"/>
            </a:solidFill>
            <a:prstDash val="solid"/>
          </a:ln>
        </p:spPr>
        <p:txBody>
          <a:bodyPr/>
          <a:lstStyle/>
          <a:p>
            <a:endParaRPr lang="en-US"/>
          </a:p>
        </p:txBody>
      </p:sp>
      <p:sp>
        <p:nvSpPr>
          <p:cNvPr id="25" name="Shape 22"/>
          <p:cNvSpPr/>
          <p:nvPr/>
        </p:nvSpPr>
        <p:spPr>
          <a:xfrm>
            <a:off x="1097280" y="3383280"/>
            <a:ext cx="2437790" cy="164592"/>
          </a:xfrm>
          <a:prstGeom prst="rect">
            <a:avLst/>
          </a:prstGeom>
          <a:solidFill>
            <a:srgbClr val="C8102E"/>
          </a:solidFill>
          <a:ln w="12700">
            <a:solidFill>
              <a:srgbClr val="C8102E"/>
            </a:solidFill>
            <a:prstDash val="solid"/>
          </a:ln>
        </p:spPr>
        <p:txBody>
          <a:bodyPr/>
          <a:lstStyle/>
          <a:p>
            <a:endParaRPr lang="en-US"/>
          </a:p>
        </p:txBody>
      </p:sp>
      <p:sp>
        <p:nvSpPr>
          <p:cNvPr id="26" name="Shape 23"/>
          <p:cNvSpPr/>
          <p:nvPr/>
        </p:nvSpPr>
        <p:spPr>
          <a:xfrm>
            <a:off x="457200" y="3840480"/>
            <a:ext cx="457200" cy="457200"/>
          </a:xfrm>
          <a:prstGeom prst="ellipse">
            <a:avLst/>
          </a:prstGeom>
          <a:solidFill>
            <a:srgbClr val="001F5B"/>
          </a:solidFill>
          <a:ln w="12700">
            <a:solidFill>
              <a:srgbClr val="001F5B"/>
            </a:solidFill>
            <a:prstDash val="solid"/>
          </a:ln>
        </p:spPr>
        <p:txBody>
          <a:bodyPr/>
          <a:lstStyle/>
          <a:p>
            <a:endParaRPr lang="en-US"/>
          </a:p>
        </p:txBody>
      </p:sp>
      <p:sp>
        <p:nvSpPr>
          <p:cNvPr id="27" name="Text 24"/>
          <p:cNvSpPr/>
          <p:nvPr/>
        </p:nvSpPr>
        <p:spPr>
          <a:xfrm>
            <a:off x="457200" y="3840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8" name="Text 25"/>
          <p:cNvSpPr/>
          <p:nvPr/>
        </p:nvSpPr>
        <p:spPr>
          <a:xfrm>
            <a:off x="1097280" y="3749040"/>
            <a:ext cx="3931920" cy="320040"/>
          </a:xfrm>
          <a:prstGeom prst="rect">
            <a:avLst/>
          </a:prstGeom>
          <a:noFill/>
          <a:ln/>
        </p:spPr>
        <p:txBody>
          <a:bodyPr wrap="square" lIns="0" tIns="0" rIns="0" bIns="0" rtlCol="0" anchor="ctr"/>
          <a:lstStyle/>
          <a:p>
            <a:pPr marL="0" indent="0">
              <a:buNone/>
            </a:pPr>
            <a:r>
              <a:rPr lang="en-US" sz="1300" b="1" dirty="0" err="1">
                <a:solidFill>
                  <a:srgbClr val="002060"/>
                </a:solidFill>
                <a:latin typeface="Consolas" panose="020B0609020204030204" pitchFamily="49" charset="0"/>
              </a:rPr>
              <a:t>loan_amount</a:t>
            </a:r>
            <a:endParaRPr lang="en-US" sz="1300" b="1" dirty="0">
              <a:solidFill>
                <a:srgbClr val="002060"/>
              </a:solidFill>
              <a:latin typeface="Consolas" panose="020B0609020204030204" pitchFamily="49" charset="0"/>
            </a:endParaRPr>
          </a:p>
        </p:txBody>
      </p:sp>
      <p:sp>
        <p:nvSpPr>
          <p:cNvPr id="29" name="Shape 26"/>
          <p:cNvSpPr/>
          <p:nvPr/>
        </p:nvSpPr>
        <p:spPr>
          <a:xfrm>
            <a:off x="1097280" y="4114800"/>
            <a:ext cx="3931920" cy="164592"/>
          </a:xfrm>
          <a:prstGeom prst="rect">
            <a:avLst/>
          </a:prstGeom>
          <a:solidFill>
            <a:srgbClr val="E5E7EB"/>
          </a:solidFill>
          <a:ln w="12700">
            <a:solidFill>
              <a:srgbClr val="E5E7EB"/>
            </a:solidFill>
            <a:prstDash val="solid"/>
          </a:ln>
        </p:spPr>
        <p:txBody>
          <a:bodyPr/>
          <a:lstStyle/>
          <a:p>
            <a:endParaRPr lang="en-US"/>
          </a:p>
        </p:txBody>
      </p:sp>
      <p:sp>
        <p:nvSpPr>
          <p:cNvPr id="30" name="Shape 27"/>
          <p:cNvSpPr/>
          <p:nvPr/>
        </p:nvSpPr>
        <p:spPr>
          <a:xfrm>
            <a:off x="1097280" y="4114800"/>
            <a:ext cx="1887322" cy="164592"/>
          </a:xfrm>
          <a:prstGeom prst="rect">
            <a:avLst/>
          </a:prstGeom>
          <a:solidFill>
            <a:srgbClr val="C8102E"/>
          </a:solidFill>
          <a:ln w="12700">
            <a:solidFill>
              <a:srgbClr val="C8102E"/>
            </a:solidFill>
            <a:prstDash val="solid"/>
          </a:ln>
        </p:spPr>
        <p:txBody>
          <a:bodyPr/>
          <a:lstStyle/>
          <a:p>
            <a:endParaRPr lang="en-US"/>
          </a:p>
        </p:txBody>
      </p:sp>
      <p:sp>
        <p:nvSpPr>
          <p:cNvPr id="31" name="Shape 28"/>
          <p:cNvSpPr/>
          <p:nvPr/>
        </p:nvSpPr>
        <p:spPr>
          <a:xfrm>
            <a:off x="457200" y="4572000"/>
            <a:ext cx="457200" cy="457200"/>
          </a:xfrm>
          <a:prstGeom prst="ellipse">
            <a:avLst/>
          </a:prstGeom>
          <a:solidFill>
            <a:srgbClr val="001F5B"/>
          </a:solidFill>
          <a:ln w="12700">
            <a:solidFill>
              <a:srgbClr val="001F5B"/>
            </a:solidFill>
            <a:prstDash val="solid"/>
          </a:ln>
        </p:spPr>
        <p:txBody>
          <a:bodyPr/>
          <a:lstStyle/>
          <a:p>
            <a:endParaRPr lang="en-US"/>
          </a:p>
        </p:txBody>
      </p:sp>
      <p:sp>
        <p:nvSpPr>
          <p:cNvPr id="32" name="Text 29"/>
          <p:cNvSpPr/>
          <p:nvPr/>
        </p:nvSpPr>
        <p:spPr>
          <a:xfrm>
            <a:off x="457200" y="4572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33" name="Text 30"/>
          <p:cNvSpPr/>
          <p:nvPr/>
        </p:nvSpPr>
        <p:spPr>
          <a:xfrm>
            <a:off x="1097280" y="4480560"/>
            <a:ext cx="3931920" cy="320040"/>
          </a:xfrm>
          <a:prstGeom prst="rect">
            <a:avLst/>
          </a:prstGeom>
          <a:noFill/>
          <a:ln/>
        </p:spPr>
        <p:txBody>
          <a:bodyPr wrap="square" lIns="0" tIns="0" rIns="0" bIns="0" rtlCol="0" anchor="ctr"/>
          <a:lstStyle/>
          <a:p>
            <a:pPr marL="0" indent="0">
              <a:buNone/>
            </a:pPr>
            <a:r>
              <a:rPr lang="en-US" sz="1300" b="1" dirty="0" err="1">
                <a:solidFill>
                  <a:srgbClr val="001F5B"/>
                </a:solidFill>
                <a:latin typeface="Consolas" pitchFamily="34" charset="0"/>
              </a:rPr>
              <a:t>total_assets</a:t>
            </a:r>
            <a:endParaRPr lang="en-US" sz="1300" dirty="0"/>
          </a:p>
        </p:txBody>
      </p:sp>
      <p:sp>
        <p:nvSpPr>
          <p:cNvPr id="34" name="Shape 31"/>
          <p:cNvSpPr/>
          <p:nvPr/>
        </p:nvSpPr>
        <p:spPr>
          <a:xfrm>
            <a:off x="1097280" y="4846320"/>
            <a:ext cx="3931920" cy="164592"/>
          </a:xfrm>
          <a:prstGeom prst="rect">
            <a:avLst/>
          </a:prstGeom>
          <a:solidFill>
            <a:srgbClr val="E5E7EB"/>
          </a:solidFill>
          <a:ln w="12700">
            <a:solidFill>
              <a:srgbClr val="E5E7EB"/>
            </a:solidFill>
            <a:prstDash val="solid"/>
          </a:ln>
        </p:spPr>
        <p:txBody>
          <a:bodyPr/>
          <a:lstStyle/>
          <a:p>
            <a:endParaRPr lang="en-US"/>
          </a:p>
        </p:txBody>
      </p:sp>
      <p:sp>
        <p:nvSpPr>
          <p:cNvPr id="35" name="Shape 32"/>
          <p:cNvSpPr/>
          <p:nvPr/>
        </p:nvSpPr>
        <p:spPr>
          <a:xfrm>
            <a:off x="1097280" y="4846320"/>
            <a:ext cx="1336853" cy="164592"/>
          </a:xfrm>
          <a:prstGeom prst="rect">
            <a:avLst/>
          </a:prstGeom>
          <a:solidFill>
            <a:srgbClr val="C8102E"/>
          </a:solidFill>
          <a:ln w="12700">
            <a:solidFill>
              <a:srgbClr val="C8102E"/>
            </a:solidFill>
            <a:prstDash val="solid"/>
          </a:ln>
        </p:spPr>
        <p:txBody>
          <a:bodyPr/>
          <a:lstStyle/>
          <a:p>
            <a:endParaRPr lang="en-US"/>
          </a:p>
        </p:txBody>
      </p:sp>
      <p:sp>
        <p:nvSpPr>
          <p:cNvPr id="36" name="Shape 33"/>
          <p:cNvSpPr/>
          <p:nvPr/>
        </p:nvSpPr>
        <p:spPr>
          <a:xfrm>
            <a:off x="457200" y="5303520"/>
            <a:ext cx="457200" cy="457200"/>
          </a:xfrm>
          <a:prstGeom prst="ellipse">
            <a:avLst/>
          </a:prstGeom>
          <a:solidFill>
            <a:srgbClr val="001F5B"/>
          </a:solidFill>
          <a:ln w="12700">
            <a:solidFill>
              <a:srgbClr val="001F5B"/>
            </a:solidFill>
            <a:prstDash val="solid"/>
          </a:ln>
        </p:spPr>
        <p:txBody>
          <a:bodyPr/>
          <a:lstStyle/>
          <a:p>
            <a:endParaRPr lang="en-US"/>
          </a:p>
        </p:txBody>
      </p:sp>
      <p:sp>
        <p:nvSpPr>
          <p:cNvPr id="37" name="Text 34"/>
          <p:cNvSpPr/>
          <p:nvPr/>
        </p:nvSpPr>
        <p:spPr>
          <a:xfrm>
            <a:off x="457200" y="53035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38" name="Text 35"/>
          <p:cNvSpPr/>
          <p:nvPr/>
        </p:nvSpPr>
        <p:spPr>
          <a:xfrm>
            <a:off x="1097280" y="5212080"/>
            <a:ext cx="3931920" cy="320040"/>
          </a:xfrm>
          <a:prstGeom prst="rect">
            <a:avLst/>
          </a:prstGeom>
          <a:noFill/>
          <a:ln/>
        </p:spPr>
        <p:txBody>
          <a:bodyPr wrap="square" lIns="0" tIns="0" rIns="0" bIns="0" rtlCol="0" anchor="ctr"/>
          <a:lstStyle/>
          <a:p>
            <a:pPr marL="0" indent="0">
              <a:buNone/>
            </a:pPr>
            <a:r>
              <a:rPr lang="en-US" sz="1300" b="1" dirty="0" err="1">
                <a:solidFill>
                  <a:srgbClr val="001F5B"/>
                </a:solidFill>
                <a:latin typeface="Consolas" pitchFamily="34" charset="0"/>
              </a:rPr>
              <a:t>education_num</a:t>
            </a:r>
            <a:endParaRPr lang="en-US" sz="1300" dirty="0"/>
          </a:p>
        </p:txBody>
      </p:sp>
      <p:sp>
        <p:nvSpPr>
          <p:cNvPr id="39" name="Shape 36"/>
          <p:cNvSpPr/>
          <p:nvPr/>
        </p:nvSpPr>
        <p:spPr>
          <a:xfrm>
            <a:off x="1097280" y="5577840"/>
            <a:ext cx="3931920" cy="164592"/>
          </a:xfrm>
          <a:prstGeom prst="rect">
            <a:avLst/>
          </a:prstGeom>
          <a:solidFill>
            <a:srgbClr val="E5E7EB"/>
          </a:solidFill>
          <a:ln w="12700">
            <a:solidFill>
              <a:srgbClr val="E5E7EB"/>
            </a:solidFill>
            <a:prstDash val="solid"/>
          </a:ln>
        </p:spPr>
        <p:txBody>
          <a:bodyPr/>
          <a:lstStyle/>
          <a:p>
            <a:endParaRPr lang="en-US"/>
          </a:p>
        </p:txBody>
      </p:sp>
      <p:sp>
        <p:nvSpPr>
          <p:cNvPr id="40" name="Shape 37"/>
          <p:cNvSpPr/>
          <p:nvPr/>
        </p:nvSpPr>
        <p:spPr>
          <a:xfrm>
            <a:off x="1097280" y="5577840"/>
            <a:ext cx="865022" cy="164592"/>
          </a:xfrm>
          <a:prstGeom prst="rect">
            <a:avLst/>
          </a:prstGeom>
          <a:solidFill>
            <a:srgbClr val="C8102E"/>
          </a:solidFill>
          <a:ln w="12700">
            <a:solidFill>
              <a:srgbClr val="C8102E"/>
            </a:solidFill>
            <a:prstDash val="solid"/>
          </a:ln>
        </p:spPr>
        <p:txBody>
          <a:bodyPr/>
          <a:lstStyle/>
          <a:p>
            <a:endParaRPr lang="en-US"/>
          </a:p>
        </p:txBody>
      </p:sp>
      <p:sp>
        <p:nvSpPr>
          <p:cNvPr id="42" name="Shape 39"/>
          <p:cNvSpPr/>
          <p:nvPr/>
        </p:nvSpPr>
        <p:spPr>
          <a:xfrm>
            <a:off x="5486400" y="1828800"/>
            <a:ext cx="914400" cy="91440"/>
          </a:xfrm>
          <a:prstGeom prst="rect">
            <a:avLst/>
          </a:prstGeom>
          <a:solidFill>
            <a:srgbClr val="C8102E"/>
          </a:solidFill>
          <a:ln w="12700">
            <a:solidFill>
              <a:srgbClr val="C8102E"/>
            </a:solidFill>
            <a:prstDash val="solid"/>
          </a:ln>
        </p:spPr>
        <p:txBody>
          <a:bodyPr/>
          <a:lstStyle/>
          <a:p>
            <a:endParaRPr lang="en-US"/>
          </a:p>
        </p:txBody>
      </p:sp>
      <p:pic>
        <p:nvPicPr>
          <p:cNvPr id="43" name="Image 1" descr="preencoded.png"/>
          <p:cNvPicPr>
            <a:picLocks noChangeAspect="1"/>
          </p:cNvPicPr>
          <p:nvPr/>
        </p:nvPicPr>
        <p:blipFill>
          <a:blip r:embed="rId4"/>
          <a:stretch>
            <a:fillRect/>
          </a:stretch>
        </p:blipFill>
        <p:spPr>
          <a:xfrm>
            <a:off x="8275320" y="2606040"/>
            <a:ext cx="640080" cy="640080"/>
          </a:xfrm>
          <a:prstGeom prst="rect">
            <a:avLst/>
          </a:prstGeom>
        </p:spPr>
      </p:pic>
      <p:sp>
        <p:nvSpPr>
          <p:cNvPr id="44" name="Text 40"/>
          <p:cNvSpPr/>
          <p:nvPr/>
        </p:nvSpPr>
        <p:spPr>
          <a:xfrm>
            <a:off x="5486400" y="3383280"/>
            <a:ext cx="6217920" cy="365760"/>
          </a:xfrm>
          <a:prstGeom prst="rect">
            <a:avLst/>
          </a:prstGeom>
          <a:noFill/>
          <a:ln/>
        </p:spPr>
        <p:txBody>
          <a:bodyPr wrap="square" lIns="0" tIns="0" rIns="0" bIns="0" rtlCol="0" anchor="ctr"/>
          <a:lstStyle/>
          <a:p>
            <a:pPr marL="0" indent="0" algn="ctr">
              <a:buNone/>
            </a:pPr>
            <a:r>
              <a:rPr lang="en-US" sz="1400" b="1" dirty="0">
                <a:solidFill>
                  <a:srgbClr val="001F5B"/>
                </a:solidFill>
                <a:latin typeface="Calibri" pitchFamily="34" charset="0"/>
                <a:ea typeface="Calibri" pitchFamily="34" charset="-122"/>
                <a:cs typeface="Calibri" pitchFamily="34" charset="-120"/>
              </a:rPr>
              <a:t>[ Feature importance plot ]</a:t>
            </a:r>
            <a:endParaRPr lang="en-US" sz="1400" dirty="0"/>
          </a:p>
        </p:txBody>
      </p:sp>
      <p:sp>
        <p:nvSpPr>
          <p:cNvPr id="45" name="Shape 41"/>
          <p:cNvSpPr/>
          <p:nvPr/>
        </p:nvSpPr>
        <p:spPr>
          <a:xfrm>
            <a:off x="5486400" y="4892040"/>
            <a:ext cx="6217920" cy="1371600"/>
          </a:xfrm>
          <a:prstGeom prst="rect">
            <a:avLst/>
          </a:prstGeom>
          <a:solidFill>
            <a:srgbClr val="001F5B"/>
          </a:solidFill>
          <a:ln w="12700">
            <a:solidFill>
              <a:srgbClr val="001F5B"/>
            </a:solidFill>
            <a:prstDash val="solid"/>
          </a:ln>
        </p:spPr>
        <p:txBody>
          <a:bodyPr/>
          <a:lstStyle/>
          <a:p>
            <a:endParaRPr lang="en-US"/>
          </a:p>
        </p:txBody>
      </p:sp>
      <p:sp>
        <p:nvSpPr>
          <p:cNvPr id="46" name="Shape 42"/>
          <p:cNvSpPr/>
          <p:nvPr/>
        </p:nvSpPr>
        <p:spPr>
          <a:xfrm>
            <a:off x="5486400" y="4892040"/>
            <a:ext cx="91440" cy="1371600"/>
          </a:xfrm>
          <a:prstGeom prst="rect">
            <a:avLst/>
          </a:prstGeom>
          <a:solidFill>
            <a:srgbClr val="C8102E"/>
          </a:solidFill>
          <a:ln w="12700">
            <a:solidFill>
              <a:srgbClr val="C8102E"/>
            </a:solidFill>
            <a:prstDash val="solid"/>
          </a:ln>
        </p:spPr>
        <p:txBody>
          <a:bodyPr/>
          <a:lstStyle/>
          <a:p>
            <a:endParaRPr lang="en-US"/>
          </a:p>
        </p:txBody>
      </p:sp>
      <p:sp>
        <p:nvSpPr>
          <p:cNvPr id="47" name="Text 43"/>
          <p:cNvSpPr/>
          <p:nvPr/>
        </p:nvSpPr>
        <p:spPr>
          <a:xfrm>
            <a:off x="5760720" y="5029200"/>
            <a:ext cx="5760720" cy="274320"/>
          </a:xfrm>
          <a:prstGeom prst="rect">
            <a:avLst/>
          </a:prstGeom>
          <a:noFill/>
          <a:ln/>
        </p:spPr>
        <p:txBody>
          <a:bodyPr wrap="square" lIns="0" tIns="0" rIns="0" bIns="0" rtlCol="0" anchor="ctr"/>
          <a:lstStyle/>
          <a:p>
            <a:pPr marL="0" indent="0">
              <a:buNone/>
            </a:pPr>
            <a:r>
              <a:rPr lang="en-US" sz="1100" b="1" kern="0" spc="400" dirty="0">
                <a:solidFill>
                  <a:srgbClr val="A9B8D4"/>
                </a:solidFill>
                <a:latin typeface="Calibri" pitchFamily="34" charset="0"/>
                <a:ea typeface="Calibri" pitchFamily="34" charset="-122"/>
                <a:cs typeface="Calibri" pitchFamily="34" charset="-120"/>
              </a:rPr>
              <a:t>INTERPRETATION</a:t>
            </a:r>
            <a:endParaRPr lang="en-US" sz="1100" dirty="0"/>
          </a:p>
        </p:txBody>
      </p:sp>
      <p:sp>
        <p:nvSpPr>
          <p:cNvPr id="48" name="Text 44"/>
          <p:cNvSpPr/>
          <p:nvPr/>
        </p:nvSpPr>
        <p:spPr>
          <a:xfrm>
            <a:off x="5760720" y="5281504"/>
            <a:ext cx="5760720" cy="822960"/>
          </a:xfrm>
          <a:prstGeom prst="rect">
            <a:avLst/>
          </a:prstGeom>
          <a:noFill/>
          <a:ln/>
        </p:spPr>
        <p:txBody>
          <a:bodyPr wrap="square" lIns="0" tIns="0" rIns="0" bIns="0" rtlCol="0" anchor="t"/>
          <a:lstStyle/>
          <a:p>
            <a:pPr marL="0" indent="0">
              <a:buNone/>
            </a:pPr>
            <a:r>
              <a:rPr lang="en-US" sz="1300" i="1" dirty="0">
                <a:solidFill>
                  <a:srgbClr val="FFFFFF"/>
                </a:solidFill>
                <a:latin typeface="Calibri" pitchFamily="34" charset="0"/>
                <a:ea typeface="Calibri" pitchFamily="34" charset="-122"/>
                <a:cs typeface="Calibri" pitchFamily="34" charset="-120"/>
              </a:rPr>
              <a:t>The top feature is credit score which is not surprising. Financial institution focus heavily on credit score when making lending decision because it acts as a numerical representation of a person’s reliability in repayment. This does not suggest leakage or bias as it was a legitimate input available prior to decision making and its importance aligns with its strong correlation to the target variable.</a:t>
            </a:r>
            <a:endParaRPr lang="en-US" sz="1300" dirty="0"/>
          </a:p>
        </p:txBody>
      </p:sp>
      <p:pic>
        <p:nvPicPr>
          <p:cNvPr id="49" name="Picture 48">
            <a:extLst>
              <a:ext uri="{FF2B5EF4-FFF2-40B4-BE49-F238E27FC236}">
                <a16:creationId xmlns:a16="http://schemas.microsoft.com/office/drawing/2014/main" id="{184F71B5-2544-8B79-CE59-45D67796FE6C}"/>
              </a:ext>
            </a:extLst>
          </p:cNvPr>
          <p:cNvPicPr>
            <a:picLocks noChangeAspect="1"/>
          </p:cNvPicPr>
          <p:nvPr/>
        </p:nvPicPr>
        <p:blipFill>
          <a:blip r:embed="rId5"/>
          <a:stretch>
            <a:fillRect/>
          </a:stretch>
        </p:blipFill>
        <p:spPr>
          <a:xfrm>
            <a:off x="5431689" y="1984243"/>
            <a:ext cx="4572000" cy="27009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01F5B"/>
          </a:solidFill>
          <a:ln w="12700">
            <a:solidFill>
              <a:srgbClr val="001F5B"/>
            </a:solidFill>
            <a:prstDash val="solid"/>
          </a:ln>
        </p:spPr>
        <p:txBody>
          <a:bodyPr/>
          <a:lstStyle/>
          <a:p>
            <a:endParaRPr lang="en-US"/>
          </a:p>
        </p:txBody>
      </p:sp>
      <p:sp>
        <p:nvSpPr>
          <p:cNvPr id="3" name="Shape 1"/>
          <p:cNvSpPr/>
          <p:nvPr/>
        </p:nvSpPr>
        <p:spPr>
          <a:xfrm>
            <a:off x="0" y="0"/>
            <a:ext cx="320040" cy="320040"/>
          </a:xfrm>
          <a:prstGeom prst="rect">
            <a:avLst/>
          </a:prstGeom>
          <a:solidFill>
            <a:srgbClr val="C8102E"/>
          </a:solidFill>
          <a:ln w="12700">
            <a:solidFill>
              <a:srgbClr val="C8102E"/>
            </a:solidFill>
            <a:prstDash val="solid"/>
          </a:ln>
        </p:spPr>
        <p:txBody>
          <a:bodyPr/>
          <a:lstStyle/>
          <a:p>
            <a:endParaRPr lang="en-US"/>
          </a:p>
        </p:txBody>
      </p:sp>
      <p:sp>
        <p:nvSpPr>
          <p:cNvPr id="4" name="Text 2"/>
          <p:cNvSpPr/>
          <p:nvPr/>
        </p:nvSpPr>
        <p:spPr>
          <a:xfrm>
            <a:off x="457200" y="0"/>
            <a:ext cx="2743200" cy="320040"/>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CATAWBA COLLEGE</a:t>
            </a:r>
            <a:endParaRPr lang="en-US" sz="900" dirty="0"/>
          </a:p>
        </p:txBody>
      </p:sp>
      <p:sp>
        <p:nvSpPr>
          <p:cNvPr id="5" name="Text 3"/>
          <p:cNvSpPr/>
          <p:nvPr/>
        </p:nvSpPr>
        <p:spPr>
          <a:xfrm>
            <a:off x="8076895" y="0"/>
            <a:ext cx="3657600" cy="320040"/>
          </a:xfrm>
          <a:prstGeom prst="rect">
            <a:avLst/>
          </a:prstGeom>
          <a:noFill/>
          <a:ln/>
        </p:spPr>
        <p:txBody>
          <a:bodyPr wrap="square" lIns="0" tIns="0" rIns="0" bIns="0"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08 · REFLECTION</a:t>
            </a:r>
            <a:endParaRPr lang="en-US" sz="900" dirty="0"/>
          </a:p>
        </p:txBody>
      </p:sp>
      <p:sp>
        <p:nvSpPr>
          <p:cNvPr id="6" name="Shape 4"/>
          <p:cNvSpPr/>
          <p:nvPr/>
        </p:nvSpPr>
        <p:spPr>
          <a:xfrm>
            <a:off x="457200" y="6492240"/>
            <a:ext cx="11277295" cy="0"/>
          </a:xfrm>
          <a:prstGeom prst="line">
            <a:avLst/>
          </a:prstGeom>
          <a:noFill/>
          <a:ln w="9525">
            <a:solidFill>
              <a:srgbClr val="E5E7EB"/>
            </a:solidFill>
            <a:prstDash val="solid"/>
          </a:ln>
        </p:spPr>
        <p:txBody>
          <a:bodyPr/>
          <a:lstStyle/>
          <a:p>
            <a:endParaRPr lang="en-US"/>
          </a:p>
        </p:txBody>
      </p:sp>
      <p:sp>
        <p:nvSpPr>
          <p:cNvPr id="7" name="Text 5"/>
          <p:cNvSpPr/>
          <p:nvPr/>
        </p:nvSpPr>
        <p:spPr>
          <a:xfrm>
            <a:off x="457200" y="6537960"/>
            <a:ext cx="457200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Data Mining · Final Project</a:t>
            </a:r>
            <a:endParaRPr lang="en-US" sz="900" dirty="0"/>
          </a:p>
        </p:txBody>
      </p:sp>
      <p:sp>
        <p:nvSpPr>
          <p:cNvPr id="8" name="Text 6"/>
          <p:cNvSpPr/>
          <p:nvPr/>
        </p:nvSpPr>
        <p:spPr>
          <a:xfrm>
            <a:off x="10362895" y="6537960"/>
            <a:ext cx="13716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  /  10</a:t>
            </a:r>
            <a:endParaRPr lang="en-US" sz="900" dirty="0"/>
          </a:p>
        </p:txBody>
      </p:sp>
      <p:sp>
        <p:nvSpPr>
          <p:cNvPr id="9" name="Shape 7"/>
          <p:cNvSpPr/>
          <p:nvPr/>
        </p:nvSpPr>
        <p:spPr>
          <a:xfrm>
            <a:off x="11643055" y="6400800"/>
            <a:ext cx="228600" cy="36576"/>
          </a:xfrm>
          <a:prstGeom prst="rect">
            <a:avLst/>
          </a:prstGeom>
          <a:solidFill>
            <a:srgbClr val="C8102E"/>
          </a:solidFill>
          <a:ln w="12700">
            <a:solidFill>
              <a:srgbClr val="C8102E"/>
            </a:solidFill>
            <a:prstDash val="solid"/>
          </a:ln>
        </p:spPr>
        <p:txBody>
          <a:bodyPr/>
          <a:lstStyle/>
          <a:p>
            <a:endParaRPr lang="en-US"/>
          </a:p>
        </p:txBody>
      </p:sp>
      <p:sp>
        <p:nvSpPr>
          <p:cNvPr id="10" name="Shape 8"/>
          <p:cNvSpPr/>
          <p:nvPr/>
        </p:nvSpPr>
        <p:spPr>
          <a:xfrm>
            <a:off x="457200" y="685800"/>
            <a:ext cx="73152" cy="822960"/>
          </a:xfrm>
          <a:prstGeom prst="rect">
            <a:avLst/>
          </a:prstGeom>
          <a:solidFill>
            <a:srgbClr val="C8102E"/>
          </a:solidFill>
          <a:ln w="12700">
            <a:solidFill>
              <a:srgbClr val="C8102E"/>
            </a:solidFill>
            <a:prstDash val="solid"/>
          </a:ln>
        </p:spPr>
        <p:txBody>
          <a:bodyPr/>
          <a:lstStyle/>
          <a:p>
            <a:endParaRPr lang="en-US"/>
          </a:p>
        </p:txBody>
      </p:sp>
      <p:sp>
        <p:nvSpPr>
          <p:cNvPr id="11" name="Shape 9"/>
          <p:cNvSpPr/>
          <p:nvPr/>
        </p:nvSpPr>
        <p:spPr>
          <a:xfrm>
            <a:off x="731520" y="731520"/>
            <a:ext cx="731520" cy="731520"/>
          </a:xfrm>
          <a:prstGeom prst="ellipse">
            <a:avLst/>
          </a:prstGeom>
          <a:solidFill>
            <a:srgbClr val="001F5B"/>
          </a:solidFill>
          <a:ln w="12700">
            <a:solidFill>
              <a:srgbClr val="001F5B"/>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896112" y="896112"/>
            <a:ext cx="402336" cy="402336"/>
          </a:xfrm>
          <a:prstGeom prst="rect">
            <a:avLst/>
          </a:prstGeom>
        </p:spPr>
      </p:pic>
      <p:sp>
        <p:nvSpPr>
          <p:cNvPr id="13" name="Text 10"/>
          <p:cNvSpPr/>
          <p:nvPr/>
        </p:nvSpPr>
        <p:spPr>
          <a:xfrm>
            <a:off x="1645920" y="658368"/>
            <a:ext cx="9601200" cy="548640"/>
          </a:xfrm>
          <a:prstGeom prst="rect">
            <a:avLst/>
          </a:prstGeom>
          <a:noFill/>
          <a:ln/>
        </p:spPr>
        <p:txBody>
          <a:bodyPr wrap="square" lIns="0" tIns="0" rIns="0" bIns="0" rtlCol="0" anchor="ctr"/>
          <a:lstStyle/>
          <a:p>
            <a:pPr marL="0" indent="0">
              <a:buNone/>
            </a:pPr>
            <a:r>
              <a:rPr lang="en-US" sz="3000" b="1" dirty="0">
                <a:solidFill>
                  <a:srgbClr val="001F5B"/>
                </a:solidFill>
                <a:latin typeface="Georgia" pitchFamily="34" charset="0"/>
                <a:ea typeface="Georgia" pitchFamily="34" charset="-122"/>
                <a:cs typeface="Georgia" pitchFamily="34" charset="-120"/>
              </a:rPr>
              <a:t>Limitations &amp; Next Steps</a:t>
            </a:r>
            <a:endParaRPr lang="en-US" sz="3000" dirty="0"/>
          </a:p>
        </p:txBody>
      </p:sp>
      <p:sp>
        <p:nvSpPr>
          <p:cNvPr id="14" name="Text 11"/>
          <p:cNvSpPr/>
          <p:nvPr/>
        </p:nvSpPr>
        <p:spPr>
          <a:xfrm>
            <a:off x="1645920" y="1170432"/>
            <a:ext cx="960120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What’s imperfect, what’s next</a:t>
            </a:r>
            <a:endParaRPr lang="en-US" sz="1200" dirty="0"/>
          </a:p>
        </p:txBody>
      </p:sp>
      <p:sp>
        <p:nvSpPr>
          <p:cNvPr id="15" name="Shape 12"/>
          <p:cNvSpPr/>
          <p:nvPr/>
        </p:nvSpPr>
        <p:spPr>
          <a:xfrm>
            <a:off x="457200" y="1828800"/>
            <a:ext cx="3767328" cy="4434840"/>
          </a:xfrm>
          <a:prstGeom prst="rect">
            <a:avLst/>
          </a:prstGeom>
          <a:solidFill>
            <a:srgbClr val="FFFFFF"/>
          </a:solidFill>
          <a:ln w="12700">
            <a:solidFill>
              <a:srgbClr val="E5E7EB"/>
            </a:solidFill>
            <a:prstDash val="solid"/>
          </a:ln>
          <a:effectLst>
            <a:outerShdw blurRad="127000" dist="38100" dir="5400000" algn="bl" rotWithShape="0">
              <a:srgbClr val="000000">
                <a:alpha val="10000"/>
              </a:srgbClr>
            </a:outerShdw>
          </a:effectLst>
        </p:spPr>
        <p:txBody>
          <a:bodyPr/>
          <a:lstStyle/>
          <a:p>
            <a:endParaRPr lang="en-US" dirty="0"/>
          </a:p>
        </p:txBody>
      </p:sp>
      <p:sp>
        <p:nvSpPr>
          <p:cNvPr id="16" name="Shape 13"/>
          <p:cNvSpPr/>
          <p:nvPr/>
        </p:nvSpPr>
        <p:spPr>
          <a:xfrm>
            <a:off x="457200" y="1828800"/>
            <a:ext cx="3767328" cy="109728"/>
          </a:xfrm>
          <a:prstGeom prst="rect">
            <a:avLst/>
          </a:prstGeom>
          <a:solidFill>
            <a:srgbClr val="001F5B"/>
          </a:solidFill>
          <a:ln w="12700">
            <a:solidFill>
              <a:srgbClr val="001F5B"/>
            </a:solidFill>
            <a:prstDash val="solid"/>
          </a:ln>
        </p:spPr>
        <p:txBody>
          <a:bodyPr/>
          <a:lstStyle/>
          <a:p>
            <a:endParaRPr lang="en-US"/>
          </a:p>
        </p:txBody>
      </p:sp>
      <p:sp>
        <p:nvSpPr>
          <p:cNvPr id="17" name="Shape 14"/>
          <p:cNvSpPr/>
          <p:nvPr/>
        </p:nvSpPr>
        <p:spPr>
          <a:xfrm>
            <a:off x="1792224" y="2240280"/>
            <a:ext cx="1097280" cy="1097280"/>
          </a:xfrm>
          <a:prstGeom prst="ellipse">
            <a:avLst/>
          </a:prstGeom>
          <a:solidFill>
            <a:srgbClr val="001F5B"/>
          </a:solidFill>
          <a:ln w="12700">
            <a:solidFill>
              <a:srgbClr val="001F5B"/>
            </a:solidFill>
            <a:prstDash val="solid"/>
          </a:ln>
        </p:spPr>
        <p:txBody>
          <a:bodyPr/>
          <a:lstStyle/>
          <a:p>
            <a:endParaRPr lang="en-US"/>
          </a:p>
        </p:txBody>
      </p:sp>
      <p:sp>
        <p:nvSpPr>
          <p:cNvPr id="18" name="Shape 15"/>
          <p:cNvSpPr/>
          <p:nvPr/>
        </p:nvSpPr>
        <p:spPr>
          <a:xfrm>
            <a:off x="4361688" y="1828800"/>
            <a:ext cx="3767328" cy="4434840"/>
          </a:xfrm>
          <a:prstGeom prst="rect">
            <a:avLst/>
          </a:prstGeom>
          <a:solidFill>
            <a:srgbClr val="FFFFFF"/>
          </a:solidFill>
          <a:ln w="12700">
            <a:solidFill>
              <a:srgbClr val="E5E7EB"/>
            </a:solidFill>
            <a:prstDash val="solid"/>
          </a:ln>
          <a:effectLst>
            <a:outerShdw blurRad="127000" dist="38100" dir="5400000" algn="bl" rotWithShape="0">
              <a:srgbClr val="000000">
                <a:alpha val="10000"/>
              </a:srgbClr>
            </a:outerShdw>
          </a:effectLst>
        </p:spPr>
        <p:txBody>
          <a:bodyPr/>
          <a:lstStyle/>
          <a:p>
            <a:endParaRPr lang="en-US"/>
          </a:p>
        </p:txBody>
      </p:sp>
      <p:sp>
        <p:nvSpPr>
          <p:cNvPr id="19" name="Shape 16"/>
          <p:cNvSpPr/>
          <p:nvPr/>
        </p:nvSpPr>
        <p:spPr>
          <a:xfrm>
            <a:off x="4361688" y="1828800"/>
            <a:ext cx="3767328" cy="109728"/>
          </a:xfrm>
          <a:prstGeom prst="rect">
            <a:avLst/>
          </a:prstGeom>
          <a:solidFill>
            <a:srgbClr val="C8102E"/>
          </a:solidFill>
          <a:ln w="12700">
            <a:solidFill>
              <a:srgbClr val="C8102E"/>
            </a:solidFill>
            <a:prstDash val="solid"/>
          </a:ln>
        </p:spPr>
        <p:txBody>
          <a:bodyPr/>
          <a:lstStyle/>
          <a:p>
            <a:endParaRPr lang="en-US"/>
          </a:p>
        </p:txBody>
      </p:sp>
      <p:sp>
        <p:nvSpPr>
          <p:cNvPr id="20" name="Shape 17"/>
          <p:cNvSpPr/>
          <p:nvPr/>
        </p:nvSpPr>
        <p:spPr>
          <a:xfrm>
            <a:off x="5696712" y="2240280"/>
            <a:ext cx="1097280" cy="1097280"/>
          </a:xfrm>
          <a:prstGeom prst="ellipse">
            <a:avLst/>
          </a:prstGeom>
          <a:solidFill>
            <a:srgbClr val="C8102E"/>
          </a:solidFill>
          <a:ln w="12700">
            <a:solidFill>
              <a:srgbClr val="C8102E"/>
            </a:solidFill>
            <a:prstDash val="solid"/>
          </a:ln>
        </p:spPr>
        <p:txBody>
          <a:bodyPr/>
          <a:lstStyle/>
          <a:p>
            <a:endParaRPr lang="en-US"/>
          </a:p>
        </p:txBody>
      </p:sp>
      <p:sp>
        <p:nvSpPr>
          <p:cNvPr id="21" name="Shape 18"/>
          <p:cNvSpPr/>
          <p:nvPr/>
        </p:nvSpPr>
        <p:spPr>
          <a:xfrm>
            <a:off x="8266176" y="1828800"/>
            <a:ext cx="3767328" cy="4434840"/>
          </a:xfrm>
          <a:prstGeom prst="rect">
            <a:avLst/>
          </a:prstGeom>
          <a:solidFill>
            <a:srgbClr val="FFFFFF"/>
          </a:solidFill>
          <a:ln w="12700">
            <a:solidFill>
              <a:srgbClr val="E5E7EB"/>
            </a:solidFill>
            <a:prstDash val="solid"/>
          </a:ln>
          <a:effectLst>
            <a:outerShdw blurRad="127000" dist="38100" dir="5400000" algn="bl" rotWithShape="0">
              <a:srgbClr val="000000">
                <a:alpha val="10000"/>
              </a:srgbClr>
            </a:outerShdw>
          </a:effectLst>
        </p:spPr>
        <p:txBody>
          <a:bodyPr/>
          <a:lstStyle/>
          <a:p>
            <a:endParaRPr lang="en-US"/>
          </a:p>
        </p:txBody>
      </p:sp>
      <p:sp>
        <p:nvSpPr>
          <p:cNvPr id="22" name="Shape 19"/>
          <p:cNvSpPr/>
          <p:nvPr/>
        </p:nvSpPr>
        <p:spPr>
          <a:xfrm>
            <a:off x="8266176" y="1828800"/>
            <a:ext cx="3767328" cy="109728"/>
          </a:xfrm>
          <a:prstGeom prst="rect">
            <a:avLst/>
          </a:prstGeom>
          <a:solidFill>
            <a:srgbClr val="001F5B"/>
          </a:solidFill>
          <a:ln w="12700">
            <a:solidFill>
              <a:srgbClr val="001F5B"/>
            </a:solidFill>
            <a:prstDash val="solid"/>
          </a:ln>
        </p:spPr>
        <p:txBody>
          <a:bodyPr/>
          <a:lstStyle/>
          <a:p>
            <a:endParaRPr lang="en-US"/>
          </a:p>
        </p:txBody>
      </p:sp>
      <p:sp>
        <p:nvSpPr>
          <p:cNvPr id="23" name="Shape 20"/>
          <p:cNvSpPr/>
          <p:nvPr/>
        </p:nvSpPr>
        <p:spPr>
          <a:xfrm>
            <a:off x="9601200" y="2240280"/>
            <a:ext cx="1097280" cy="1097280"/>
          </a:xfrm>
          <a:prstGeom prst="ellipse">
            <a:avLst/>
          </a:prstGeom>
          <a:solidFill>
            <a:srgbClr val="001F5B"/>
          </a:solidFill>
          <a:ln w="12700">
            <a:solidFill>
              <a:srgbClr val="001F5B"/>
            </a:solidFill>
            <a:prstDash val="solid"/>
          </a:ln>
        </p:spPr>
        <p:txBody>
          <a:bodyPr/>
          <a:lstStyle/>
          <a:p>
            <a:endParaRPr lang="en-US"/>
          </a:p>
        </p:txBody>
      </p:sp>
      <p:pic>
        <p:nvPicPr>
          <p:cNvPr id="24" name="Image 1" descr="preencoded.png"/>
          <p:cNvPicPr>
            <a:picLocks noChangeAspect="1"/>
          </p:cNvPicPr>
          <p:nvPr/>
        </p:nvPicPr>
        <p:blipFill>
          <a:blip r:embed="rId3"/>
          <a:stretch>
            <a:fillRect/>
          </a:stretch>
        </p:blipFill>
        <p:spPr>
          <a:xfrm>
            <a:off x="2020824" y="2468880"/>
            <a:ext cx="640080" cy="640080"/>
          </a:xfrm>
          <a:prstGeom prst="rect">
            <a:avLst/>
          </a:prstGeom>
        </p:spPr>
      </p:pic>
      <p:pic>
        <p:nvPicPr>
          <p:cNvPr id="25" name="Image 2" descr="preencoded.png"/>
          <p:cNvPicPr>
            <a:picLocks noChangeAspect="1"/>
          </p:cNvPicPr>
          <p:nvPr/>
        </p:nvPicPr>
        <p:blipFill>
          <a:blip r:embed="rId3"/>
          <a:stretch>
            <a:fillRect/>
          </a:stretch>
        </p:blipFill>
        <p:spPr>
          <a:xfrm>
            <a:off x="5925312" y="2468880"/>
            <a:ext cx="640080" cy="640080"/>
          </a:xfrm>
          <a:prstGeom prst="rect">
            <a:avLst/>
          </a:prstGeom>
        </p:spPr>
      </p:pic>
      <p:pic>
        <p:nvPicPr>
          <p:cNvPr id="26" name="Image 3" descr="preencoded.png"/>
          <p:cNvPicPr>
            <a:picLocks noChangeAspect="1"/>
          </p:cNvPicPr>
          <p:nvPr/>
        </p:nvPicPr>
        <p:blipFill>
          <a:blip r:embed="rId4"/>
          <a:stretch>
            <a:fillRect/>
          </a:stretch>
        </p:blipFill>
        <p:spPr>
          <a:xfrm>
            <a:off x="9829800" y="2468880"/>
            <a:ext cx="640080" cy="640080"/>
          </a:xfrm>
          <a:prstGeom prst="rect">
            <a:avLst/>
          </a:prstGeom>
        </p:spPr>
      </p:pic>
      <p:sp>
        <p:nvSpPr>
          <p:cNvPr id="27" name="Text 21"/>
          <p:cNvSpPr/>
          <p:nvPr/>
        </p:nvSpPr>
        <p:spPr>
          <a:xfrm>
            <a:off x="731520" y="3611880"/>
            <a:ext cx="3218688" cy="274320"/>
          </a:xfrm>
          <a:prstGeom prst="rect">
            <a:avLst/>
          </a:prstGeom>
          <a:noFill/>
          <a:ln/>
        </p:spPr>
        <p:txBody>
          <a:bodyPr wrap="square" lIns="0" tIns="0" rIns="0" bIns="0" rtlCol="0" anchor="ctr"/>
          <a:lstStyle/>
          <a:p>
            <a:pPr marL="0" indent="0" algn="ctr">
              <a:buNone/>
            </a:pPr>
            <a:r>
              <a:rPr lang="en-US" sz="1100" b="1" kern="0" spc="400" dirty="0">
                <a:solidFill>
                  <a:srgbClr val="C8102E"/>
                </a:solidFill>
                <a:latin typeface="Calibri" pitchFamily="34" charset="0"/>
                <a:ea typeface="Calibri" pitchFamily="34" charset="-122"/>
                <a:cs typeface="Calibri" pitchFamily="34" charset="-120"/>
              </a:rPr>
              <a:t>LIMITATIONS</a:t>
            </a:r>
            <a:endParaRPr lang="en-US" sz="1100" dirty="0"/>
          </a:p>
        </p:txBody>
      </p:sp>
      <p:sp>
        <p:nvSpPr>
          <p:cNvPr id="28" name="Text 22"/>
          <p:cNvSpPr/>
          <p:nvPr/>
        </p:nvSpPr>
        <p:spPr>
          <a:xfrm>
            <a:off x="731520" y="3931920"/>
            <a:ext cx="3218688" cy="457200"/>
          </a:xfrm>
          <a:prstGeom prst="rect">
            <a:avLst/>
          </a:prstGeom>
          <a:noFill/>
          <a:ln/>
        </p:spPr>
        <p:txBody>
          <a:bodyPr wrap="square" lIns="0" tIns="0" rIns="0" bIns="0" rtlCol="0" anchor="ctr"/>
          <a:lstStyle/>
          <a:p>
            <a:pPr marL="0" indent="0" algn="ctr">
              <a:buNone/>
            </a:pPr>
            <a:r>
              <a:rPr lang="en-US" sz="2000" b="1" dirty="0">
                <a:solidFill>
                  <a:srgbClr val="001F5B"/>
                </a:solidFill>
                <a:latin typeface="Georgia" pitchFamily="34" charset="0"/>
                <a:ea typeface="Georgia" pitchFamily="34" charset="-122"/>
                <a:cs typeface="Georgia" pitchFamily="34" charset="-120"/>
              </a:rPr>
              <a:t>Model Limitations</a:t>
            </a:r>
            <a:endParaRPr lang="en-US" sz="2000" dirty="0"/>
          </a:p>
        </p:txBody>
      </p:sp>
      <p:sp>
        <p:nvSpPr>
          <p:cNvPr id="29" name="Shape 23"/>
          <p:cNvSpPr/>
          <p:nvPr/>
        </p:nvSpPr>
        <p:spPr>
          <a:xfrm>
            <a:off x="1975104" y="4434840"/>
            <a:ext cx="731520" cy="0"/>
          </a:xfrm>
          <a:prstGeom prst="line">
            <a:avLst/>
          </a:prstGeom>
          <a:noFill/>
          <a:ln w="19050">
            <a:solidFill>
              <a:srgbClr val="C8102E"/>
            </a:solidFill>
            <a:prstDash val="solid"/>
          </a:ln>
        </p:spPr>
        <p:txBody>
          <a:bodyPr/>
          <a:lstStyle/>
          <a:p>
            <a:endParaRPr lang="en-US"/>
          </a:p>
        </p:txBody>
      </p:sp>
      <p:sp>
        <p:nvSpPr>
          <p:cNvPr id="30" name="Text 24"/>
          <p:cNvSpPr/>
          <p:nvPr/>
        </p:nvSpPr>
        <p:spPr>
          <a:xfrm>
            <a:off x="777240" y="4617720"/>
            <a:ext cx="3127248" cy="1554480"/>
          </a:xfrm>
          <a:prstGeom prst="rect">
            <a:avLst/>
          </a:prstGeom>
          <a:noFill/>
          <a:ln/>
        </p:spPr>
        <p:txBody>
          <a:bodyPr wrap="square" lIns="0" tIns="0" rIns="0" bIns="0" rtlCol="0" anchor="t"/>
          <a:lstStyle/>
          <a:p>
            <a:pPr algn="ctr"/>
            <a:r>
              <a:rPr lang="en-US" sz="1300" dirty="0"/>
              <a:t>There was a moderate class imbalance (62/38) which may cause the model to slightly favor the Approved class </a:t>
            </a:r>
          </a:p>
        </p:txBody>
      </p:sp>
      <p:sp>
        <p:nvSpPr>
          <p:cNvPr id="31" name="Text 25"/>
          <p:cNvSpPr/>
          <p:nvPr/>
        </p:nvSpPr>
        <p:spPr>
          <a:xfrm>
            <a:off x="4636008" y="3611880"/>
            <a:ext cx="3218688" cy="274320"/>
          </a:xfrm>
          <a:prstGeom prst="rect">
            <a:avLst/>
          </a:prstGeom>
          <a:noFill/>
          <a:ln/>
        </p:spPr>
        <p:txBody>
          <a:bodyPr wrap="square" lIns="0" tIns="0" rIns="0" bIns="0" rtlCol="0" anchor="ctr"/>
          <a:lstStyle/>
          <a:p>
            <a:pPr marL="0" indent="0" algn="ctr">
              <a:buNone/>
            </a:pPr>
            <a:r>
              <a:rPr lang="en-US" sz="1100" b="1" kern="0" spc="400" dirty="0">
                <a:solidFill>
                  <a:srgbClr val="C8102E"/>
                </a:solidFill>
                <a:latin typeface="Calibri" pitchFamily="34" charset="0"/>
                <a:ea typeface="Calibri" pitchFamily="34" charset="-122"/>
                <a:cs typeface="Calibri" pitchFamily="34" charset="-120"/>
              </a:rPr>
              <a:t>ETHICS &amp; BIAS</a:t>
            </a:r>
            <a:endParaRPr lang="en-US" sz="1100" dirty="0"/>
          </a:p>
        </p:txBody>
      </p:sp>
      <p:sp>
        <p:nvSpPr>
          <p:cNvPr id="32" name="Text 26"/>
          <p:cNvSpPr/>
          <p:nvPr/>
        </p:nvSpPr>
        <p:spPr>
          <a:xfrm>
            <a:off x="4636008" y="3931920"/>
            <a:ext cx="3218688" cy="457200"/>
          </a:xfrm>
          <a:prstGeom prst="rect">
            <a:avLst/>
          </a:prstGeom>
          <a:noFill/>
          <a:ln/>
        </p:spPr>
        <p:txBody>
          <a:bodyPr wrap="square" lIns="0" tIns="0" rIns="0" bIns="0" rtlCol="0" anchor="ctr"/>
          <a:lstStyle/>
          <a:p>
            <a:pPr marL="0" indent="0" algn="ctr">
              <a:buNone/>
            </a:pPr>
            <a:r>
              <a:rPr lang="en-US" sz="2000" b="1" dirty="0">
                <a:solidFill>
                  <a:srgbClr val="001F5B"/>
                </a:solidFill>
                <a:latin typeface="Georgia" pitchFamily="34" charset="0"/>
                <a:ea typeface="Georgia" pitchFamily="34" charset="-122"/>
                <a:cs typeface="Georgia" pitchFamily="34" charset="-120"/>
              </a:rPr>
              <a:t>Data Issues &amp; Bias</a:t>
            </a:r>
            <a:endParaRPr lang="en-US" sz="2000" dirty="0"/>
          </a:p>
        </p:txBody>
      </p:sp>
      <p:sp>
        <p:nvSpPr>
          <p:cNvPr id="33" name="Shape 27"/>
          <p:cNvSpPr/>
          <p:nvPr/>
        </p:nvSpPr>
        <p:spPr>
          <a:xfrm>
            <a:off x="5879592" y="4434840"/>
            <a:ext cx="731520" cy="0"/>
          </a:xfrm>
          <a:prstGeom prst="line">
            <a:avLst/>
          </a:prstGeom>
          <a:noFill/>
          <a:ln w="19050">
            <a:solidFill>
              <a:srgbClr val="C8102E"/>
            </a:solidFill>
            <a:prstDash val="solid"/>
          </a:ln>
        </p:spPr>
        <p:txBody>
          <a:bodyPr/>
          <a:lstStyle/>
          <a:p>
            <a:endParaRPr lang="en-US"/>
          </a:p>
        </p:txBody>
      </p:sp>
      <p:sp>
        <p:nvSpPr>
          <p:cNvPr id="34" name="Text 28"/>
          <p:cNvSpPr/>
          <p:nvPr/>
        </p:nvSpPr>
        <p:spPr>
          <a:xfrm>
            <a:off x="4681728" y="4516116"/>
            <a:ext cx="3127248" cy="1554480"/>
          </a:xfrm>
          <a:prstGeom prst="rect">
            <a:avLst/>
          </a:prstGeom>
          <a:noFill/>
          <a:ln/>
        </p:spPr>
        <p:txBody>
          <a:bodyPr wrap="square" lIns="0" tIns="0" rIns="0" bIns="0" rtlCol="0" anchor="t"/>
          <a:lstStyle/>
          <a:p>
            <a:pPr marL="285750" indent="-285750" algn="ctr">
              <a:buFontTx/>
              <a:buChar char="-"/>
            </a:pPr>
            <a:r>
              <a:rPr lang="en-US" sz="1300" dirty="0">
                <a:solidFill>
                  <a:srgbClr val="1F2937"/>
                </a:solidFill>
                <a:latin typeface="Calibri" pitchFamily="34" charset="0"/>
                <a:ea typeface="Calibri" pitchFamily="34" charset="-122"/>
                <a:cs typeface="Calibri" pitchFamily="34" charset="-120"/>
              </a:rPr>
              <a:t>It is unknown how/where the data was collected which could lead to bias and fairness concerns </a:t>
            </a:r>
          </a:p>
          <a:p>
            <a:pPr marL="285750" indent="-285750" algn="ctr">
              <a:buFontTx/>
              <a:buChar char="-"/>
            </a:pPr>
            <a:r>
              <a:rPr lang="en-US" sz="1300" dirty="0">
                <a:solidFill>
                  <a:srgbClr val="1F2937"/>
                </a:solidFill>
                <a:latin typeface="Calibri" pitchFamily="34" charset="0"/>
                <a:ea typeface="Calibri" pitchFamily="34" charset="-122"/>
                <a:cs typeface="Calibri" pitchFamily="34" charset="-120"/>
              </a:rPr>
              <a:t>Credit score has a major impact on loan status which could put some groups of people at a systematic disadvantage </a:t>
            </a:r>
          </a:p>
          <a:p>
            <a:pPr marL="285750" indent="-285750" algn="ctr">
              <a:buFontTx/>
              <a:buChar char="-"/>
            </a:pPr>
            <a:r>
              <a:rPr lang="en-US" sz="1300" dirty="0">
                <a:solidFill>
                  <a:srgbClr val="1F2937"/>
                </a:solidFill>
                <a:latin typeface="Calibri" pitchFamily="34" charset="0"/>
                <a:ea typeface="Calibri" pitchFamily="34" charset="-122"/>
                <a:cs typeface="Calibri" pitchFamily="34" charset="-120"/>
              </a:rPr>
              <a:t>The model could be too simplistic, it does not include context or non-traditional indicators of reliability</a:t>
            </a:r>
            <a:endParaRPr lang="en-US" sz="1300" dirty="0"/>
          </a:p>
        </p:txBody>
      </p:sp>
      <p:sp>
        <p:nvSpPr>
          <p:cNvPr id="35" name="Text 29"/>
          <p:cNvSpPr/>
          <p:nvPr/>
        </p:nvSpPr>
        <p:spPr>
          <a:xfrm>
            <a:off x="8540496" y="3611880"/>
            <a:ext cx="3218688" cy="274320"/>
          </a:xfrm>
          <a:prstGeom prst="rect">
            <a:avLst/>
          </a:prstGeom>
          <a:noFill/>
          <a:ln/>
        </p:spPr>
        <p:txBody>
          <a:bodyPr wrap="square" lIns="0" tIns="0" rIns="0" bIns="0" rtlCol="0" anchor="ctr"/>
          <a:lstStyle/>
          <a:p>
            <a:pPr marL="0" indent="0" algn="ctr">
              <a:buNone/>
            </a:pPr>
            <a:r>
              <a:rPr lang="en-US" sz="1100" b="1" kern="0" spc="400" dirty="0">
                <a:solidFill>
                  <a:srgbClr val="C8102E"/>
                </a:solidFill>
                <a:latin typeface="Calibri" pitchFamily="34" charset="0"/>
                <a:ea typeface="Calibri" pitchFamily="34" charset="-122"/>
                <a:cs typeface="Calibri" pitchFamily="34" charset="-120"/>
              </a:rPr>
              <a:t>ROADMAP</a:t>
            </a:r>
            <a:endParaRPr lang="en-US" sz="1100" dirty="0"/>
          </a:p>
        </p:txBody>
      </p:sp>
      <p:sp>
        <p:nvSpPr>
          <p:cNvPr id="36" name="Text 30"/>
          <p:cNvSpPr/>
          <p:nvPr/>
        </p:nvSpPr>
        <p:spPr>
          <a:xfrm>
            <a:off x="8540496" y="3931920"/>
            <a:ext cx="3218688" cy="457200"/>
          </a:xfrm>
          <a:prstGeom prst="rect">
            <a:avLst/>
          </a:prstGeom>
          <a:noFill/>
          <a:ln/>
        </p:spPr>
        <p:txBody>
          <a:bodyPr wrap="square" lIns="0" tIns="0" rIns="0" bIns="0" rtlCol="0" anchor="ctr"/>
          <a:lstStyle/>
          <a:p>
            <a:pPr marL="0" indent="0" algn="ctr">
              <a:buNone/>
            </a:pPr>
            <a:r>
              <a:rPr lang="en-US" sz="2000" b="1" dirty="0">
                <a:solidFill>
                  <a:srgbClr val="001F5B"/>
                </a:solidFill>
                <a:latin typeface="Georgia" pitchFamily="34" charset="0"/>
                <a:ea typeface="Georgia" pitchFamily="34" charset="-122"/>
                <a:cs typeface="Georgia" pitchFamily="34" charset="-120"/>
              </a:rPr>
              <a:t>Future Work</a:t>
            </a:r>
            <a:endParaRPr lang="en-US" sz="2000" dirty="0"/>
          </a:p>
        </p:txBody>
      </p:sp>
      <p:sp>
        <p:nvSpPr>
          <p:cNvPr id="37" name="Shape 31"/>
          <p:cNvSpPr/>
          <p:nvPr/>
        </p:nvSpPr>
        <p:spPr>
          <a:xfrm>
            <a:off x="9784080" y="4434840"/>
            <a:ext cx="731520" cy="0"/>
          </a:xfrm>
          <a:prstGeom prst="line">
            <a:avLst/>
          </a:prstGeom>
          <a:noFill/>
          <a:ln w="19050">
            <a:solidFill>
              <a:srgbClr val="C8102E"/>
            </a:solidFill>
            <a:prstDash val="solid"/>
          </a:ln>
        </p:spPr>
        <p:txBody>
          <a:bodyPr/>
          <a:lstStyle/>
          <a:p>
            <a:endParaRPr lang="en-US"/>
          </a:p>
        </p:txBody>
      </p:sp>
      <p:sp>
        <p:nvSpPr>
          <p:cNvPr id="38" name="Text 32"/>
          <p:cNvSpPr/>
          <p:nvPr/>
        </p:nvSpPr>
        <p:spPr>
          <a:xfrm>
            <a:off x="8586216" y="4617720"/>
            <a:ext cx="3127248" cy="1554480"/>
          </a:xfrm>
          <a:prstGeom prst="rect">
            <a:avLst/>
          </a:prstGeom>
          <a:noFill/>
          <a:ln/>
        </p:spPr>
        <p:txBody>
          <a:bodyPr wrap="square" lIns="0" tIns="0" rIns="0" bIns="0" rtlCol="0" anchor="t"/>
          <a:lstStyle/>
          <a:p>
            <a:pPr marL="0" indent="0" algn="ctr">
              <a:buNone/>
            </a:pPr>
            <a:r>
              <a:rPr lang="en-US" sz="1300" dirty="0">
                <a:solidFill>
                  <a:srgbClr val="1F2937"/>
                </a:solidFill>
                <a:latin typeface="Calibri" pitchFamily="34" charset="0"/>
                <a:ea typeface="Calibri" pitchFamily="34" charset="-122"/>
                <a:cs typeface="Calibri" pitchFamily="34" charset="-120"/>
              </a:rPr>
              <a:t>More data · better features · try stronger models (gradient boosting, neural nets) · deploy via API · monitor drift in production.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6B35AFD-06DA-F145-F5E7-2142C34250BB}"/>
              </a:ext>
            </a:extLst>
          </p:cNvPr>
          <p:cNvSpPr/>
          <p:nvPr/>
        </p:nvSpPr>
        <p:spPr>
          <a:xfrm>
            <a:off x="0" y="0"/>
            <a:ext cx="12191695" cy="320040"/>
          </a:xfrm>
          <a:prstGeom prst="rect">
            <a:avLst/>
          </a:prstGeom>
          <a:solidFill>
            <a:srgbClr val="001F5B"/>
          </a:solidFill>
          <a:ln w="12700">
            <a:solidFill>
              <a:srgbClr val="001F5B"/>
            </a:solidFill>
            <a:prstDash val="solid"/>
          </a:ln>
        </p:spPr>
        <p:txBody>
          <a:bodyPr/>
          <a:lstStyle/>
          <a:p>
            <a:endParaRPr lang="en-US"/>
          </a:p>
        </p:txBody>
      </p:sp>
      <p:sp>
        <p:nvSpPr>
          <p:cNvPr id="3" name="Shape 1">
            <a:extLst>
              <a:ext uri="{FF2B5EF4-FFF2-40B4-BE49-F238E27FC236}">
                <a16:creationId xmlns:a16="http://schemas.microsoft.com/office/drawing/2014/main" id="{92A4E7DE-C313-B8C0-CD74-07A52B25DDFE}"/>
              </a:ext>
            </a:extLst>
          </p:cNvPr>
          <p:cNvSpPr/>
          <p:nvPr/>
        </p:nvSpPr>
        <p:spPr>
          <a:xfrm>
            <a:off x="0" y="0"/>
            <a:ext cx="320040" cy="320040"/>
          </a:xfrm>
          <a:prstGeom prst="rect">
            <a:avLst/>
          </a:prstGeom>
          <a:solidFill>
            <a:srgbClr val="C8102E"/>
          </a:solidFill>
          <a:ln w="12700">
            <a:solidFill>
              <a:srgbClr val="C8102E"/>
            </a:solidFill>
            <a:prstDash val="solid"/>
          </a:ln>
        </p:spPr>
        <p:txBody>
          <a:bodyPr/>
          <a:lstStyle/>
          <a:p>
            <a:endParaRPr lang="en-US"/>
          </a:p>
        </p:txBody>
      </p:sp>
      <p:sp>
        <p:nvSpPr>
          <p:cNvPr id="4" name="Text 2">
            <a:extLst>
              <a:ext uri="{FF2B5EF4-FFF2-40B4-BE49-F238E27FC236}">
                <a16:creationId xmlns:a16="http://schemas.microsoft.com/office/drawing/2014/main" id="{9EC08BC0-BD1C-D364-7CA1-833DEF035DA5}"/>
              </a:ext>
            </a:extLst>
          </p:cNvPr>
          <p:cNvSpPr/>
          <p:nvPr/>
        </p:nvSpPr>
        <p:spPr>
          <a:xfrm>
            <a:off x="457200" y="0"/>
            <a:ext cx="2743200" cy="320040"/>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CATAWBA COLLEGE</a:t>
            </a:r>
            <a:endParaRPr lang="en-US" sz="900" dirty="0"/>
          </a:p>
        </p:txBody>
      </p:sp>
      <p:sp>
        <p:nvSpPr>
          <p:cNvPr id="5" name="Text 3">
            <a:extLst>
              <a:ext uri="{FF2B5EF4-FFF2-40B4-BE49-F238E27FC236}">
                <a16:creationId xmlns:a16="http://schemas.microsoft.com/office/drawing/2014/main" id="{6D09337C-DD94-D839-1C38-F857CF300476}"/>
              </a:ext>
            </a:extLst>
          </p:cNvPr>
          <p:cNvSpPr/>
          <p:nvPr/>
        </p:nvSpPr>
        <p:spPr>
          <a:xfrm>
            <a:off x="8076895" y="0"/>
            <a:ext cx="3657600" cy="320040"/>
          </a:xfrm>
          <a:prstGeom prst="rect">
            <a:avLst/>
          </a:prstGeom>
          <a:noFill/>
          <a:ln/>
        </p:spPr>
        <p:txBody>
          <a:bodyPr wrap="square" lIns="0" tIns="0" rIns="0" bIns="0"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08 · REFLECTION</a:t>
            </a:r>
            <a:endParaRPr lang="en-US" sz="900" dirty="0"/>
          </a:p>
        </p:txBody>
      </p:sp>
      <p:sp>
        <p:nvSpPr>
          <p:cNvPr id="6" name="Shape 4">
            <a:extLst>
              <a:ext uri="{FF2B5EF4-FFF2-40B4-BE49-F238E27FC236}">
                <a16:creationId xmlns:a16="http://schemas.microsoft.com/office/drawing/2014/main" id="{86AA6BF2-2C38-0DC6-25D0-9759DD31C196}"/>
              </a:ext>
            </a:extLst>
          </p:cNvPr>
          <p:cNvSpPr/>
          <p:nvPr/>
        </p:nvSpPr>
        <p:spPr>
          <a:xfrm>
            <a:off x="457200" y="6492240"/>
            <a:ext cx="11277295" cy="0"/>
          </a:xfrm>
          <a:prstGeom prst="line">
            <a:avLst/>
          </a:prstGeom>
          <a:noFill/>
          <a:ln w="9525">
            <a:solidFill>
              <a:srgbClr val="E5E7EB"/>
            </a:solidFill>
            <a:prstDash val="solid"/>
          </a:ln>
        </p:spPr>
        <p:txBody>
          <a:bodyPr/>
          <a:lstStyle/>
          <a:p>
            <a:endParaRPr lang="en-US"/>
          </a:p>
        </p:txBody>
      </p:sp>
      <p:sp>
        <p:nvSpPr>
          <p:cNvPr id="7" name="Text 5">
            <a:extLst>
              <a:ext uri="{FF2B5EF4-FFF2-40B4-BE49-F238E27FC236}">
                <a16:creationId xmlns:a16="http://schemas.microsoft.com/office/drawing/2014/main" id="{8687B4B1-59DF-4F72-8B36-D4742277FB42}"/>
              </a:ext>
            </a:extLst>
          </p:cNvPr>
          <p:cNvSpPr/>
          <p:nvPr/>
        </p:nvSpPr>
        <p:spPr>
          <a:xfrm>
            <a:off x="457200" y="6537960"/>
            <a:ext cx="457200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Data Mining · Final Project</a:t>
            </a:r>
            <a:endParaRPr lang="en-US" sz="900" dirty="0"/>
          </a:p>
        </p:txBody>
      </p:sp>
      <p:sp>
        <p:nvSpPr>
          <p:cNvPr id="8" name="Text 6">
            <a:extLst>
              <a:ext uri="{FF2B5EF4-FFF2-40B4-BE49-F238E27FC236}">
                <a16:creationId xmlns:a16="http://schemas.microsoft.com/office/drawing/2014/main" id="{CE235598-6A9A-E3EA-3DCD-269ACBA0CD7B}"/>
              </a:ext>
            </a:extLst>
          </p:cNvPr>
          <p:cNvSpPr/>
          <p:nvPr/>
        </p:nvSpPr>
        <p:spPr>
          <a:xfrm>
            <a:off x="10362895" y="6537960"/>
            <a:ext cx="13716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9  /  10</a:t>
            </a:r>
            <a:endParaRPr lang="en-US" sz="900" dirty="0"/>
          </a:p>
        </p:txBody>
      </p:sp>
      <p:sp>
        <p:nvSpPr>
          <p:cNvPr id="9" name="Shape 7">
            <a:extLst>
              <a:ext uri="{FF2B5EF4-FFF2-40B4-BE49-F238E27FC236}">
                <a16:creationId xmlns:a16="http://schemas.microsoft.com/office/drawing/2014/main" id="{C14BC14C-7C47-A4DC-A77B-212F82EF2882}"/>
              </a:ext>
            </a:extLst>
          </p:cNvPr>
          <p:cNvSpPr/>
          <p:nvPr/>
        </p:nvSpPr>
        <p:spPr>
          <a:xfrm>
            <a:off x="11643055" y="6400800"/>
            <a:ext cx="228600" cy="36576"/>
          </a:xfrm>
          <a:prstGeom prst="rect">
            <a:avLst/>
          </a:prstGeom>
          <a:solidFill>
            <a:srgbClr val="C8102E"/>
          </a:solidFill>
          <a:ln w="12700">
            <a:solidFill>
              <a:srgbClr val="C8102E"/>
            </a:solidFill>
            <a:prstDash val="solid"/>
          </a:ln>
        </p:spPr>
        <p:txBody>
          <a:bodyPr/>
          <a:lstStyle/>
          <a:p>
            <a:endParaRPr lang="en-US"/>
          </a:p>
        </p:txBody>
      </p:sp>
      <p:sp>
        <p:nvSpPr>
          <p:cNvPr id="10" name="Shape 8">
            <a:extLst>
              <a:ext uri="{FF2B5EF4-FFF2-40B4-BE49-F238E27FC236}">
                <a16:creationId xmlns:a16="http://schemas.microsoft.com/office/drawing/2014/main" id="{4536DC52-FB48-13B5-EEB7-CDF84296AB45}"/>
              </a:ext>
            </a:extLst>
          </p:cNvPr>
          <p:cNvSpPr/>
          <p:nvPr/>
        </p:nvSpPr>
        <p:spPr>
          <a:xfrm>
            <a:off x="457200" y="685800"/>
            <a:ext cx="73152" cy="822960"/>
          </a:xfrm>
          <a:prstGeom prst="rect">
            <a:avLst/>
          </a:prstGeom>
          <a:solidFill>
            <a:srgbClr val="C8102E"/>
          </a:solidFill>
          <a:ln w="12700">
            <a:solidFill>
              <a:srgbClr val="C8102E"/>
            </a:solidFill>
            <a:prstDash val="solid"/>
          </a:ln>
        </p:spPr>
        <p:txBody>
          <a:bodyPr/>
          <a:lstStyle/>
          <a:p>
            <a:endParaRPr lang="en-US"/>
          </a:p>
        </p:txBody>
      </p:sp>
      <p:sp>
        <p:nvSpPr>
          <p:cNvPr id="11" name="Shape 9">
            <a:extLst>
              <a:ext uri="{FF2B5EF4-FFF2-40B4-BE49-F238E27FC236}">
                <a16:creationId xmlns:a16="http://schemas.microsoft.com/office/drawing/2014/main" id="{50A5BA87-FB2C-C34C-D9CF-3E930C1CFED6}"/>
              </a:ext>
            </a:extLst>
          </p:cNvPr>
          <p:cNvSpPr/>
          <p:nvPr/>
        </p:nvSpPr>
        <p:spPr>
          <a:xfrm>
            <a:off x="731520" y="731520"/>
            <a:ext cx="731520" cy="731520"/>
          </a:xfrm>
          <a:prstGeom prst="ellipse">
            <a:avLst/>
          </a:prstGeom>
          <a:solidFill>
            <a:srgbClr val="001F5B"/>
          </a:solidFill>
          <a:ln w="12700">
            <a:solidFill>
              <a:srgbClr val="001F5B"/>
            </a:solidFill>
            <a:prstDash val="solid"/>
          </a:ln>
        </p:spPr>
        <p:txBody>
          <a:bodyPr/>
          <a:lstStyle/>
          <a:p>
            <a:endParaRPr lang="en-US"/>
          </a:p>
        </p:txBody>
      </p:sp>
      <p:sp>
        <p:nvSpPr>
          <p:cNvPr id="13" name="Text 10">
            <a:extLst>
              <a:ext uri="{FF2B5EF4-FFF2-40B4-BE49-F238E27FC236}">
                <a16:creationId xmlns:a16="http://schemas.microsoft.com/office/drawing/2014/main" id="{ED6C1962-ABB2-B183-B760-EBA4626A36DE}"/>
              </a:ext>
            </a:extLst>
          </p:cNvPr>
          <p:cNvSpPr/>
          <p:nvPr/>
        </p:nvSpPr>
        <p:spPr>
          <a:xfrm>
            <a:off x="1645920" y="658368"/>
            <a:ext cx="9601200" cy="548640"/>
          </a:xfrm>
          <a:prstGeom prst="rect">
            <a:avLst/>
          </a:prstGeom>
          <a:noFill/>
          <a:ln/>
        </p:spPr>
        <p:txBody>
          <a:bodyPr wrap="square" lIns="0" tIns="0" rIns="0" bIns="0" rtlCol="0" anchor="ctr"/>
          <a:lstStyle/>
          <a:p>
            <a:pPr marL="0" indent="0">
              <a:buNone/>
            </a:pPr>
            <a:r>
              <a:rPr lang="en-US" sz="3000" b="1" dirty="0">
                <a:solidFill>
                  <a:srgbClr val="001F5B"/>
                </a:solidFill>
                <a:latin typeface="Georgia" pitchFamily="34" charset="0"/>
                <a:ea typeface="Georgia" pitchFamily="34" charset="-122"/>
                <a:cs typeface="Georgia" pitchFamily="34" charset="-120"/>
              </a:rPr>
              <a:t>Other Model</a:t>
            </a:r>
            <a:endParaRPr lang="en-US" sz="3000" dirty="0"/>
          </a:p>
        </p:txBody>
      </p:sp>
      <p:sp>
        <p:nvSpPr>
          <p:cNvPr id="14" name="Text 11">
            <a:extLst>
              <a:ext uri="{FF2B5EF4-FFF2-40B4-BE49-F238E27FC236}">
                <a16:creationId xmlns:a16="http://schemas.microsoft.com/office/drawing/2014/main" id="{1A67072A-AFEF-A43B-11C8-70D2540C7CC6}"/>
              </a:ext>
            </a:extLst>
          </p:cNvPr>
          <p:cNvSpPr/>
          <p:nvPr/>
        </p:nvSpPr>
        <p:spPr>
          <a:xfrm>
            <a:off x="1645920" y="1170432"/>
            <a:ext cx="960120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Same data, different models</a:t>
            </a:r>
            <a:endParaRPr lang="en-US" sz="1200" dirty="0"/>
          </a:p>
        </p:txBody>
      </p:sp>
      <p:sp>
        <p:nvSpPr>
          <p:cNvPr id="15" name="Shape 12">
            <a:extLst>
              <a:ext uri="{FF2B5EF4-FFF2-40B4-BE49-F238E27FC236}">
                <a16:creationId xmlns:a16="http://schemas.microsoft.com/office/drawing/2014/main" id="{ABB5AF54-9752-DF61-E606-7AB2E6B3C3EE}"/>
              </a:ext>
            </a:extLst>
          </p:cNvPr>
          <p:cNvSpPr/>
          <p:nvPr/>
        </p:nvSpPr>
        <p:spPr>
          <a:xfrm>
            <a:off x="457200" y="2040467"/>
            <a:ext cx="3767328" cy="2394373"/>
          </a:xfrm>
          <a:prstGeom prst="rect">
            <a:avLst/>
          </a:prstGeom>
          <a:solidFill>
            <a:srgbClr val="FFFFFF"/>
          </a:solidFill>
          <a:ln w="12700">
            <a:solidFill>
              <a:srgbClr val="E5E7EB"/>
            </a:solidFill>
            <a:prstDash val="solid"/>
          </a:ln>
          <a:effectLst>
            <a:outerShdw blurRad="127000" dist="38100" dir="5400000" algn="bl" rotWithShape="0">
              <a:srgbClr val="000000">
                <a:alpha val="10000"/>
              </a:srgbClr>
            </a:outerShdw>
          </a:effectLst>
        </p:spPr>
        <p:txBody>
          <a:bodyPr/>
          <a:lstStyle/>
          <a:p>
            <a:endParaRPr lang="en-US" dirty="0"/>
          </a:p>
        </p:txBody>
      </p:sp>
      <p:sp>
        <p:nvSpPr>
          <p:cNvPr id="16" name="Shape 13">
            <a:extLst>
              <a:ext uri="{FF2B5EF4-FFF2-40B4-BE49-F238E27FC236}">
                <a16:creationId xmlns:a16="http://schemas.microsoft.com/office/drawing/2014/main" id="{F5CEFDB8-841D-F0A0-057A-1EDA2DDCE4FC}"/>
              </a:ext>
            </a:extLst>
          </p:cNvPr>
          <p:cNvSpPr/>
          <p:nvPr/>
        </p:nvSpPr>
        <p:spPr>
          <a:xfrm>
            <a:off x="457200" y="1930739"/>
            <a:ext cx="3767328" cy="109728"/>
          </a:xfrm>
          <a:prstGeom prst="rect">
            <a:avLst/>
          </a:prstGeom>
          <a:solidFill>
            <a:srgbClr val="001F5B"/>
          </a:solidFill>
          <a:ln w="12700">
            <a:solidFill>
              <a:srgbClr val="001F5B"/>
            </a:solidFill>
            <a:prstDash val="solid"/>
          </a:ln>
        </p:spPr>
        <p:txBody>
          <a:bodyPr/>
          <a:lstStyle/>
          <a:p>
            <a:endParaRPr lang="en-US"/>
          </a:p>
        </p:txBody>
      </p:sp>
      <p:sp>
        <p:nvSpPr>
          <p:cNvPr id="18" name="Shape 15">
            <a:extLst>
              <a:ext uri="{FF2B5EF4-FFF2-40B4-BE49-F238E27FC236}">
                <a16:creationId xmlns:a16="http://schemas.microsoft.com/office/drawing/2014/main" id="{3D579F80-1C5A-5992-9A51-DFBAFD616017}"/>
              </a:ext>
            </a:extLst>
          </p:cNvPr>
          <p:cNvSpPr/>
          <p:nvPr/>
        </p:nvSpPr>
        <p:spPr>
          <a:xfrm>
            <a:off x="4315968" y="2943014"/>
            <a:ext cx="3767328" cy="2394374"/>
          </a:xfrm>
          <a:prstGeom prst="rect">
            <a:avLst/>
          </a:prstGeom>
          <a:solidFill>
            <a:srgbClr val="FFFFFF"/>
          </a:solidFill>
          <a:ln w="12700">
            <a:solidFill>
              <a:srgbClr val="E5E7EB"/>
            </a:solidFill>
            <a:prstDash val="solid"/>
          </a:ln>
          <a:effectLst>
            <a:outerShdw blurRad="127000" dist="38100" dir="5400000" algn="bl" rotWithShape="0">
              <a:srgbClr val="000000">
                <a:alpha val="10000"/>
              </a:srgbClr>
            </a:outerShdw>
          </a:effectLst>
        </p:spPr>
        <p:txBody>
          <a:bodyPr/>
          <a:lstStyle/>
          <a:p>
            <a:endParaRPr lang="en-US"/>
          </a:p>
        </p:txBody>
      </p:sp>
      <p:sp>
        <p:nvSpPr>
          <p:cNvPr id="19" name="Shape 16">
            <a:extLst>
              <a:ext uri="{FF2B5EF4-FFF2-40B4-BE49-F238E27FC236}">
                <a16:creationId xmlns:a16="http://schemas.microsoft.com/office/drawing/2014/main" id="{F11B4451-74BB-306E-5C37-3DDFF62B80F1}"/>
              </a:ext>
            </a:extLst>
          </p:cNvPr>
          <p:cNvSpPr/>
          <p:nvPr/>
        </p:nvSpPr>
        <p:spPr>
          <a:xfrm>
            <a:off x="4315968" y="2824820"/>
            <a:ext cx="3767328" cy="109728"/>
          </a:xfrm>
          <a:prstGeom prst="rect">
            <a:avLst/>
          </a:prstGeom>
          <a:solidFill>
            <a:srgbClr val="C8102E"/>
          </a:solidFill>
          <a:ln w="12700">
            <a:solidFill>
              <a:srgbClr val="C8102E"/>
            </a:solidFill>
            <a:prstDash val="solid"/>
          </a:ln>
        </p:spPr>
        <p:txBody>
          <a:bodyPr/>
          <a:lstStyle/>
          <a:p>
            <a:endParaRPr lang="en-US"/>
          </a:p>
        </p:txBody>
      </p:sp>
      <p:sp>
        <p:nvSpPr>
          <p:cNvPr id="21" name="Shape 18">
            <a:extLst>
              <a:ext uri="{FF2B5EF4-FFF2-40B4-BE49-F238E27FC236}">
                <a16:creationId xmlns:a16="http://schemas.microsoft.com/office/drawing/2014/main" id="{DB8CCB7E-3A01-736E-03C3-86FE2C9E3E20}"/>
              </a:ext>
            </a:extLst>
          </p:cNvPr>
          <p:cNvSpPr/>
          <p:nvPr/>
        </p:nvSpPr>
        <p:spPr>
          <a:xfrm>
            <a:off x="8174736" y="3869266"/>
            <a:ext cx="3767328" cy="2449238"/>
          </a:xfrm>
          <a:prstGeom prst="rect">
            <a:avLst/>
          </a:prstGeom>
          <a:solidFill>
            <a:srgbClr val="FFFFFF"/>
          </a:solidFill>
          <a:ln w="12700">
            <a:solidFill>
              <a:srgbClr val="E5E7EB"/>
            </a:solidFill>
            <a:prstDash val="solid"/>
          </a:ln>
          <a:effectLst>
            <a:outerShdw blurRad="127000" dist="38100" dir="5400000" algn="bl" rotWithShape="0">
              <a:srgbClr val="000000">
                <a:alpha val="10000"/>
              </a:srgbClr>
            </a:outerShdw>
          </a:effectLst>
        </p:spPr>
        <p:txBody>
          <a:bodyPr/>
          <a:lstStyle/>
          <a:p>
            <a:endParaRPr lang="en-US"/>
          </a:p>
        </p:txBody>
      </p:sp>
      <p:sp>
        <p:nvSpPr>
          <p:cNvPr id="22" name="Shape 19">
            <a:extLst>
              <a:ext uri="{FF2B5EF4-FFF2-40B4-BE49-F238E27FC236}">
                <a16:creationId xmlns:a16="http://schemas.microsoft.com/office/drawing/2014/main" id="{1DD24424-DEE0-1280-196B-81AB8B74B087}"/>
              </a:ext>
            </a:extLst>
          </p:cNvPr>
          <p:cNvSpPr/>
          <p:nvPr/>
        </p:nvSpPr>
        <p:spPr>
          <a:xfrm>
            <a:off x="8174736" y="3759538"/>
            <a:ext cx="3767328" cy="109728"/>
          </a:xfrm>
          <a:prstGeom prst="rect">
            <a:avLst/>
          </a:prstGeom>
          <a:solidFill>
            <a:srgbClr val="001F5B"/>
          </a:solidFill>
          <a:ln w="12700">
            <a:solidFill>
              <a:srgbClr val="001F5B"/>
            </a:solidFill>
            <a:prstDash val="solid"/>
          </a:ln>
        </p:spPr>
        <p:txBody>
          <a:bodyPr/>
          <a:lstStyle/>
          <a:p>
            <a:endParaRPr lang="en-US"/>
          </a:p>
        </p:txBody>
      </p:sp>
      <p:sp>
        <p:nvSpPr>
          <p:cNvPr id="28" name="Text 22">
            <a:extLst>
              <a:ext uri="{FF2B5EF4-FFF2-40B4-BE49-F238E27FC236}">
                <a16:creationId xmlns:a16="http://schemas.microsoft.com/office/drawing/2014/main" id="{2D48BF21-9401-C798-E7EC-9CB1ECAFE63C}"/>
              </a:ext>
            </a:extLst>
          </p:cNvPr>
          <p:cNvSpPr/>
          <p:nvPr/>
        </p:nvSpPr>
        <p:spPr>
          <a:xfrm>
            <a:off x="731520" y="2103121"/>
            <a:ext cx="3218688" cy="457200"/>
          </a:xfrm>
          <a:prstGeom prst="rect">
            <a:avLst/>
          </a:prstGeom>
          <a:noFill/>
          <a:ln/>
        </p:spPr>
        <p:txBody>
          <a:bodyPr wrap="square" lIns="0" tIns="0" rIns="0" bIns="0" rtlCol="0" anchor="ctr"/>
          <a:lstStyle/>
          <a:p>
            <a:pPr marL="0" indent="0" algn="ctr">
              <a:buNone/>
            </a:pPr>
            <a:r>
              <a:rPr lang="en-US" sz="2000" b="1" dirty="0">
                <a:solidFill>
                  <a:srgbClr val="001F5B"/>
                </a:solidFill>
                <a:latin typeface="Georgia" pitchFamily="34" charset="0"/>
              </a:rPr>
              <a:t>Gradient Boosting</a:t>
            </a:r>
            <a:endParaRPr lang="en-US" sz="2000" dirty="0"/>
          </a:p>
        </p:txBody>
      </p:sp>
      <p:sp>
        <p:nvSpPr>
          <p:cNvPr id="29" name="Shape 23">
            <a:extLst>
              <a:ext uri="{FF2B5EF4-FFF2-40B4-BE49-F238E27FC236}">
                <a16:creationId xmlns:a16="http://schemas.microsoft.com/office/drawing/2014/main" id="{64018983-D281-6C1D-BA9D-C7B709A7A72C}"/>
              </a:ext>
            </a:extLst>
          </p:cNvPr>
          <p:cNvSpPr/>
          <p:nvPr/>
        </p:nvSpPr>
        <p:spPr>
          <a:xfrm>
            <a:off x="1975104" y="2606041"/>
            <a:ext cx="731520" cy="0"/>
          </a:xfrm>
          <a:prstGeom prst="line">
            <a:avLst/>
          </a:prstGeom>
          <a:noFill/>
          <a:ln w="19050">
            <a:solidFill>
              <a:srgbClr val="C8102E"/>
            </a:solidFill>
            <a:prstDash val="solid"/>
          </a:ln>
        </p:spPr>
        <p:txBody>
          <a:bodyPr/>
          <a:lstStyle/>
          <a:p>
            <a:endParaRPr lang="en-US"/>
          </a:p>
        </p:txBody>
      </p:sp>
      <p:sp>
        <p:nvSpPr>
          <p:cNvPr id="30" name="Text 24">
            <a:extLst>
              <a:ext uri="{FF2B5EF4-FFF2-40B4-BE49-F238E27FC236}">
                <a16:creationId xmlns:a16="http://schemas.microsoft.com/office/drawing/2014/main" id="{CF539696-BEE6-BA8C-FBF7-D1C21F176A85}"/>
              </a:ext>
            </a:extLst>
          </p:cNvPr>
          <p:cNvSpPr/>
          <p:nvPr/>
        </p:nvSpPr>
        <p:spPr>
          <a:xfrm>
            <a:off x="777240" y="2788921"/>
            <a:ext cx="3127248" cy="1554480"/>
          </a:xfrm>
          <a:prstGeom prst="rect">
            <a:avLst/>
          </a:prstGeom>
          <a:noFill/>
          <a:ln/>
        </p:spPr>
        <p:txBody>
          <a:bodyPr wrap="square" lIns="0" tIns="0" rIns="0" bIns="0" rtlCol="0" anchor="t"/>
          <a:lstStyle/>
          <a:p>
            <a:pPr algn="ctr"/>
            <a:r>
              <a:rPr lang="en-US" sz="1300" b="1" dirty="0"/>
              <a:t>Accuracy</a:t>
            </a:r>
            <a:r>
              <a:rPr lang="en-US" sz="1300" dirty="0"/>
              <a:t>: 0.98</a:t>
            </a:r>
          </a:p>
          <a:p>
            <a:pPr algn="ctr"/>
            <a:r>
              <a:rPr lang="en-US" sz="1300" b="1" dirty="0"/>
              <a:t>Precision: </a:t>
            </a:r>
            <a:r>
              <a:rPr lang="en-US" sz="1300" dirty="0"/>
              <a:t>.99</a:t>
            </a:r>
          </a:p>
          <a:p>
            <a:pPr algn="ctr"/>
            <a:r>
              <a:rPr lang="en-US" sz="1300" b="1" dirty="0"/>
              <a:t>Recall: </a:t>
            </a:r>
            <a:r>
              <a:rPr lang="en-US" sz="1300" dirty="0"/>
              <a:t>.99</a:t>
            </a:r>
          </a:p>
          <a:p>
            <a:pPr algn="ctr"/>
            <a:r>
              <a:rPr lang="en-US" sz="1300" b="1" dirty="0"/>
              <a:t>F1 Score: </a:t>
            </a:r>
            <a:r>
              <a:rPr lang="en-US" sz="1300" dirty="0"/>
              <a:t>.99</a:t>
            </a:r>
          </a:p>
          <a:p>
            <a:pPr algn="ctr"/>
            <a:r>
              <a:rPr lang="en-US" sz="1300" b="1" dirty="0"/>
              <a:t>ROC ACU: </a:t>
            </a:r>
            <a:r>
              <a:rPr lang="en-US" sz="1300" dirty="0"/>
              <a:t>.99</a:t>
            </a:r>
          </a:p>
        </p:txBody>
      </p:sp>
      <p:sp>
        <p:nvSpPr>
          <p:cNvPr id="32" name="Text 26">
            <a:extLst>
              <a:ext uri="{FF2B5EF4-FFF2-40B4-BE49-F238E27FC236}">
                <a16:creationId xmlns:a16="http://schemas.microsoft.com/office/drawing/2014/main" id="{3AF04D99-142F-DCDE-727C-1378ED6196F1}"/>
              </a:ext>
            </a:extLst>
          </p:cNvPr>
          <p:cNvSpPr/>
          <p:nvPr/>
        </p:nvSpPr>
        <p:spPr>
          <a:xfrm>
            <a:off x="4590288" y="3005668"/>
            <a:ext cx="3218688" cy="457200"/>
          </a:xfrm>
          <a:prstGeom prst="rect">
            <a:avLst/>
          </a:prstGeom>
          <a:noFill/>
          <a:ln/>
        </p:spPr>
        <p:txBody>
          <a:bodyPr wrap="square" lIns="0" tIns="0" rIns="0" bIns="0" rtlCol="0" anchor="ctr"/>
          <a:lstStyle/>
          <a:p>
            <a:pPr marL="0" indent="0" algn="ctr">
              <a:buNone/>
            </a:pPr>
            <a:r>
              <a:rPr lang="en-US" sz="2000" b="1" dirty="0">
                <a:solidFill>
                  <a:srgbClr val="001F5B"/>
                </a:solidFill>
                <a:latin typeface="Georgia" pitchFamily="34" charset="0"/>
              </a:rPr>
              <a:t>Logistic Regression</a:t>
            </a:r>
            <a:endParaRPr lang="en-US" sz="2000" dirty="0"/>
          </a:p>
        </p:txBody>
      </p:sp>
      <p:sp>
        <p:nvSpPr>
          <p:cNvPr id="33" name="Shape 27">
            <a:extLst>
              <a:ext uri="{FF2B5EF4-FFF2-40B4-BE49-F238E27FC236}">
                <a16:creationId xmlns:a16="http://schemas.microsoft.com/office/drawing/2014/main" id="{16E81F1E-E1AE-F027-A6B2-DC92A6D4712D}"/>
              </a:ext>
            </a:extLst>
          </p:cNvPr>
          <p:cNvSpPr/>
          <p:nvPr/>
        </p:nvSpPr>
        <p:spPr>
          <a:xfrm>
            <a:off x="5833872" y="3508588"/>
            <a:ext cx="731520" cy="0"/>
          </a:xfrm>
          <a:prstGeom prst="line">
            <a:avLst/>
          </a:prstGeom>
          <a:noFill/>
          <a:ln w="19050">
            <a:solidFill>
              <a:srgbClr val="C8102E"/>
            </a:solidFill>
            <a:prstDash val="solid"/>
          </a:ln>
        </p:spPr>
        <p:txBody>
          <a:bodyPr/>
          <a:lstStyle/>
          <a:p>
            <a:endParaRPr lang="en-US"/>
          </a:p>
        </p:txBody>
      </p:sp>
      <p:sp>
        <p:nvSpPr>
          <p:cNvPr id="34" name="Text 28">
            <a:extLst>
              <a:ext uri="{FF2B5EF4-FFF2-40B4-BE49-F238E27FC236}">
                <a16:creationId xmlns:a16="http://schemas.microsoft.com/office/drawing/2014/main" id="{7E5259DE-977F-8ECE-0608-7D14D1EA619D}"/>
              </a:ext>
            </a:extLst>
          </p:cNvPr>
          <p:cNvSpPr/>
          <p:nvPr/>
        </p:nvSpPr>
        <p:spPr>
          <a:xfrm>
            <a:off x="4636008" y="3589864"/>
            <a:ext cx="3127248" cy="1554480"/>
          </a:xfrm>
          <a:prstGeom prst="rect">
            <a:avLst/>
          </a:prstGeom>
          <a:noFill/>
          <a:ln/>
        </p:spPr>
        <p:txBody>
          <a:bodyPr wrap="square" lIns="0" tIns="0" rIns="0" bIns="0" rtlCol="0" anchor="t"/>
          <a:lstStyle/>
          <a:p>
            <a:pPr algn="ctr"/>
            <a:r>
              <a:rPr lang="en-US" sz="1300" b="1" dirty="0"/>
              <a:t>Accuracy: </a:t>
            </a:r>
            <a:r>
              <a:rPr lang="en-US" sz="1300" dirty="0"/>
              <a:t>.92</a:t>
            </a:r>
          </a:p>
          <a:p>
            <a:pPr algn="ctr"/>
            <a:r>
              <a:rPr lang="en-US" sz="1300" b="1" dirty="0"/>
              <a:t>Precision: </a:t>
            </a:r>
            <a:r>
              <a:rPr lang="en-US" sz="1300" dirty="0"/>
              <a:t>.93</a:t>
            </a:r>
          </a:p>
          <a:p>
            <a:pPr algn="ctr"/>
            <a:r>
              <a:rPr lang="en-US" sz="1300" b="1" dirty="0"/>
              <a:t>Recall: </a:t>
            </a:r>
            <a:r>
              <a:rPr lang="en-US" sz="1300" dirty="0"/>
              <a:t>.93</a:t>
            </a:r>
          </a:p>
          <a:p>
            <a:pPr algn="ctr"/>
            <a:r>
              <a:rPr lang="en-US" sz="1300" b="1" dirty="0"/>
              <a:t>F1 Score: </a:t>
            </a:r>
            <a:r>
              <a:rPr lang="en-US" sz="1300" dirty="0"/>
              <a:t>.96</a:t>
            </a:r>
          </a:p>
          <a:p>
            <a:pPr algn="ctr"/>
            <a:r>
              <a:rPr lang="en-US" sz="1300" b="1" dirty="0"/>
              <a:t>ROC AUC: </a:t>
            </a:r>
            <a:r>
              <a:rPr lang="en-US" sz="1300" dirty="0"/>
              <a:t>.96</a:t>
            </a:r>
          </a:p>
        </p:txBody>
      </p:sp>
      <p:sp>
        <p:nvSpPr>
          <p:cNvPr id="36" name="Text 30">
            <a:extLst>
              <a:ext uri="{FF2B5EF4-FFF2-40B4-BE49-F238E27FC236}">
                <a16:creationId xmlns:a16="http://schemas.microsoft.com/office/drawing/2014/main" id="{95D0D645-F524-D229-2ED6-E55CE279CC35}"/>
              </a:ext>
            </a:extLst>
          </p:cNvPr>
          <p:cNvSpPr/>
          <p:nvPr/>
        </p:nvSpPr>
        <p:spPr>
          <a:xfrm>
            <a:off x="8540496" y="3931920"/>
            <a:ext cx="3218688" cy="457200"/>
          </a:xfrm>
          <a:prstGeom prst="rect">
            <a:avLst/>
          </a:prstGeom>
          <a:noFill/>
          <a:ln/>
        </p:spPr>
        <p:txBody>
          <a:bodyPr wrap="square" lIns="0" tIns="0" rIns="0" bIns="0" rtlCol="0" anchor="ctr"/>
          <a:lstStyle/>
          <a:p>
            <a:pPr marL="0" indent="0" algn="ctr">
              <a:buNone/>
            </a:pPr>
            <a:r>
              <a:rPr lang="en-US" sz="2000" b="1" dirty="0">
                <a:solidFill>
                  <a:srgbClr val="001F5B"/>
                </a:solidFill>
                <a:latin typeface="Georgia" pitchFamily="34" charset="0"/>
              </a:rPr>
              <a:t>Decision Tree</a:t>
            </a:r>
            <a:endParaRPr lang="en-US" sz="2000" dirty="0"/>
          </a:p>
        </p:txBody>
      </p:sp>
      <p:sp>
        <p:nvSpPr>
          <p:cNvPr id="37" name="Shape 31">
            <a:extLst>
              <a:ext uri="{FF2B5EF4-FFF2-40B4-BE49-F238E27FC236}">
                <a16:creationId xmlns:a16="http://schemas.microsoft.com/office/drawing/2014/main" id="{EF42B671-3654-81D0-A75C-CAF4A86DEA0C}"/>
              </a:ext>
            </a:extLst>
          </p:cNvPr>
          <p:cNvSpPr/>
          <p:nvPr/>
        </p:nvSpPr>
        <p:spPr>
          <a:xfrm>
            <a:off x="9784080" y="4434840"/>
            <a:ext cx="731520" cy="0"/>
          </a:xfrm>
          <a:prstGeom prst="line">
            <a:avLst/>
          </a:prstGeom>
          <a:noFill/>
          <a:ln w="19050">
            <a:solidFill>
              <a:srgbClr val="C8102E"/>
            </a:solidFill>
            <a:prstDash val="solid"/>
          </a:ln>
        </p:spPr>
        <p:txBody>
          <a:bodyPr/>
          <a:lstStyle/>
          <a:p>
            <a:endParaRPr lang="en-US"/>
          </a:p>
        </p:txBody>
      </p:sp>
      <p:sp>
        <p:nvSpPr>
          <p:cNvPr id="38" name="Text 32">
            <a:extLst>
              <a:ext uri="{FF2B5EF4-FFF2-40B4-BE49-F238E27FC236}">
                <a16:creationId xmlns:a16="http://schemas.microsoft.com/office/drawing/2014/main" id="{001E52B5-2EA5-68D2-9274-033BD1277822}"/>
              </a:ext>
            </a:extLst>
          </p:cNvPr>
          <p:cNvSpPr/>
          <p:nvPr/>
        </p:nvSpPr>
        <p:spPr>
          <a:xfrm>
            <a:off x="8586216" y="4617720"/>
            <a:ext cx="3127248" cy="1554480"/>
          </a:xfrm>
          <a:prstGeom prst="rect">
            <a:avLst/>
          </a:prstGeom>
          <a:noFill/>
          <a:ln/>
        </p:spPr>
        <p:txBody>
          <a:bodyPr wrap="square" lIns="0" tIns="0" rIns="0" bIns="0" rtlCol="0" anchor="t"/>
          <a:lstStyle/>
          <a:p>
            <a:pPr marL="0" indent="0" algn="ctr">
              <a:buNone/>
            </a:pPr>
            <a:r>
              <a:rPr lang="en-US" sz="1300" b="1" dirty="0">
                <a:solidFill>
                  <a:srgbClr val="1F2937"/>
                </a:solidFill>
                <a:latin typeface="Calibri" pitchFamily="34" charset="0"/>
                <a:ea typeface="Calibri" pitchFamily="34" charset="-122"/>
                <a:cs typeface="Calibri" pitchFamily="34" charset="-120"/>
              </a:rPr>
              <a:t>Accuracy: </a:t>
            </a:r>
            <a:r>
              <a:rPr lang="en-US" sz="1300" dirty="0">
                <a:solidFill>
                  <a:srgbClr val="1F2937"/>
                </a:solidFill>
                <a:latin typeface="Calibri" pitchFamily="34" charset="0"/>
                <a:ea typeface="Calibri" pitchFamily="34" charset="-122"/>
                <a:cs typeface="Calibri" pitchFamily="34" charset="-120"/>
              </a:rPr>
              <a:t>.98</a:t>
            </a:r>
          </a:p>
          <a:p>
            <a:pPr marL="0" indent="0" algn="ctr">
              <a:buNone/>
            </a:pPr>
            <a:r>
              <a:rPr lang="en-US" sz="1300" b="1" dirty="0">
                <a:solidFill>
                  <a:srgbClr val="1F2937"/>
                </a:solidFill>
                <a:latin typeface="Calibri" pitchFamily="34" charset="0"/>
                <a:ea typeface="Calibri" pitchFamily="34" charset="-122"/>
                <a:cs typeface="Calibri" pitchFamily="34" charset="-120"/>
              </a:rPr>
              <a:t>Precision: </a:t>
            </a:r>
            <a:r>
              <a:rPr lang="en-US" sz="1300" dirty="0">
                <a:solidFill>
                  <a:srgbClr val="1F2937"/>
                </a:solidFill>
                <a:latin typeface="Calibri" pitchFamily="34" charset="0"/>
                <a:ea typeface="Calibri" pitchFamily="34" charset="-122"/>
                <a:cs typeface="Calibri" pitchFamily="34" charset="-120"/>
              </a:rPr>
              <a:t>.99</a:t>
            </a:r>
          </a:p>
          <a:p>
            <a:pPr marL="0" indent="0" algn="ctr">
              <a:buNone/>
            </a:pPr>
            <a:r>
              <a:rPr lang="en-US" sz="1300" b="1" dirty="0">
                <a:solidFill>
                  <a:srgbClr val="1F2937"/>
                </a:solidFill>
                <a:latin typeface="Calibri" pitchFamily="34" charset="0"/>
                <a:ea typeface="Calibri" pitchFamily="34" charset="-122"/>
                <a:cs typeface="Calibri" pitchFamily="34" charset="-120"/>
              </a:rPr>
              <a:t>Recall: </a:t>
            </a:r>
            <a:r>
              <a:rPr lang="en-US" sz="1300" dirty="0">
                <a:solidFill>
                  <a:srgbClr val="1F2937"/>
                </a:solidFill>
                <a:latin typeface="Calibri" pitchFamily="34" charset="0"/>
                <a:ea typeface="Calibri" pitchFamily="34" charset="-122"/>
                <a:cs typeface="Calibri" pitchFamily="34" charset="-120"/>
              </a:rPr>
              <a:t>.98</a:t>
            </a:r>
          </a:p>
          <a:p>
            <a:pPr marL="0" indent="0" algn="ctr">
              <a:buNone/>
            </a:pPr>
            <a:r>
              <a:rPr lang="en-US" sz="1300" b="1" dirty="0">
                <a:solidFill>
                  <a:srgbClr val="1F2937"/>
                </a:solidFill>
                <a:latin typeface="Calibri" pitchFamily="34" charset="0"/>
                <a:ea typeface="Calibri" pitchFamily="34" charset="-122"/>
                <a:cs typeface="Calibri" pitchFamily="34" charset="-120"/>
              </a:rPr>
              <a:t>F1 Score: </a:t>
            </a:r>
            <a:r>
              <a:rPr lang="en-US" sz="1300" dirty="0">
                <a:solidFill>
                  <a:srgbClr val="1F2937"/>
                </a:solidFill>
                <a:latin typeface="Calibri" pitchFamily="34" charset="0"/>
                <a:ea typeface="Calibri" pitchFamily="34" charset="-122"/>
                <a:cs typeface="Calibri" pitchFamily="34" charset="-120"/>
              </a:rPr>
              <a:t>.99</a:t>
            </a:r>
          </a:p>
          <a:p>
            <a:pPr marL="0" indent="0" algn="ctr">
              <a:buNone/>
            </a:pPr>
            <a:r>
              <a:rPr lang="en-US" sz="1300" b="1" dirty="0">
                <a:solidFill>
                  <a:srgbClr val="1F2937"/>
                </a:solidFill>
                <a:latin typeface="Calibri" pitchFamily="34" charset="0"/>
                <a:ea typeface="Calibri" pitchFamily="34" charset="-122"/>
                <a:cs typeface="Calibri" pitchFamily="34" charset="-120"/>
              </a:rPr>
              <a:t>ROC AUC: </a:t>
            </a:r>
            <a:r>
              <a:rPr lang="en-US" sz="1300" dirty="0">
                <a:solidFill>
                  <a:srgbClr val="1F2937"/>
                </a:solidFill>
                <a:latin typeface="Calibri" pitchFamily="34" charset="0"/>
                <a:ea typeface="Calibri" pitchFamily="34" charset="-122"/>
                <a:cs typeface="Calibri" pitchFamily="34" charset="-120"/>
              </a:rPr>
              <a:t>1.0</a:t>
            </a:r>
            <a:endParaRPr lang="en-US" sz="1300" dirty="0"/>
          </a:p>
        </p:txBody>
      </p:sp>
      <p:pic>
        <p:nvPicPr>
          <p:cNvPr id="39" name="Image 0" descr="preencoded.png">
            <a:extLst>
              <a:ext uri="{FF2B5EF4-FFF2-40B4-BE49-F238E27FC236}">
                <a16:creationId xmlns:a16="http://schemas.microsoft.com/office/drawing/2014/main" id="{BBDAEEF6-0434-1F20-6041-4054CDC63CD8}"/>
              </a:ext>
            </a:extLst>
          </p:cNvPr>
          <p:cNvPicPr>
            <a:picLocks noChangeAspect="1"/>
          </p:cNvPicPr>
          <p:nvPr/>
        </p:nvPicPr>
        <p:blipFill>
          <a:blip r:embed="rId2"/>
          <a:stretch>
            <a:fillRect/>
          </a:stretch>
        </p:blipFill>
        <p:spPr>
          <a:xfrm>
            <a:off x="896112" y="896112"/>
            <a:ext cx="402336" cy="402336"/>
          </a:xfrm>
          <a:prstGeom prst="rect">
            <a:avLst/>
          </a:prstGeom>
        </p:spPr>
      </p:pic>
    </p:spTree>
    <p:extLst>
      <p:ext uri="{BB962C8B-B14F-4D97-AF65-F5344CB8AC3E}">
        <p14:creationId xmlns:p14="http://schemas.microsoft.com/office/powerpoint/2010/main" val="4053299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01F5B"/>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01F5B"/>
          </a:solidFill>
          <a:ln w="12700">
            <a:solidFill>
              <a:srgbClr val="001F5B"/>
            </a:solidFill>
            <a:prstDash val="solid"/>
          </a:ln>
        </p:spPr>
        <p:txBody>
          <a:bodyPr/>
          <a:lstStyle/>
          <a:p>
            <a:endParaRPr lang="en-US"/>
          </a:p>
        </p:txBody>
      </p:sp>
      <p:sp>
        <p:nvSpPr>
          <p:cNvPr id="3" name="Shape 1"/>
          <p:cNvSpPr/>
          <p:nvPr/>
        </p:nvSpPr>
        <p:spPr>
          <a:xfrm>
            <a:off x="0" y="0"/>
            <a:ext cx="320040" cy="320040"/>
          </a:xfrm>
          <a:prstGeom prst="rect">
            <a:avLst/>
          </a:prstGeom>
          <a:solidFill>
            <a:srgbClr val="C8102E"/>
          </a:solidFill>
          <a:ln w="12700">
            <a:solidFill>
              <a:srgbClr val="C8102E"/>
            </a:solidFill>
            <a:prstDash val="solid"/>
          </a:ln>
        </p:spPr>
        <p:txBody>
          <a:bodyPr/>
          <a:lstStyle/>
          <a:p>
            <a:endParaRPr lang="en-US"/>
          </a:p>
        </p:txBody>
      </p:sp>
      <p:sp>
        <p:nvSpPr>
          <p:cNvPr id="4" name="Text 2"/>
          <p:cNvSpPr/>
          <p:nvPr/>
        </p:nvSpPr>
        <p:spPr>
          <a:xfrm>
            <a:off x="457200" y="0"/>
            <a:ext cx="2743200" cy="320040"/>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CATAWBA COLLEGE</a:t>
            </a:r>
            <a:endParaRPr lang="en-US" sz="900" dirty="0"/>
          </a:p>
        </p:txBody>
      </p:sp>
      <p:sp>
        <p:nvSpPr>
          <p:cNvPr id="5" name="Text 3"/>
          <p:cNvSpPr/>
          <p:nvPr/>
        </p:nvSpPr>
        <p:spPr>
          <a:xfrm>
            <a:off x="8076895" y="0"/>
            <a:ext cx="3657600" cy="320040"/>
          </a:xfrm>
          <a:prstGeom prst="rect">
            <a:avLst/>
          </a:prstGeom>
          <a:noFill/>
          <a:ln/>
        </p:spPr>
        <p:txBody>
          <a:bodyPr wrap="square" lIns="0" tIns="0" rIns="0" bIns="0"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09 · REFERENCES</a:t>
            </a:r>
            <a:endParaRPr lang="en-US" sz="900" dirty="0"/>
          </a:p>
        </p:txBody>
      </p:sp>
      <p:sp>
        <p:nvSpPr>
          <p:cNvPr id="6" name="Shape 4"/>
          <p:cNvSpPr/>
          <p:nvPr/>
        </p:nvSpPr>
        <p:spPr>
          <a:xfrm>
            <a:off x="457200" y="6492240"/>
            <a:ext cx="11277295" cy="0"/>
          </a:xfrm>
          <a:prstGeom prst="line">
            <a:avLst/>
          </a:prstGeom>
          <a:noFill/>
          <a:ln w="9525">
            <a:solidFill>
              <a:srgbClr val="E5E7EB"/>
            </a:solidFill>
            <a:prstDash val="solid"/>
          </a:ln>
        </p:spPr>
        <p:txBody>
          <a:bodyPr/>
          <a:lstStyle/>
          <a:p>
            <a:endParaRPr lang="en-US"/>
          </a:p>
        </p:txBody>
      </p:sp>
      <p:sp>
        <p:nvSpPr>
          <p:cNvPr id="7" name="Text 5"/>
          <p:cNvSpPr/>
          <p:nvPr/>
        </p:nvSpPr>
        <p:spPr>
          <a:xfrm>
            <a:off x="457200" y="6537960"/>
            <a:ext cx="457200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Data Mining · Final Project</a:t>
            </a:r>
            <a:endParaRPr lang="en-US" sz="900" dirty="0"/>
          </a:p>
        </p:txBody>
      </p:sp>
      <p:sp>
        <p:nvSpPr>
          <p:cNvPr id="8" name="Text 6"/>
          <p:cNvSpPr/>
          <p:nvPr/>
        </p:nvSpPr>
        <p:spPr>
          <a:xfrm>
            <a:off x="10362895" y="6537960"/>
            <a:ext cx="13716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  /  10</a:t>
            </a:r>
            <a:endParaRPr lang="en-US" sz="900" dirty="0"/>
          </a:p>
        </p:txBody>
      </p:sp>
      <p:sp>
        <p:nvSpPr>
          <p:cNvPr id="9" name="Shape 7"/>
          <p:cNvSpPr/>
          <p:nvPr/>
        </p:nvSpPr>
        <p:spPr>
          <a:xfrm>
            <a:off x="11643055" y="6400800"/>
            <a:ext cx="228600" cy="36576"/>
          </a:xfrm>
          <a:prstGeom prst="rect">
            <a:avLst/>
          </a:prstGeom>
          <a:solidFill>
            <a:srgbClr val="C8102E"/>
          </a:solidFill>
          <a:ln w="12700">
            <a:solidFill>
              <a:srgbClr val="C8102E"/>
            </a:solidFill>
            <a:prstDash val="solid"/>
          </a:ln>
        </p:spPr>
        <p:txBody>
          <a:bodyPr/>
          <a:lstStyle/>
          <a:p>
            <a:endParaRPr lang="en-US"/>
          </a:p>
        </p:txBody>
      </p:sp>
      <p:sp>
        <p:nvSpPr>
          <p:cNvPr id="10" name="Shape 8"/>
          <p:cNvSpPr/>
          <p:nvPr/>
        </p:nvSpPr>
        <p:spPr>
          <a:xfrm>
            <a:off x="0" y="6400800"/>
            <a:ext cx="12191695" cy="457200"/>
          </a:xfrm>
          <a:prstGeom prst="rect">
            <a:avLst/>
          </a:prstGeom>
          <a:solidFill>
            <a:srgbClr val="FFFFFF"/>
          </a:solidFill>
          <a:ln w="12700">
            <a:solidFill>
              <a:srgbClr val="FFFFFF"/>
            </a:solidFill>
            <a:prstDash val="solid"/>
          </a:ln>
        </p:spPr>
        <p:txBody>
          <a:bodyPr/>
          <a:lstStyle/>
          <a:p>
            <a:endParaRPr lang="en-US"/>
          </a:p>
        </p:txBody>
      </p:sp>
      <p:sp>
        <p:nvSpPr>
          <p:cNvPr id="11" name="Shape 9"/>
          <p:cNvSpPr/>
          <p:nvPr/>
        </p:nvSpPr>
        <p:spPr>
          <a:xfrm>
            <a:off x="11643055" y="6821424"/>
            <a:ext cx="228600" cy="36576"/>
          </a:xfrm>
          <a:prstGeom prst="rect">
            <a:avLst/>
          </a:prstGeom>
          <a:solidFill>
            <a:srgbClr val="C8102E"/>
          </a:solidFill>
          <a:ln w="12700">
            <a:solidFill>
              <a:srgbClr val="C8102E"/>
            </a:solidFill>
            <a:prstDash val="solid"/>
          </a:ln>
        </p:spPr>
        <p:txBody>
          <a:bodyPr/>
          <a:lstStyle/>
          <a:p>
            <a:endParaRPr lang="en-US"/>
          </a:p>
        </p:txBody>
      </p:sp>
      <p:sp>
        <p:nvSpPr>
          <p:cNvPr id="12" name="Text 10"/>
          <p:cNvSpPr/>
          <p:nvPr/>
        </p:nvSpPr>
        <p:spPr>
          <a:xfrm>
            <a:off x="457200" y="6400800"/>
            <a:ext cx="4572000" cy="45720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Data Mining · Final Project</a:t>
            </a:r>
            <a:endParaRPr lang="en-US" sz="900" dirty="0"/>
          </a:p>
        </p:txBody>
      </p:sp>
      <p:sp>
        <p:nvSpPr>
          <p:cNvPr id="13" name="Text 11"/>
          <p:cNvSpPr/>
          <p:nvPr/>
        </p:nvSpPr>
        <p:spPr>
          <a:xfrm>
            <a:off x="10362895" y="6400800"/>
            <a:ext cx="1371600" cy="4572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  /  10</a:t>
            </a:r>
            <a:endParaRPr lang="en-US" sz="900" dirty="0"/>
          </a:p>
        </p:txBody>
      </p:sp>
      <p:sp>
        <p:nvSpPr>
          <p:cNvPr id="14" name="Shape 12"/>
          <p:cNvSpPr/>
          <p:nvPr/>
        </p:nvSpPr>
        <p:spPr>
          <a:xfrm>
            <a:off x="457200" y="777240"/>
            <a:ext cx="73152" cy="822960"/>
          </a:xfrm>
          <a:prstGeom prst="rect">
            <a:avLst/>
          </a:prstGeom>
          <a:solidFill>
            <a:srgbClr val="C8102E"/>
          </a:solidFill>
          <a:ln w="12700">
            <a:solidFill>
              <a:srgbClr val="C8102E"/>
            </a:solidFill>
            <a:prstDash val="solid"/>
          </a:ln>
        </p:spPr>
        <p:txBody>
          <a:bodyPr/>
          <a:lstStyle/>
          <a:p>
            <a:endParaRPr lang="en-US"/>
          </a:p>
        </p:txBody>
      </p:sp>
      <p:sp>
        <p:nvSpPr>
          <p:cNvPr id="15" name="Shape 13"/>
          <p:cNvSpPr/>
          <p:nvPr/>
        </p:nvSpPr>
        <p:spPr>
          <a:xfrm>
            <a:off x="731520" y="822960"/>
            <a:ext cx="731520" cy="731520"/>
          </a:xfrm>
          <a:prstGeom prst="ellipse">
            <a:avLst/>
          </a:prstGeom>
          <a:solidFill>
            <a:srgbClr val="C8102E"/>
          </a:solidFill>
          <a:ln w="12700">
            <a:solidFill>
              <a:srgbClr val="C8102E"/>
            </a:solidFill>
            <a:prstDash val="solid"/>
          </a:ln>
        </p:spPr>
        <p:txBody>
          <a:bodyPr/>
          <a:lstStyle/>
          <a:p>
            <a:endParaRPr lang="en-US"/>
          </a:p>
        </p:txBody>
      </p:sp>
      <p:pic>
        <p:nvPicPr>
          <p:cNvPr id="16" name="Image 0" descr="preencoded.png"/>
          <p:cNvPicPr>
            <a:picLocks noChangeAspect="1"/>
          </p:cNvPicPr>
          <p:nvPr/>
        </p:nvPicPr>
        <p:blipFill>
          <a:blip r:embed="rId3"/>
          <a:stretch>
            <a:fillRect/>
          </a:stretch>
        </p:blipFill>
        <p:spPr>
          <a:xfrm>
            <a:off x="896112" y="987552"/>
            <a:ext cx="402336" cy="402336"/>
          </a:xfrm>
          <a:prstGeom prst="rect">
            <a:avLst/>
          </a:prstGeom>
        </p:spPr>
      </p:pic>
      <p:sp>
        <p:nvSpPr>
          <p:cNvPr id="17" name="Text 14"/>
          <p:cNvSpPr/>
          <p:nvPr/>
        </p:nvSpPr>
        <p:spPr>
          <a:xfrm>
            <a:off x="1645920" y="749808"/>
            <a:ext cx="9601200" cy="54864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References &amp; Acknowledgments</a:t>
            </a:r>
            <a:endParaRPr lang="en-US" sz="3000" dirty="0"/>
          </a:p>
        </p:txBody>
      </p:sp>
      <p:sp>
        <p:nvSpPr>
          <p:cNvPr id="18" name="Text 15"/>
          <p:cNvSpPr/>
          <p:nvPr/>
        </p:nvSpPr>
        <p:spPr>
          <a:xfrm>
            <a:off x="1645920" y="1261872"/>
            <a:ext cx="9601200" cy="320040"/>
          </a:xfrm>
          <a:prstGeom prst="rect">
            <a:avLst/>
          </a:prstGeom>
          <a:noFill/>
          <a:ln/>
        </p:spPr>
        <p:txBody>
          <a:bodyPr wrap="square" lIns="0" tIns="0" rIns="0" bIns="0" rtlCol="0" anchor="ctr"/>
          <a:lstStyle/>
          <a:p>
            <a:pPr marL="0" indent="0">
              <a:buNone/>
            </a:pPr>
            <a:r>
              <a:rPr lang="en-US" sz="1200" i="1" dirty="0">
                <a:solidFill>
                  <a:srgbClr val="A9B8D4"/>
                </a:solidFill>
                <a:latin typeface="Calibri" pitchFamily="34" charset="0"/>
                <a:ea typeface="Calibri" pitchFamily="34" charset="-122"/>
                <a:cs typeface="Calibri" pitchFamily="34" charset="-120"/>
              </a:rPr>
              <a:t>Include use of AI</a:t>
            </a:r>
            <a:endParaRPr lang="en-US" sz="1200" dirty="0"/>
          </a:p>
        </p:txBody>
      </p:sp>
      <p:sp>
        <p:nvSpPr>
          <p:cNvPr id="19" name="Text 16"/>
          <p:cNvSpPr/>
          <p:nvPr/>
        </p:nvSpPr>
        <p:spPr>
          <a:xfrm>
            <a:off x="457200" y="2011680"/>
            <a:ext cx="5029200" cy="274320"/>
          </a:xfrm>
          <a:prstGeom prst="rect">
            <a:avLst/>
          </a:prstGeom>
          <a:noFill/>
          <a:ln/>
        </p:spPr>
        <p:txBody>
          <a:bodyPr wrap="square" lIns="0" tIns="0" rIns="0" bIns="0" rtlCol="0" anchor="ctr"/>
          <a:lstStyle/>
          <a:p>
            <a:pPr marL="0" indent="0">
              <a:buNone/>
            </a:pPr>
            <a:r>
              <a:rPr lang="en-US" sz="1100" b="1" kern="0" spc="400" dirty="0">
                <a:solidFill>
                  <a:srgbClr val="A9B8D4"/>
                </a:solidFill>
                <a:latin typeface="Calibri" pitchFamily="34" charset="0"/>
                <a:ea typeface="Calibri" pitchFamily="34" charset="-122"/>
                <a:cs typeface="Calibri" pitchFamily="34" charset="-120"/>
              </a:rPr>
              <a:t>DATA SOURCES</a:t>
            </a:r>
            <a:endParaRPr lang="en-US" sz="1100" dirty="0"/>
          </a:p>
        </p:txBody>
      </p:sp>
      <p:sp>
        <p:nvSpPr>
          <p:cNvPr id="20" name="Shape 17"/>
          <p:cNvSpPr/>
          <p:nvPr/>
        </p:nvSpPr>
        <p:spPr>
          <a:xfrm>
            <a:off x="457200" y="2331720"/>
            <a:ext cx="1371600" cy="0"/>
          </a:xfrm>
          <a:prstGeom prst="line">
            <a:avLst/>
          </a:prstGeom>
          <a:noFill/>
          <a:ln w="15875">
            <a:solidFill>
              <a:srgbClr val="C8102E"/>
            </a:solidFill>
            <a:prstDash val="solid"/>
          </a:ln>
        </p:spPr>
        <p:txBody>
          <a:bodyPr/>
          <a:lstStyle/>
          <a:p>
            <a:endParaRPr lang="en-US"/>
          </a:p>
        </p:txBody>
      </p:sp>
      <p:sp>
        <p:nvSpPr>
          <p:cNvPr id="21" name="Text 18"/>
          <p:cNvSpPr/>
          <p:nvPr/>
        </p:nvSpPr>
        <p:spPr>
          <a:xfrm>
            <a:off x="457200" y="2514600"/>
            <a:ext cx="5029200" cy="320040"/>
          </a:xfrm>
          <a:prstGeom prst="rect">
            <a:avLst/>
          </a:prstGeom>
          <a:noFill/>
          <a:ln/>
        </p:spPr>
        <p:txBody>
          <a:bodyPr wrap="square" lIns="0" tIns="0" rIns="0" bIns="0" rtlCol="0" anchor="ctr"/>
          <a:lstStyle/>
          <a:p>
            <a:r>
              <a:rPr lang="en-US" sz="1200" dirty="0">
                <a:solidFill>
                  <a:schemeClr val="bg1"/>
                </a:solidFill>
                <a:ea typeface="Calibri" pitchFamily="34" charset="-122"/>
                <a:cs typeface="Calibri" pitchFamily="34" charset="-120"/>
              </a:rPr>
              <a:t>Sharma, A. (2023). </a:t>
            </a:r>
            <a:r>
              <a:rPr lang="en-US" sz="1200" i="1" dirty="0">
                <a:solidFill>
                  <a:schemeClr val="bg1"/>
                </a:solidFill>
                <a:ea typeface="Calibri" pitchFamily="34" charset="-122"/>
                <a:cs typeface="Calibri" pitchFamily="34" charset="-120"/>
              </a:rPr>
              <a:t>Loan approval dataset. </a:t>
            </a:r>
            <a:r>
              <a:rPr lang="en-US" sz="1200" dirty="0">
                <a:solidFill>
                  <a:schemeClr val="bg1"/>
                </a:solidFill>
                <a:ea typeface="Calibri" pitchFamily="34" charset="-122"/>
                <a:cs typeface="Calibri" pitchFamily="34" charset="-120"/>
              </a:rPr>
              <a:t>Kaggle. </a:t>
            </a:r>
            <a:r>
              <a:rPr lang="en-US" sz="1200" dirty="0">
                <a:solidFill>
                  <a:schemeClr val="bg1"/>
                </a:solidFill>
                <a:hlinkClick r:id="rId4">
                  <a:extLst>
                    <a:ext uri="{A12FA001-AC4F-418D-AE19-62706E023703}">
                      <ahyp:hlinkClr xmlns:ahyp="http://schemas.microsoft.com/office/drawing/2018/hyperlinkcolor" val="tx"/>
                    </a:ext>
                  </a:extLst>
                </a:hlinkClick>
              </a:rPr>
              <a:t>Loan-Approval-Prediction-Dataset</a:t>
            </a:r>
            <a:endParaRPr lang="en-US" sz="1200" dirty="0">
              <a:solidFill>
                <a:schemeClr val="bg1"/>
              </a:solidFill>
            </a:endParaRPr>
          </a:p>
          <a:p>
            <a:pPr marL="0" indent="0">
              <a:buNone/>
            </a:pPr>
            <a:endParaRPr lang="en-US" sz="1200" dirty="0"/>
          </a:p>
        </p:txBody>
      </p:sp>
      <p:sp>
        <p:nvSpPr>
          <p:cNvPr id="22" name="Text 19"/>
          <p:cNvSpPr/>
          <p:nvPr/>
        </p:nvSpPr>
        <p:spPr>
          <a:xfrm>
            <a:off x="457200" y="2880360"/>
            <a:ext cx="5029200" cy="320040"/>
          </a:xfrm>
          <a:prstGeom prst="rect">
            <a:avLst/>
          </a:prstGeom>
          <a:noFill/>
          <a:ln/>
        </p:spPr>
        <p:txBody>
          <a:bodyPr wrap="square" lIns="0" tIns="0" rIns="0" bIns="0" rtlCol="0" anchor="ctr"/>
          <a:lstStyle/>
          <a:p>
            <a:r>
              <a:rPr lang="en-US" sz="1200" dirty="0">
                <a:solidFill>
                  <a:schemeClr val="bg1"/>
                </a:solidFill>
              </a:rPr>
              <a:t>OpenAI. (2026). </a:t>
            </a:r>
            <a:r>
              <a:rPr lang="en-US" sz="1200" i="1" dirty="0">
                <a:solidFill>
                  <a:schemeClr val="bg1"/>
                </a:solidFill>
              </a:rPr>
              <a:t>ChatGPT</a:t>
            </a:r>
            <a:r>
              <a:rPr lang="en-US" sz="1200" dirty="0">
                <a:solidFill>
                  <a:schemeClr val="bg1"/>
                </a:solidFill>
              </a:rPr>
              <a:t> (GPT-5.3) [Large language model]. </a:t>
            </a:r>
            <a:r>
              <a:rPr lang="en-US" sz="1200" dirty="0">
                <a:solidFill>
                  <a:schemeClr val="bg1"/>
                </a:solidFill>
                <a:hlinkClick r:id="rId5">
                  <a:extLst>
                    <a:ext uri="{A12FA001-AC4F-418D-AE19-62706E023703}">
                      <ahyp:hlinkClr xmlns:ahyp="http://schemas.microsoft.com/office/drawing/2018/hyperlinkcolor" val="tx"/>
                    </a:ext>
                  </a:extLst>
                </a:hlinkClick>
              </a:rPr>
              <a:t>https://chat.openai.com/</a:t>
            </a:r>
            <a:endParaRPr lang="en-US" sz="1200" dirty="0">
              <a:solidFill>
                <a:schemeClr val="bg1"/>
              </a:solidFill>
            </a:endParaRPr>
          </a:p>
        </p:txBody>
      </p:sp>
      <p:sp>
        <p:nvSpPr>
          <p:cNvPr id="23" name="Text 20"/>
          <p:cNvSpPr/>
          <p:nvPr/>
        </p:nvSpPr>
        <p:spPr>
          <a:xfrm>
            <a:off x="457200" y="3246120"/>
            <a:ext cx="5029200" cy="320040"/>
          </a:xfrm>
          <a:prstGeom prst="rect">
            <a:avLst/>
          </a:prstGeom>
          <a:noFill/>
          <a:ln/>
        </p:spPr>
        <p:txBody>
          <a:bodyPr wrap="square" lIns="0" tIns="0" rIns="0" bIns="0" rtlCol="0" anchor="ctr"/>
          <a:lstStyle/>
          <a:p>
            <a:pPr marL="0" indent="0">
              <a:buNone/>
            </a:pPr>
            <a:endParaRPr lang="en-US" sz="1200" dirty="0"/>
          </a:p>
        </p:txBody>
      </p:sp>
      <p:sp>
        <p:nvSpPr>
          <p:cNvPr id="24" name="Text 21"/>
          <p:cNvSpPr/>
          <p:nvPr/>
        </p:nvSpPr>
        <p:spPr>
          <a:xfrm>
            <a:off x="457200" y="3931920"/>
            <a:ext cx="5029200" cy="274320"/>
          </a:xfrm>
          <a:prstGeom prst="rect">
            <a:avLst/>
          </a:prstGeom>
          <a:noFill/>
          <a:ln/>
        </p:spPr>
        <p:txBody>
          <a:bodyPr wrap="square" lIns="0" tIns="0" rIns="0" bIns="0" rtlCol="0" anchor="ctr"/>
          <a:lstStyle/>
          <a:p>
            <a:pPr marL="0" indent="0">
              <a:buNone/>
            </a:pPr>
            <a:r>
              <a:rPr lang="en-US" sz="1100" b="1" kern="0" spc="400" dirty="0">
                <a:solidFill>
                  <a:srgbClr val="A9B8D4"/>
                </a:solidFill>
                <a:latin typeface="Calibri" pitchFamily="34" charset="0"/>
                <a:ea typeface="Calibri" pitchFamily="34" charset="-122"/>
                <a:cs typeface="Calibri" pitchFamily="34" charset="-120"/>
              </a:rPr>
              <a:t>TOOLS &amp; LIBRARIES</a:t>
            </a:r>
            <a:endParaRPr lang="en-US" sz="1100" dirty="0"/>
          </a:p>
        </p:txBody>
      </p:sp>
      <p:sp>
        <p:nvSpPr>
          <p:cNvPr id="25" name="Shape 22"/>
          <p:cNvSpPr/>
          <p:nvPr/>
        </p:nvSpPr>
        <p:spPr>
          <a:xfrm>
            <a:off x="457200" y="4251960"/>
            <a:ext cx="1371600" cy="0"/>
          </a:xfrm>
          <a:prstGeom prst="line">
            <a:avLst/>
          </a:prstGeom>
          <a:noFill/>
          <a:ln w="15875">
            <a:solidFill>
              <a:srgbClr val="C8102E"/>
            </a:solidFill>
            <a:prstDash val="solid"/>
          </a:ln>
        </p:spPr>
        <p:txBody>
          <a:bodyPr/>
          <a:lstStyle/>
          <a:p>
            <a:endParaRPr lang="en-US"/>
          </a:p>
        </p:txBody>
      </p:sp>
      <p:sp>
        <p:nvSpPr>
          <p:cNvPr id="26" name="Shape 23"/>
          <p:cNvSpPr/>
          <p:nvPr/>
        </p:nvSpPr>
        <p:spPr>
          <a:xfrm>
            <a:off x="457200" y="4480560"/>
            <a:ext cx="941832" cy="365760"/>
          </a:xfrm>
          <a:prstGeom prst="roundRect">
            <a:avLst>
              <a:gd name="adj" fmla="val 20000"/>
            </a:avLst>
          </a:prstGeom>
          <a:solidFill>
            <a:srgbClr val="001F5B">
              <a:alpha val="0"/>
            </a:srgbClr>
          </a:solidFill>
          <a:ln w="12700">
            <a:solidFill>
              <a:srgbClr val="FFFFFF"/>
            </a:solidFill>
            <a:prstDash val="solid"/>
          </a:ln>
        </p:spPr>
        <p:txBody>
          <a:bodyPr/>
          <a:lstStyle/>
          <a:p>
            <a:endParaRPr lang="en-US"/>
          </a:p>
        </p:txBody>
      </p:sp>
      <p:sp>
        <p:nvSpPr>
          <p:cNvPr id="27" name="Text 24"/>
          <p:cNvSpPr/>
          <p:nvPr/>
        </p:nvSpPr>
        <p:spPr>
          <a:xfrm>
            <a:off x="457200" y="4480560"/>
            <a:ext cx="941832"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onsolas" pitchFamily="34" charset="0"/>
                <a:ea typeface="Consolas" pitchFamily="34" charset="-122"/>
                <a:cs typeface="Consolas" pitchFamily="34" charset="-120"/>
              </a:rPr>
              <a:t>Python</a:t>
            </a:r>
            <a:endParaRPr lang="en-US" sz="1100" dirty="0"/>
          </a:p>
        </p:txBody>
      </p:sp>
      <p:sp>
        <p:nvSpPr>
          <p:cNvPr id="28" name="Shape 25"/>
          <p:cNvSpPr/>
          <p:nvPr/>
        </p:nvSpPr>
        <p:spPr>
          <a:xfrm>
            <a:off x="1508760" y="4480560"/>
            <a:ext cx="1060704" cy="365760"/>
          </a:xfrm>
          <a:prstGeom prst="roundRect">
            <a:avLst>
              <a:gd name="adj" fmla="val 20000"/>
            </a:avLst>
          </a:prstGeom>
          <a:solidFill>
            <a:srgbClr val="001F5B">
              <a:alpha val="0"/>
            </a:srgbClr>
          </a:solidFill>
          <a:ln w="12700">
            <a:solidFill>
              <a:srgbClr val="FFFFFF"/>
            </a:solidFill>
            <a:prstDash val="solid"/>
          </a:ln>
        </p:spPr>
        <p:txBody>
          <a:bodyPr/>
          <a:lstStyle/>
          <a:p>
            <a:endParaRPr lang="en-US"/>
          </a:p>
        </p:txBody>
      </p:sp>
      <p:sp>
        <p:nvSpPr>
          <p:cNvPr id="29" name="Text 26"/>
          <p:cNvSpPr/>
          <p:nvPr/>
        </p:nvSpPr>
        <p:spPr>
          <a:xfrm>
            <a:off x="1508760" y="4480560"/>
            <a:ext cx="1060704"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onsolas" pitchFamily="34" charset="0"/>
                <a:ea typeface="Consolas" pitchFamily="34" charset="-122"/>
                <a:cs typeface="Consolas" pitchFamily="34" charset="-120"/>
              </a:rPr>
              <a:t>PyCaret</a:t>
            </a:r>
            <a:endParaRPr lang="en-US" sz="1100" dirty="0"/>
          </a:p>
        </p:txBody>
      </p:sp>
      <p:sp>
        <p:nvSpPr>
          <p:cNvPr id="30" name="Shape 27"/>
          <p:cNvSpPr/>
          <p:nvPr/>
        </p:nvSpPr>
        <p:spPr>
          <a:xfrm>
            <a:off x="2679192" y="4480560"/>
            <a:ext cx="1655064" cy="365760"/>
          </a:xfrm>
          <a:prstGeom prst="roundRect">
            <a:avLst>
              <a:gd name="adj" fmla="val 20000"/>
            </a:avLst>
          </a:prstGeom>
          <a:solidFill>
            <a:srgbClr val="001F5B">
              <a:alpha val="0"/>
            </a:srgbClr>
          </a:solidFill>
          <a:ln w="12700">
            <a:solidFill>
              <a:srgbClr val="FFFFFF"/>
            </a:solidFill>
            <a:prstDash val="solid"/>
          </a:ln>
        </p:spPr>
        <p:txBody>
          <a:bodyPr/>
          <a:lstStyle/>
          <a:p>
            <a:endParaRPr lang="en-US"/>
          </a:p>
        </p:txBody>
      </p:sp>
      <p:sp>
        <p:nvSpPr>
          <p:cNvPr id="31" name="Text 28"/>
          <p:cNvSpPr/>
          <p:nvPr/>
        </p:nvSpPr>
        <p:spPr>
          <a:xfrm>
            <a:off x="2679192" y="4480560"/>
            <a:ext cx="1655064"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onsolas" pitchFamily="34" charset="0"/>
                <a:ea typeface="Consolas" pitchFamily="34" charset="-122"/>
                <a:cs typeface="Consolas" pitchFamily="34" charset="-120"/>
              </a:rPr>
              <a:t>scikit-learn</a:t>
            </a:r>
            <a:endParaRPr lang="en-US" sz="1100" dirty="0"/>
          </a:p>
        </p:txBody>
      </p:sp>
      <p:sp>
        <p:nvSpPr>
          <p:cNvPr id="32" name="Shape 29"/>
          <p:cNvSpPr/>
          <p:nvPr/>
        </p:nvSpPr>
        <p:spPr>
          <a:xfrm>
            <a:off x="4443984" y="4480560"/>
            <a:ext cx="941832" cy="365760"/>
          </a:xfrm>
          <a:prstGeom prst="roundRect">
            <a:avLst>
              <a:gd name="adj" fmla="val 20000"/>
            </a:avLst>
          </a:prstGeom>
          <a:solidFill>
            <a:srgbClr val="001F5B">
              <a:alpha val="0"/>
            </a:srgbClr>
          </a:solidFill>
          <a:ln w="12700">
            <a:solidFill>
              <a:srgbClr val="FFFFFF"/>
            </a:solidFill>
            <a:prstDash val="solid"/>
          </a:ln>
        </p:spPr>
        <p:txBody>
          <a:bodyPr/>
          <a:lstStyle/>
          <a:p>
            <a:endParaRPr lang="en-US"/>
          </a:p>
        </p:txBody>
      </p:sp>
      <p:sp>
        <p:nvSpPr>
          <p:cNvPr id="33" name="Text 30"/>
          <p:cNvSpPr/>
          <p:nvPr/>
        </p:nvSpPr>
        <p:spPr>
          <a:xfrm>
            <a:off x="4443984" y="4480560"/>
            <a:ext cx="941832"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onsolas" pitchFamily="34" charset="0"/>
                <a:ea typeface="Consolas" pitchFamily="34" charset="-122"/>
                <a:cs typeface="Consolas" pitchFamily="34" charset="-120"/>
              </a:rPr>
              <a:t>pandas</a:t>
            </a:r>
            <a:endParaRPr lang="en-US" sz="1100" dirty="0"/>
          </a:p>
        </p:txBody>
      </p:sp>
      <p:sp>
        <p:nvSpPr>
          <p:cNvPr id="34" name="Shape 31"/>
          <p:cNvSpPr/>
          <p:nvPr/>
        </p:nvSpPr>
        <p:spPr>
          <a:xfrm>
            <a:off x="457200" y="4983480"/>
            <a:ext cx="1417320" cy="365760"/>
          </a:xfrm>
          <a:prstGeom prst="roundRect">
            <a:avLst>
              <a:gd name="adj" fmla="val 20000"/>
            </a:avLst>
          </a:prstGeom>
          <a:solidFill>
            <a:srgbClr val="001F5B">
              <a:alpha val="0"/>
            </a:srgbClr>
          </a:solidFill>
          <a:ln w="12700">
            <a:solidFill>
              <a:srgbClr val="FFFFFF"/>
            </a:solidFill>
            <a:prstDash val="solid"/>
          </a:ln>
        </p:spPr>
        <p:txBody>
          <a:bodyPr/>
          <a:lstStyle/>
          <a:p>
            <a:endParaRPr lang="en-US"/>
          </a:p>
        </p:txBody>
      </p:sp>
      <p:sp>
        <p:nvSpPr>
          <p:cNvPr id="35" name="Text 32"/>
          <p:cNvSpPr/>
          <p:nvPr/>
        </p:nvSpPr>
        <p:spPr>
          <a:xfrm>
            <a:off x="457200" y="4983480"/>
            <a:ext cx="1417320"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onsolas" pitchFamily="34" charset="0"/>
                <a:ea typeface="Consolas" pitchFamily="34" charset="-122"/>
                <a:cs typeface="Consolas" pitchFamily="34" charset="-120"/>
              </a:rPr>
              <a:t>matplotlib</a:t>
            </a:r>
            <a:endParaRPr lang="en-US" sz="1100" dirty="0"/>
          </a:p>
        </p:txBody>
      </p:sp>
      <p:sp>
        <p:nvSpPr>
          <p:cNvPr id="36" name="Shape 33"/>
          <p:cNvSpPr/>
          <p:nvPr/>
        </p:nvSpPr>
        <p:spPr>
          <a:xfrm>
            <a:off x="1984248" y="4983480"/>
            <a:ext cx="1060704" cy="365760"/>
          </a:xfrm>
          <a:prstGeom prst="roundRect">
            <a:avLst>
              <a:gd name="adj" fmla="val 20000"/>
            </a:avLst>
          </a:prstGeom>
          <a:solidFill>
            <a:srgbClr val="001F5B">
              <a:alpha val="0"/>
            </a:srgbClr>
          </a:solidFill>
          <a:ln w="12700">
            <a:solidFill>
              <a:srgbClr val="FFFFFF"/>
            </a:solidFill>
            <a:prstDash val="solid"/>
          </a:ln>
        </p:spPr>
        <p:txBody>
          <a:bodyPr/>
          <a:lstStyle/>
          <a:p>
            <a:endParaRPr lang="en-US"/>
          </a:p>
        </p:txBody>
      </p:sp>
      <p:sp>
        <p:nvSpPr>
          <p:cNvPr id="37" name="Text 34"/>
          <p:cNvSpPr/>
          <p:nvPr/>
        </p:nvSpPr>
        <p:spPr>
          <a:xfrm>
            <a:off x="1984248" y="4983480"/>
            <a:ext cx="1060704"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onsolas" pitchFamily="34" charset="0"/>
                <a:ea typeface="Consolas" pitchFamily="34" charset="-122"/>
                <a:cs typeface="Consolas" pitchFamily="34" charset="-120"/>
              </a:rPr>
              <a:t>AutoViz</a:t>
            </a:r>
            <a:endParaRPr lang="en-US" sz="1100" dirty="0"/>
          </a:p>
        </p:txBody>
      </p:sp>
      <p:sp>
        <p:nvSpPr>
          <p:cNvPr id="38" name="Shape 35"/>
          <p:cNvSpPr/>
          <p:nvPr/>
        </p:nvSpPr>
        <p:spPr>
          <a:xfrm>
            <a:off x="5943600" y="2011680"/>
            <a:ext cx="5760720" cy="2286000"/>
          </a:xfrm>
          <a:prstGeom prst="rect">
            <a:avLst/>
          </a:prstGeom>
          <a:solidFill>
            <a:srgbClr val="00143D"/>
          </a:solidFill>
          <a:ln w="9525">
            <a:solidFill>
              <a:srgbClr val="1A3A7A"/>
            </a:solidFill>
            <a:prstDash val="solid"/>
          </a:ln>
        </p:spPr>
        <p:txBody>
          <a:bodyPr/>
          <a:lstStyle/>
          <a:p>
            <a:endParaRPr lang="en-US"/>
          </a:p>
        </p:txBody>
      </p:sp>
      <p:sp>
        <p:nvSpPr>
          <p:cNvPr id="39" name="Shape 36"/>
          <p:cNvSpPr/>
          <p:nvPr/>
        </p:nvSpPr>
        <p:spPr>
          <a:xfrm>
            <a:off x="5943600" y="2011680"/>
            <a:ext cx="91440" cy="2286000"/>
          </a:xfrm>
          <a:prstGeom prst="rect">
            <a:avLst/>
          </a:prstGeom>
          <a:solidFill>
            <a:srgbClr val="C8102E"/>
          </a:solidFill>
          <a:ln w="12700">
            <a:solidFill>
              <a:srgbClr val="C8102E"/>
            </a:solidFill>
            <a:prstDash val="solid"/>
          </a:ln>
        </p:spPr>
        <p:txBody>
          <a:bodyPr/>
          <a:lstStyle/>
          <a:p>
            <a:endParaRPr lang="en-US"/>
          </a:p>
        </p:txBody>
      </p:sp>
      <p:sp>
        <p:nvSpPr>
          <p:cNvPr id="40" name="Text 37"/>
          <p:cNvSpPr/>
          <p:nvPr/>
        </p:nvSpPr>
        <p:spPr>
          <a:xfrm>
            <a:off x="6263640" y="2286000"/>
            <a:ext cx="3200400" cy="274320"/>
          </a:xfrm>
          <a:prstGeom prst="rect">
            <a:avLst/>
          </a:prstGeom>
          <a:noFill/>
          <a:ln/>
        </p:spPr>
        <p:txBody>
          <a:bodyPr wrap="square" lIns="0" tIns="0" rIns="0" bIns="0" rtlCol="0" anchor="ctr"/>
          <a:lstStyle/>
          <a:p>
            <a:pPr marL="0" indent="0">
              <a:buNone/>
            </a:pPr>
            <a:r>
              <a:rPr lang="en-US" sz="1100" b="1" kern="0" spc="400" dirty="0">
                <a:solidFill>
                  <a:srgbClr val="A9B8D4"/>
                </a:solidFill>
                <a:latin typeface="Calibri" pitchFamily="34" charset="0"/>
                <a:ea typeface="Calibri" pitchFamily="34" charset="-122"/>
                <a:cs typeface="Calibri" pitchFamily="34" charset="-120"/>
              </a:rPr>
              <a:t>GITHUB REPOSITORY</a:t>
            </a:r>
            <a:endParaRPr lang="en-US" sz="1100" dirty="0"/>
          </a:p>
        </p:txBody>
      </p:sp>
      <p:sp>
        <p:nvSpPr>
          <p:cNvPr id="41" name="Text 38"/>
          <p:cNvSpPr/>
          <p:nvPr/>
        </p:nvSpPr>
        <p:spPr>
          <a:xfrm>
            <a:off x="6263640" y="2651760"/>
            <a:ext cx="3200400" cy="411480"/>
          </a:xfrm>
          <a:prstGeom prst="rect">
            <a:avLst/>
          </a:prstGeom>
          <a:noFill/>
          <a:ln/>
        </p:spPr>
        <p:txBody>
          <a:bodyPr wrap="square" lIns="0" tIns="0" rIns="0" bIns="0" rtlCol="0" anchor="ctr"/>
          <a:lstStyle/>
          <a:p>
            <a:pPr marL="0" indent="0">
              <a:buNone/>
            </a:pPr>
            <a:r>
              <a:rPr lang="en-US" sz="1600" i="1" dirty="0">
                <a:solidFill>
                  <a:srgbClr val="FFFFFF"/>
                </a:solidFill>
                <a:latin typeface="Georgia" pitchFamily="34" charset="0"/>
                <a:ea typeface="Georgia" pitchFamily="34" charset="-122"/>
                <a:cs typeface="Georgia" pitchFamily="34" charset="-120"/>
              </a:rPr>
              <a:t>Scan to view code, data &amp; notebooks</a:t>
            </a:r>
            <a:endParaRPr lang="en-US" sz="1600" dirty="0"/>
          </a:p>
        </p:txBody>
      </p:sp>
      <p:sp>
        <p:nvSpPr>
          <p:cNvPr id="42" name="Text 39"/>
          <p:cNvSpPr/>
          <p:nvPr/>
        </p:nvSpPr>
        <p:spPr>
          <a:xfrm>
            <a:off x="6263640" y="3154680"/>
            <a:ext cx="3200400" cy="365760"/>
          </a:xfrm>
          <a:prstGeom prst="rect">
            <a:avLst/>
          </a:prstGeom>
          <a:noFill/>
          <a:ln/>
        </p:spPr>
        <p:txBody>
          <a:bodyPr wrap="square" lIns="0" tIns="0" rIns="0" bIns="0" rtlCol="0" anchor="ctr"/>
          <a:lstStyle/>
          <a:p>
            <a:pPr marL="0" indent="0">
              <a:buNone/>
            </a:pPr>
            <a:r>
              <a:rPr lang="en-US" sz="1200" dirty="0">
                <a:solidFill>
                  <a:srgbClr val="A9B8D4"/>
                </a:solidFill>
                <a:latin typeface="Consolas" pitchFamily="34" charset="0"/>
                <a:ea typeface="Consolas" pitchFamily="34" charset="-122"/>
                <a:cs typeface="Consolas" pitchFamily="34" charset="-120"/>
              </a:rPr>
              <a:t>github.com/haley8105</a:t>
            </a:r>
            <a:endParaRPr lang="en-US" sz="1200" dirty="0"/>
          </a:p>
        </p:txBody>
      </p:sp>
      <p:sp>
        <p:nvSpPr>
          <p:cNvPr id="43" name="Text 40"/>
          <p:cNvSpPr/>
          <p:nvPr/>
        </p:nvSpPr>
        <p:spPr>
          <a:xfrm>
            <a:off x="6263640" y="3566160"/>
            <a:ext cx="3200400" cy="365760"/>
          </a:xfrm>
          <a:prstGeom prst="rect">
            <a:avLst/>
          </a:prstGeom>
          <a:noFill/>
          <a:ln/>
        </p:spPr>
        <p:txBody>
          <a:bodyPr wrap="square" lIns="0" tIns="0" rIns="0" bIns="0" rtlCol="0" anchor="ctr"/>
          <a:lstStyle/>
          <a:p>
            <a:pPr marL="0" indent="0">
              <a:buNone/>
            </a:pPr>
            <a:r>
              <a:rPr lang="en-US" sz="1100" i="1" dirty="0">
                <a:solidFill>
                  <a:srgbClr val="A9B8D4"/>
                </a:solidFill>
                <a:latin typeface="Calibri" pitchFamily="34" charset="0"/>
                <a:ea typeface="Calibri" pitchFamily="34" charset="-122"/>
                <a:cs typeface="Calibri" pitchFamily="34" charset="-120"/>
              </a:rPr>
              <a:t>Issues · Pull Requests welcome</a:t>
            </a:r>
            <a:endParaRPr lang="en-US" sz="1100" dirty="0"/>
          </a:p>
        </p:txBody>
      </p:sp>
      <p:sp>
        <p:nvSpPr>
          <p:cNvPr id="44" name="Shape 41"/>
          <p:cNvSpPr/>
          <p:nvPr/>
        </p:nvSpPr>
        <p:spPr>
          <a:xfrm>
            <a:off x="9875520" y="2286000"/>
            <a:ext cx="1737360" cy="1737360"/>
          </a:xfrm>
          <a:prstGeom prst="rect">
            <a:avLst/>
          </a:prstGeom>
          <a:solidFill>
            <a:srgbClr val="FFFFFF"/>
          </a:solidFill>
          <a:ln w="12700">
            <a:solidFill>
              <a:srgbClr val="FFFFFF"/>
            </a:solidFill>
            <a:prstDash val="solid"/>
          </a:ln>
        </p:spPr>
        <p:txBody>
          <a:bodyPr/>
          <a:lstStyle/>
          <a:p>
            <a:endParaRPr lang="en-US"/>
          </a:p>
        </p:txBody>
      </p:sp>
      <p:sp>
        <p:nvSpPr>
          <p:cNvPr id="45" name="Text 42"/>
          <p:cNvSpPr/>
          <p:nvPr/>
        </p:nvSpPr>
        <p:spPr>
          <a:xfrm>
            <a:off x="9875520" y="2286000"/>
            <a:ext cx="1737360" cy="1737360"/>
          </a:xfrm>
          <a:prstGeom prst="rect">
            <a:avLst/>
          </a:prstGeom>
          <a:noFill/>
          <a:ln/>
        </p:spPr>
        <p:txBody>
          <a:bodyPr wrap="square" lIns="0" tIns="0" rIns="0" bIns="0" rtlCol="0" anchor="ctr"/>
          <a:lstStyle/>
          <a:p>
            <a:pPr marL="0" indent="0" algn="ctr">
              <a:buNone/>
            </a:pPr>
            <a:r>
              <a:rPr lang="en-US" sz="1200" b="1" dirty="0">
                <a:solidFill>
                  <a:srgbClr val="6B7280"/>
                </a:solidFill>
                <a:latin typeface="Calibri" pitchFamily="34" charset="0"/>
                <a:ea typeface="Calibri" pitchFamily="34" charset="-122"/>
                <a:cs typeface="Calibri" pitchFamily="34" charset="-120"/>
              </a:rPr>
              <a:t>[ QR CODE ]</a:t>
            </a:r>
            <a:endParaRPr lang="en-US" sz="1200" dirty="0"/>
          </a:p>
        </p:txBody>
      </p:sp>
      <p:sp>
        <p:nvSpPr>
          <p:cNvPr id="46" name="Shape 43"/>
          <p:cNvSpPr/>
          <p:nvPr/>
        </p:nvSpPr>
        <p:spPr>
          <a:xfrm>
            <a:off x="5943600" y="4572000"/>
            <a:ext cx="5760720" cy="1737360"/>
          </a:xfrm>
          <a:prstGeom prst="rect">
            <a:avLst/>
          </a:prstGeom>
          <a:solidFill>
            <a:srgbClr val="C8102E"/>
          </a:solidFill>
          <a:ln w="12700">
            <a:solidFill>
              <a:srgbClr val="C8102E"/>
            </a:solidFill>
            <a:prstDash val="solid"/>
          </a:ln>
        </p:spPr>
        <p:txBody>
          <a:bodyPr/>
          <a:lstStyle/>
          <a:p>
            <a:endParaRPr lang="en-US"/>
          </a:p>
        </p:txBody>
      </p:sp>
      <p:pic>
        <p:nvPicPr>
          <p:cNvPr id="47" name="Image 1" descr="preencoded.png"/>
          <p:cNvPicPr>
            <a:picLocks noChangeAspect="1"/>
          </p:cNvPicPr>
          <p:nvPr/>
        </p:nvPicPr>
        <p:blipFill>
          <a:blip r:embed="rId6"/>
          <a:stretch>
            <a:fillRect/>
          </a:stretch>
        </p:blipFill>
        <p:spPr>
          <a:xfrm>
            <a:off x="6263640" y="4846320"/>
            <a:ext cx="548640" cy="548640"/>
          </a:xfrm>
          <a:prstGeom prst="rect">
            <a:avLst/>
          </a:prstGeom>
        </p:spPr>
      </p:pic>
      <p:sp>
        <p:nvSpPr>
          <p:cNvPr id="48" name="Text 44"/>
          <p:cNvSpPr/>
          <p:nvPr/>
        </p:nvSpPr>
        <p:spPr>
          <a:xfrm>
            <a:off x="6949440" y="4800600"/>
            <a:ext cx="4572000" cy="365760"/>
          </a:xfrm>
          <a:prstGeom prst="rect">
            <a:avLst/>
          </a:prstGeom>
          <a:noFill/>
          <a:ln/>
        </p:spPr>
        <p:txBody>
          <a:bodyPr wrap="square" lIns="0" tIns="0" rIns="0" bIns="0" rtlCol="0" anchor="ctr"/>
          <a:lstStyle/>
          <a:p>
            <a:pPr marL="0" indent="0">
              <a:buNone/>
            </a:pPr>
            <a:r>
              <a:rPr lang="en-US" sz="1200" b="1" kern="0" spc="600" dirty="0">
                <a:solidFill>
                  <a:srgbClr val="FFFFFF"/>
                </a:solidFill>
                <a:latin typeface="Calibri" pitchFamily="34" charset="0"/>
                <a:ea typeface="Calibri" pitchFamily="34" charset="-122"/>
                <a:cs typeface="Calibri" pitchFamily="34" charset="-120"/>
              </a:rPr>
              <a:t>THANK YOU</a:t>
            </a:r>
            <a:endParaRPr lang="en-US" sz="1200" dirty="0"/>
          </a:p>
        </p:txBody>
      </p:sp>
      <p:sp>
        <p:nvSpPr>
          <p:cNvPr id="49" name="Text 45"/>
          <p:cNvSpPr/>
          <p:nvPr/>
        </p:nvSpPr>
        <p:spPr>
          <a:xfrm>
            <a:off x="6949440" y="5212080"/>
            <a:ext cx="4572000" cy="457200"/>
          </a:xfrm>
          <a:prstGeom prst="rect">
            <a:avLst/>
          </a:prstGeom>
          <a:noFill/>
          <a:ln/>
        </p:spPr>
        <p:txBody>
          <a:bodyPr wrap="square" lIns="0" tIns="0" rIns="0" bIns="0" rtlCol="0" anchor="ctr"/>
          <a:lstStyle/>
          <a:p>
            <a:pPr marL="0" indent="0">
              <a:buNone/>
            </a:pPr>
            <a:r>
              <a:rPr lang="en-US" sz="2200" b="1" i="1" dirty="0">
                <a:solidFill>
                  <a:srgbClr val="FFFFFF"/>
                </a:solidFill>
                <a:latin typeface="Georgia" pitchFamily="34" charset="0"/>
                <a:ea typeface="Georgia" pitchFamily="34" charset="-122"/>
                <a:cs typeface="Georgia" pitchFamily="34" charset="-120"/>
              </a:rPr>
              <a:t>Questions welcome.</a:t>
            </a:r>
            <a:endParaRPr lang="en-US" sz="2200" dirty="0"/>
          </a:p>
        </p:txBody>
      </p:sp>
      <p:sp>
        <p:nvSpPr>
          <p:cNvPr id="50" name="Text 46"/>
          <p:cNvSpPr/>
          <p:nvPr/>
        </p:nvSpPr>
        <p:spPr>
          <a:xfrm>
            <a:off x="6263640" y="5760720"/>
            <a:ext cx="5120640" cy="457200"/>
          </a:xfrm>
          <a:prstGeom prst="rect">
            <a:avLst/>
          </a:prstGeom>
          <a:noFill/>
          <a:ln/>
        </p:spPr>
        <p:txBody>
          <a:bodyPr wrap="square" lIns="0" tIns="0" rIns="0" bIns="0" rtlCol="0" anchor="ctr"/>
          <a:lstStyle/>
          <a:p>
            <a:pPr marL="0" indent="0">
              <a:buNone/>
            </a:pPr>
            <a:r>
              <a:rPr lang="en-US" sz="1100" i="1" dirty="0">
                <a:solidFill>
                  <a:srgbClr val="F8CFD4"/>
                </a:solidFill>
                <a:latin typeface="Calibri" pitchFamily="34" charset="0"/>
                <a:ea typeface="Calibri" pitchFamily="34" charset="-122"/>
                <a:cs typeface="Calibri" pitchFamily="34" charset="-120"/>
              </a:rPr>
              <a:t>[ Acknowledgments: instructor, collaborators, data providers ]</a:t>
            </a:r>
            <a:endParaRPr lang="en-US" sz="1100" dirty="0"/>
          </a:p>
        </p:txBody>
      </p:sp>
      <p:pic>
        <p:nvPicPr>
          <p:cNvPr id="52" name="Picture 51">
            <a:extLst>
              <a:ext uri="{FF2B5EF4-FFF2-40B4-BE49-F238E27FC236}">
                <a16:creationId xmlns:a16="http://schemas.microsoft.com/office/drawing/2014/main" id="{AF666589-2BE3-64D7-3CFE-FFD3E40041C4}"/>
              </a:ext>
            </a:extLst>
          </p:cNvPr>
          <p:cNvPicPr>
            <a:picLocks noChangeAspect="1"/>
          </p:cNvPicPr>
          <p:nvPr/>
        </p:nvPicPr>
        <p:blipFill>
          <a:blip r:embed="rId7"/>
          <a:stretch>
            <a:fillRect/>
          </a:stretch>
        </p:blipFill>
        <p:spPr>
          <a:xfrm>
            <a:off x="9841651" y="2254300"/>
            <a:ext cx="1767535" cy="176753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3226585-c0ae-4f97-8b2a-625fcc3030a2}" enabled="0" method="" siteId="{73226585-c0ae-4f97-8b2a-625fcc3030a2}" removed="1"/>
</clbl:labelList>
</file>

<file path=docProps/app.xml><?xml version="1.0" encoding="utf-8"?>
<Properties xmlns="http://schemas.openxmlformats.org/officeDocument/2006/extended-properties" xmlns:vt="http://schemas.openxmlformats.org/officeDocument/2006/docPropsVTypes">
  <TotalTime>660</TotalTime>
  <Words>1251</Words>
  <Application>Microsoft Office PowerPoint</Application>
  <PresentationFormat>Widescreen</PresentationFormat>
  <Paragraphs>244</Paragraphs>
  <Slides>11</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Consolas</vt:lpstr>
      <vt:lpstr>Georgia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Mining Final Project Template</dc:title>
  <dc:subject>PptxGenJS Presentation</dc:subject>
  <dc:creator>Catawba College</dc:creator>
  <cp:lastModifiedBy>Benge, Haley</cp:lastModifiedBy>
  <cp:revision>4</cp:revision>
  <dcterms:created xsi:type="dcterms:W3CDTF">2026-04-20T02:26:41Z</dcterms:created>
  <dcterms:modified xsi:type="dcterms:W3CDTF">2026-04-29T05:35:07Z</dcterms:modified>
</cp:coreProperties>
</file>